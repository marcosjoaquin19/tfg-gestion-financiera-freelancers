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DE GRADO · INGENIERÍA EN SISTEMAS DE INFORMACIÓN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FreelanceControl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financiera y fiscal inteligente para monotributistas argentinos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538374" cy="457200"/>
          </a:xfrm>
          <a:prstGeom prst="roundRect">
            <a:avLst>
              <a:gd name="adj" fmla="val 20000"/>
            </a:avLst>
          </a:prstGeom>
          <a:solidFill>
            <a:srgbClr val="1439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25383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ML local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89934" y="4343400"/>
            <a:ext cx="2143354" cy="457200"/>
          </a:xfrm>
          <a:prstGeom prst="roundRect">
            <a:avLst>
              <a:gd name="adj" fmla="val 20000"/>
            </a:avLst>
          </a:prstGeom>
          <a:solidFill>
            <a:srgbClr val="1439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9934" y="4343400"/>
            <a:ext cx="21433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Prophet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61888" y="4343400"/>
            <a:ext cx="2340864" cy="457200"/>
          </a:xfrm>
          <a:prstGeom prst="roundRect">
            <a:avLst>
              <a:gd name="adj" fmla="val 20000"/>
            </a:avLst>
          </a:prstGeom>
          <a:solidFill>
            <a:srgbClr val="1439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434340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Monotributo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31352" y="4343400"/>
            <a:ext cx="2340864" cy="457200"/>
          </a:xfrm>
          <a:prstGeom prst="roundRect">
            <a:avLst>
              <a:gd name="adj" fmla="val 20000"/>
            </a:avLst>
          </a:prstGeom>
          <a:solidFill>
            <a:srgbClr val="1439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1352" y="434340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automática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· Mayo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problemas concretos del monotributista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0428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 caja variable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9260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dependientes de entregables y plazos de cada cliente. Las herramientas registran, pero no proyectan.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30428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fiscal silencioso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0528" y="29260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la categoría se descubre superado recién al cierre del año. No hay anticipación.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531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53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434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Inconsistencias no detectadas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Duplicados, facturas vencidas y cuotas impagas que solo se cruzan manualmente al cierre.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531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53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4434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Fragmentación documental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10528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Planillas, apps, correos y CSV de homebanking dispersos, sin consulta consolidada.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 que centraliza, clasifica y anticipa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14395E"/>
          </a:solidFill>
          <a:ln w="19050">
            <a:solidFill>
              <a:srgbClr val="5BB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606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B3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34290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Ingresos, gastos y facturas en una base relacional con aislamiento por usuario.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19456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14395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606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63440" y="34290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gasto recibe categoría automática vía PLN local; el modelo aprende de tus correcciones.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14395E"/>
          </a:solidFill>
          <a:ln w="19050">
            <a:solidFill>
              <a:srgbClr val="E0A8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606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66760" y="34290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 el flujo a 6 meses y avisa el riesgo de recategorización antes del cierre fiscal.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procesamiento local · soberanía de datos · IA externa solo sobre agregados numéricos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capas contenedorizadas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7589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57400"/>
            <a:ext cx="146304" cy="105156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21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Presentación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13 pantallas · tema oscuro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2377440"/>
            <a:ext cx="1325880" cy="411480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3774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589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291840"/>
            <a:ext cx="146304" cy="105156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56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 · JWT · ML · Prophet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766560" y="3611880"/>
            <a:ext cx="1325880" cy="41148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611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7589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26280"/>
            <a:ext cx="146304" cy="1051560"/>
          </a:xfrm>
          <a:prstGeom prst="roundRect">
            <a:avLst>
              <a:gd name="adj" fmla="val 25000"/>
            </a:avLst>
          </a:prstGeom>
          <a:solidFill>
            <a:srgbClr val="14395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90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Persistencia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01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· 9 tablas · 5 migraciones Alembic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66560" y="4846320"/>
            <a:ext cx="1325880" cy="411480"/>
          </a:xfrm>
          <a:prstGeom prst="roundRect">
            <a:avLst>
              <a:gd name="adj" fmla="val 22222"/>
            </a:avLst>
          </a:prstGeom>
          <a:solidFill>
            <a:srgbClr val="14395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8463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5432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49640" y="2057400"/>
            <a:ext cx="2971800" cy="3703320"/>
          </a:xfrm>
          <a:prstGeom prst="roundRect">
            <a:avLst>
              <a:gd name="adj" fmla="val 3077"/>
            </a:avLst>
          </a:prstGeom>
          <a:solidFill>
            <a:srgbClr val="0D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2258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CLAVE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SVM + TF-IDF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0" y="32186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0" y="32186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— series temporales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36941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52560" y="369417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 — solo agregados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41696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052560" y="41696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— PDF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46451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52560" y="46451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0" y="5120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52560" y="5120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97 tests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DISEÑO CENTRAL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la clasificación corre 100% local?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de un gasto es información financiera sensible. Enviarla a un servicio externo significaría ceder el historial de consumo del usuario a un tercero.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1439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 + TF-IDF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320040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entrenado sobre 600 ejemplos en 12 categorías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950208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14395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502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Cortocircuito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395020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correcciones del usuario responden al instante con confianza 1.0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00016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14395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70001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Umbral 0.30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700016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confianza → 'Otros' + revisión manual, en vez de adivinar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449824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14395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4498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acotado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5449824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resúmenes y recomendaciones, sobre datos numéricos agregados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1874520"/>
            <a:ext cx="3794760" cy="4251960"/>
          </a:xfrm>
          <a:prstGeom prst="roundRect">
            <a:avLst>
              <a:gd name="adj" fmla="val 2892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194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Soberanía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datos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955280" y="34747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sensible nunca abandona la infraestructura del usuario.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55280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diferencial del proyecto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MEDIDOS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Desempeño del clasificador</a:t>
            </a:r>
            <a:endParaRPr lang="en-US" sz="3200" dirty="0"/>
          </a:p>
        </p:txBody>
      </p:sp>
      <p:pic>
        <p:nvPicPr>
          <p:cNvPr id="4" name="Image 0" descr="/Users/marcosjoaquin/proyecto-tfg/docs/metricas_f1_por_catego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6199632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965960"/>
            <a:ext cx="4251960" cy="4480560"/>
          </a:xfrm>
          <a:prstGeom prst="roundRect">
            <a:avLst>
              <a:gd name="adj" fmla="val 2151"/>
            </a:avLst>
          </a:prstGeom>
          <a:solidFill>
            <a:srgbClr val="0D2B45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58952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global · cross-validation 5-fold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3703320"/>
            <a:ext cx="3657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categorías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4160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Monotributo  F1 0.96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Impuestos  F1 0.91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 F1 0.88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0" y="5166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mejorar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89520" y="5486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 F1 0.58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 F1 0.63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MEDIDOS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 de confusión</a:t>
            </a:r>
            <a:endParaRPr lang="en-US" sz="3200" dirty="0"/>
          </a:p>
        </p:txBody>
      </p:sp>
      <p:pic>
        <p:nvPicPr>
          <p:cNvPr id="4" name="Image 0" descr="/Users/marcosjoaquin/proyecto-tfg/docs/metricas_matriz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3035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87452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leerla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2743200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2697480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 verde son los aciertos: concentra la mayoría de los casos.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0" y="3657600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3611880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confusiones son coherentes: categorías de vocabulario afín se solapan.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0" y="4572000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4526280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Infraestructura y Capacitación derivan parte a Suscripciones (todo es SaaS hoy).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5486400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5440680"/>
            <a:ext cx="4480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'Otros' no es un vertedero: F1 0.76, distingue lo genuinamente inclasificable.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dato histórico al aviso fiscal anticipado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439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7627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históricos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ya facturado en el año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1012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20116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439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17627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Proyección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hasta el 31/12 con 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2764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675120" y="20116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439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17627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Semáforo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proyectado sobre el límite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semáforo decide por la PROYECCIÓN, no por lo ya facturado: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4395E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846320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4800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230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  ·  Sin riesgo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559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límite anual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57200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4395E"/>
          </a:solidFill>
          <a:ln w="25400">
            <a:solidFill>
              <a:srgbClr val="E0A8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4846320"/>
            <a:ext cx="548640" cy="54864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4800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AMARILLO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5230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90%  ·  Precaución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5559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límite anual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57200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4395E"/>
          </a:solidFill>
          <a:ln w="25400">
            <a:solidFill>
              <a:srgbClr val="D14D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4846320"/>
            <a:ext cx="548640" cy="548640"/>
          </a:xfrm>
          <a:prstGeom prst="ellipse">
            <a:avLst/>
          </a:prstGeom>
          <a:solidFill>
            <a:srgbClr val="D14D4D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4800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ROJO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06840" y="5230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 ·  Recategorizar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5559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límite anual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AUDITORÍA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detectores automáticos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042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3042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Gastos duplicados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880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monto, categoría y descripción en una ventana de 3 días.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3042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23042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Anomalías estadísticas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0" y="2880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&gt; 2σ respecto de la media de la categoría (mín. 5 gastos).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330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Facturas vencidas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7091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pendientes cuya fecha de vencimiento ya pasó.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330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1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41330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Monotributo impago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32320" y="47091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del pago de la cuota en el mes en curso.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 las alertas no resueltas y conserva las resueltas como historial auditable.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Recorrido del prototipo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4395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3042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2311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Clasificar un gasto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6700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ML sugiere categoría y confianza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4395E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23042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22311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Corregir y aprender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6700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 responde al instante la próxima vez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4395E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363016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5570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Importar extracto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995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de banco con detección automática de columnas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439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363016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5570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Ejecutar auditoría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995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alertas, una de cada tipo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4395E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495604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956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48828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Monotributo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321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en rojo: proyección supera el límite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6634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4395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28232" y="495604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4956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48828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Descargar PDF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5321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consolidado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demo:  demo@freelancecontrol.com / demo1234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sabemos que funciona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módulos, todos verdes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0574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240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smoke E2E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PostgreSQL real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0574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240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3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13/13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 y verificadas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0D2B4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valor del smoke E2E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corren sobre SQLite; las pruebas de humo sobre PostgreSQL real expusieron defectos invisibles en el otro entorno: un enum incompatible que rompía la auditoría, el separador ';' no detectado en CSV de Galicia y un formato de moneda inconsistente. Todos corregidos y verificados.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DEL ENTREGABLE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 cubierto y límite respetado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10 alcances declarados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7249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724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 aislamiento por usuario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0540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0540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ingresos/gastos/facturas + estados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PLN local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7124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7124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por correcciones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0416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CSV/Excel multibanco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370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370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automatizada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700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7000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Monotributo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029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6 meses con IC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3583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3583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 y recomendaciones 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56875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5687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PDF mensual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5166360" cy="4160520"/>
          </a:xfrm>
          <a:prstGeom prst="roundRect">
            <a:avLst>
              <a:gd name="adj" fmla="val 2198"/>
            </a:avLst>
          </a:prstGeom>
          <a:solidFill>
            <a:srgbClr val="0D2B4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B3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Límite respetado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83680" y="26517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 por diseño — no implementarlo es cumplir el Entregable 2: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3429000"/>
            <a:ext cx="4709160" cy="594360"/>
          </a:xfrm>
          <a:prstGeom prst="roundRect">
            <a:avLst>
              <a:gd name="adj" fmla="val 9231"/>
            </a:avLst>
          </a:prstGeom>
          <a:solidFill>
            <a:srgbClr val="14395E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4290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34290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facturación electrónica de AFIP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4142232"/>
            <a:ext cx="4709160" cy="594360"/>
          </a:xfrm>
          <a:prstGeom prst="roundRect">
            <a:avLst>
              <a:gd name="adj" fmla="val 9231"/>
            </a:avLst>
          </a:prstGeom>
          <a:solidFill>
            <a:srgbClr val="14395E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4142232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41422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bancaria con cuentas reales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83680" y="4855464"/>
            <a:ext cx="4709160" cy="594360"/>
          </a:xfrm>
          <a:prstGeom prst="roundRect">
            <a:avLst>
              <a:gd name="adj" fmla="val 9231"/>
            </a:avLst>
          </a:prstGeom>
          <a:solidFill>
            <a:srgbClr val="14395E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4855464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2320" y="4855464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 como entidad propia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5669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PB · 13/13 HU · artefactos Scrum completos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se logró y qué sigue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1439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Logros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788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sobre los 6 objetivos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9242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39242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local con 76% de exactitud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9592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9959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Prophet → semáforo fiscal operativo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45994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con 4 detectores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20293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52029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HU verificadas, 97 tests verdes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14395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Trabajos futuros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2788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y balancear el dataset 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39242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339242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el régimen de venta de bienes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99592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39959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facturación electrónica de AFIP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59943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45994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los tests a PostgreSQL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520293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52029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 y notificaciones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FreelanceControl · Defensa TFG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FreelanceControl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automático con soberanía de datos al servicio del monotributista argentino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  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FreelanceControl — Defensa</dc:title>
  <dc:subject>PptxGenJS Presentation</dc:subject>
  <dc:creator>TFG FreelanceControl</dc:creator>
  <cp:lastModifiedBy>TFG FreelanceControl</cp:lastModifiedBy>
  <cp:revision>1</cp:revision>
  <dcterms:created xsi:type="dcterms:W3CDTF">2026-05-31T15:34:55Z</dcterms:created>
  <dcterms:modified xsi:type="dcterms:W3CDTF">2026-05-31T15:34:55Z</dcterms:modified>
</cp:coreProperties>
</file>