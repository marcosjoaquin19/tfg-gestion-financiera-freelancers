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822960" y="1417320"/>
            <a:ext cx="10881360" cy="365760"/>
          </a:xfrm>
          <a:prstGeom prst="rect">
            <a:avLst/>
          </a:prstGeom>
          <a:noFill/>
          <a:ln/>
        </p:spPr>
        <p:txBody>
          <a:bodyPr wrap="square" rtlCol="0" anchor="ctr"/>
          <a:lstStyle/>
          <a:p>
            <a:pPr indent="0" marL="0">
              <a:buNone/>
            </a:pPr>
            <a:r>
              <a:rPr lang="en-US" sz="1250" b="1" spc="200" kern="0" dirty="0">
                <a:solidFill>
                  <a:srgbClr val="5BB3C4"/>
                </a:solidFill>
                <a:latin typeface="Calibri" pitchFamily="34" charset="0"/>
                <a:ea typeface="Calibri" pitchFamily="34" charset="-122"/>
                <a:cs typeface="Calibri" pitchFamily="34" charset="-120"/>
              </a:rPr>
              <a:t>TRABAJO FINAL DE GRADO · INGENIERÍA DE SOFTWARE · UNIVERSIDAD SIGLO 21</a:t>
            </a:r>
            <a:endParaRPr lang="en-US" sz="1250" dirty="0"/>
          </a:p>
        </p:txBody>
      </p:sp>
      <p:sp>
        <p:nvSpPr>
          <p:cNvPr id="4" name="Text 2"/>
          <p:cNvSpPr/>
          <p:nvPr/>
        </p:nvSpPr>
        <p:spPr>
          <a:xfrm>
            <a:off x="777240" y="1874520"/>
            <a:ext cx="10698480" cy="1188720"/>
          </a:xfrm>
          <a:prstGeom prst="rect">
            <a:avLst/>
          </a:prstGeom>
          <a:noFill/>
          <a:ln/>
        </p:spPr>
        <p:txBody>
          <a:bodyPr wrap="square" rtlCol="0" anchor="ctr"/>
          <a:lstStyle/>
          <a:p>
            <a:pPr indent="0" marL="0">
              <a:buNone/>
            </a:pPr>
            <a:r>
              <a:rPr lang="en-US" sz="5800" b="1" dirty="0">
                <a:solidFill>
                  <a:srgbClr val="FFFFFF"/>
                </a:solidFill>
                <a:latin typeface="Georgia" pitchFamily="34" charset="0"/>
                <a:ea typeface="Georgia" pitchFamily="34" charset="-122"/>
                <a:cs typeface="Georgia" pitchFamily="34" charset="-120"/>
              </a:rPr>
              <a:t>FreelanceControl</a:t>
            </a:r>
            <a:endParaRPr lang="en-US" sz="5800" dirty="0"/>
          </a:p>
        </p:txBody>
      </p:sp>
      <p:sp>
        <p:nvSpPr>
          <p:cNvPr id="5" name="Text 3"/>
          <p:cNvSpPr/>
          <p:nvPr/>
        </p:nvSpPr>
        <p:spPr>
          <a:xfrm>
            <a:off x="822960" y="3154680"/>
            <a:ext cx="100584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Sistema de gestión financiera para monotributistas argentinos</a:t>
            </a:r>
            <a:endParaRPr lang="en-US" sz="2000" dirty="0"/>
          </a:p>
        </p:txBody>
      </p:sp>
      <p:sp>
        <p:nvSpPr>
          <p:cNvPr id="6" name="Text 4"/>
          <p:cNvSpPr/>
          <p:nvPr/>
        </p:nvSpPr>
        <p:spPr>
          <a:xfrm>
            <a:off x="822960" y="3703320"/>
            <a:ext cx="10058400" cy="365760"/>
          </a:xfrm>
          <a:prstGeom prst="rect">
            <a:avLst/>
          </a:prstGeom>
          <a:noFill/>
          <a:ln/>
        </p:spPr>
        <p:txBody>
          <a:bodyPr wrap="square" rtlCol="0" anchor="ctr"/>
          <a:lstStyle/>
          <a:p>
            <a:pPr indent="0" marL="0">
              <a:buNone/>
            </a:pPr>
            <a:r>
              <a:rPr lang="en-US" sz="1400" i="1" dirty="0">
                <a:solidFill>
                  <a:srgbClr val="8FA3B5"/>
                </a:solidFill>
                <a:latin typeface="Calibri" pitchFamily="34" charset="0"/>
                <a:ea typeface="Calibri" pitchFamily="34" charset="-122"/>
                <a:cs typeface="Calibri" pitchFamily="34" charset="-120"/>
              </a:rPr>
              <a:t>Modalidad: prototipado tecnológico</a:t>
            </a:r>
            <a:endParaRPr lang="en-US" sz="1400" dirty="0"/>
          </a:p>
        </p:txBody>
      </p:sp>
      <p:sp>
        <p:nvSpPr>
          <p:cNvPr id="7" name="Shape 5"/>
          <p:cNvSpPr/>
          <p:nvPr/>
        </p:nvSpPr>
        <p:spPr>
          <a:xfrm>
            <a:off x="822960" y="4343400"/>
            <a:ext cx="2682850" cy="457200"/>
          </a:xfrm>
          <a:prstGeom prst="roundRect">
            <a:avLst>
              <a:gd name="adj" fmla="val 20000"/>
            </a:avLst>
          </a:prstGeom>
          <a:solidFill>
            <a:srgbClr val="14395E"/>
          </a:solidFill>
          <a:ln w="12700">
            <a:solidFill>
              <a:srgbClr val="1C7293"/>
            </a:solidFill>
            <a:prstDash val="solid"/>
          </a:ln>
        </p:spPr>
      </p:sp>
      <p:sp>
        <p:nvSpPr>
          <p:cNvPr id="8" name="Text 6"/>
          <p:cNvSpPr/>
          <p:nvPr/>
        </p:nvSpPr>
        <p:spPr>
          <a:xfrm>
            <a:off x="822960" y="4343400"/>
            <a:ext cx="2682850" cy="45720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Clasificación NLP local</a:t>
            </a:r>
            <a:endParaRPr lang="en-US" sz="1250" dirty="0"/>
          </a:p>
        </p:txBody>
      </p:sp>
      <p:sp>
        <p:nvSpPr>
          <p:cNvPr id="9" name="Shape 7"/>
          <p:cNvSpPr/>
          <p:nvPr/>
        </p:nvSpPr>
        <p:spPr>
          <a:xfrm>
            <a:off x="3734410" y="4343400"/>
            <a:ext cx="2189074" cy="457200"/>
          </a:xfrm>
          <a:prstGeom prst="roundRect">
            <a:avLst>
              <a:gd name="adj" fmla="val 20000"/>
            </a:avLst>
          </a:prstGeom>
          <a:solidFill>
            <a:srgbClr val="14395E"/>
          </a:solidFill>
          <a:ln w="12700">
            <a:solidFill>
              <a:srgbClr val="1C7293"/>
            </a:solidFill>
            <a:prstDash val="solid"/>
          </a:ln>
        </p:spPr>
      </p:sp>
      <p:sp>
        <p:nvSpPr>
          <p:cNvPr id="10" name="Text 8"/>
          <p:cNvSpPr/>
          <p:nvPr/>
        </p:nvSpPr>
        <p:spPr>
          <a:xfrm>
            <a:off x="3734410" y="4343400"/>
            <a:ext cx="2189074" cy="45720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Predicción Prophet</a:t>
            </a:r>
            <a:endParaRPr lang="en-US" sz="1250" dirty="0"/>
          </a:p>
        </p:txBody>
      </p:sp>
      <p:sp>
        <p:nvSpPr>
          <p:cNvPr id="11" name="Shape 9"/>
          <p:cNvSpPr/>
          <p:nvPr/>
        </p:nvSpPr>
        <p:spPr>
          <a:xfrm>
            <a:off x="6152083" y="4343400"/>
            <a:ext cx="1695298" cy="457200"/>
          </a:xfrm>
          <a:prstGeom prst="roundRect">
            <a:avLst>
              <a:gd name="adj" fmla="val 20000"/>
            </a:avLst>
          </a:prstGeom>
          <a:solidFill>
            <a:srgbClr val="14395E"/>
          </a:solidFill>
          <a:ln w="12700">
            <a:solidFill>
              <a:srgbClr val="1C7293"/>
            </a:solidFill>
            <a:prstDash val="solid"/>
          </a:ln>
        </p:spPr>
      </p:sp>
      <p:sp>
        <p:nvSpPr>
          <p:cNvPr id="12" name="Text 10"/>
          <p:cNvSpPr/>
          <p:nvPr/>
        </p:nvSpPr>
        <p:spPr>
          <a:xfrm>
            <a:off x="6152083" y="4343400"/>
            <a:ext cx="1695298" cy="45720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Estado fiscal</a:t>
            </a:r>
            <a:endParaRPr lang="en-US" sz="1250" dirty="0"/>
          </a:p>
        </p:txBody>
      </p:sp>
      <p:sp>
        <p:nvSpPr>
          <p:cNvPr id="13" name="Shape 11"/>
          <p:cNvSpPr/>
          <p:nvPr/>
        </p:nvSpPr>
        <p:spPr>
          <a:xfrm>
            <a:off x="8075981" y="4343400"/>
            <a:ext cx="2584094" cy="457200"/>
          </a:xfrm>
          <a:prstGeom prst="roundRect">
            <a:avLst>
              <a:gd name="adj" fmla="val 20000"/>
            </a:avLst>
          </a:prstGeom>
          <a:solidFill>
            <a:srgbClr val="14395E"/>
          </a:solidFill>
          <a:ln w="12700">
            <a:solidFill>
              <a:srgbClr val="1C7293"/>
            </a:solidFill>
            <a:prstDash val="solid"/>
          </a:ln>
        </p:spPr>
      </p:sp>
      <p:sp>
        <p:nvSpPr>
          <p:cNvPr id="14" name="Text 12"/>
          <p:cNvSpPr/>
          <p:nvPr/>
        </p:nvSpPr>
        <p:spPr>
          <a:xfrm>
            <a:off x="8075981" y="4343400"/>
            <a:ext cx="2584094" cy="45720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Auditoría automatizada</a:t>
            </a:r>
            <a:endParaRPr lang="en-US" sz="1250" dirty="0"/>
          </a:p>
        </p:txBody>
      </p:sp>
      <p:sp>
        <p:nvSpPr>
          <p:cNvPr id="15" name="Text 13"/>
          <p:cNvSpPr/>
          <p:nvPr/>
        </p:nvSpPr>
        <p:spPr>
          <a:xfrm>
            <a:off x="822960" y="5715000"/>
            <a:ext cx="640080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Marcos Gamaliel Joaquín  ·  Legajo SOF02218</a:t>
            </a:r>
            <a:endParaRPr lang="en-US" sz="1500" dirty="0"/>
          </a:p>
        </p:txBody>
      </p:sp>
      <p:sp>
        <p:nvSpPr>
          <p:cNvPr id="16" name="Text 14"/>
          <p:cNvSpPr/>
          <p:nvPr/>
        </p:nvSpPr>
        <p:spPr>
          <a:xfrm>
            <a:off x="822960" y="6080760"/>
            <a:ext cx="6400800" cy="320040"/>
          </a:xfrm>
          <a:prstGeom prst="rect">
            <a:avLst/>
          </a:prstGeom>
          <a:noFill/>
          <a:ln/>
        </p:spPr>
        <p:txBody>
          <a:bodyPr wrap="square" rtlCol="0" anchor="ctr"/>
          <a:lstStyle/>
          <a:p>
            <a:pPr indent="0" marL="0">
              <a:buNone/>
            </a:pPr>
            <a:r>
              <a:rPr lang="en-US" sz="1250" dirty="0">
                <a:solidFill>
                  <a:srgbClr val="8FA3B5"/>
                </a:solidFill>
                <a:latin typeface="Calibri" pitchFamily="34" charset="0"/>
                <a:ea typeface="Calibri" pitchFamily="34" charset="-122"/>
                <a:cs typeface="Calibri" pitchFamily="34" charset="-120"/>
              </a:rPr>
              <a:t>Profesor TFG: Alejandro Mainero  ·  Córdoba, Argentina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EL PUNTO DE PARTIDA</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1 · 0:00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Un segmento grande, y creciendo</a:t>
            </a:r>
            <a:endParaRPr lang="en-US" sz="3200" dirty="0"/>
          </a:p>
        </p:txBody>
      </p:sp>
      <p:sp>
        <p:nvSpPr>
          <p:cNvPr id="5" name="Shape 3"/>
          <p:cNvSpPr/>
          <p:nvPr/>
        </p:nvSpPr>
        <p:spPr>
          <a:xfrm>
            <a:off x="640080" y="2103120"/>
            <a:ext cx="3474720" cy="3017520"/>
          </a:xfrm>
          <a:prstGeom prst="roundRect">
            <a:avLst>
              <a:gd name="adj" fmla="val 2424"/>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Text 4"/>
          <p:cNvSpPr/>
          <p:nvPr/>
        </p:nvSpPr>
        <p:spPr>
          <a:xfrm>
            <a:off x="960120" y="2377440"/>
            <a:ext cx="2834640" cy="914400"/>
          </a:xfrm>
          <a:prstGeom prst="rect">
            <a:avLst/>
          </a:prstGeom>
          <a:noFill/>
          <a:ln/>
        </p:spPr>
        <p:txBody>
          <a:bodyPr wrap="square" rtlCol="0" anchor="ctr"/>
          <a:lstStyle/>
          <a:p>
            <a:pPr indent="0" marL="0">
              <a:buNone/>
            </a:pPr>
            <a:r>
              <a:rPr lang="en-US" sz="4600" b="1" dirty="0">
                <a:solidFill>
                  <a:srgbClr val="1C7293"/>
                </a:solidFill>
                <a:latin typeface="Georgia" pitchFamily="34" charset="0"/>
                <a:ea typeface="Georgia" pitchFamily="34" charset="-122"/>
                <a:cs typeface="Georgia" pitchFamily="34" charset="-120"/>
              </a:rPr>
              <a:t>24,5 %</a:t>
            </a:r>
            <a:endParaRPr lang="en-US" sz="4600" dirty="0"/>
          </a:p>
        </p:txBody>
      </p:sp>
      <p:sp>
        <p:nvSpPr>
          <p:cNvPr id="7" name="Text 5"/>
          <p:cNvSpPr/>
          <p:nvPr/>
        </p:nvSpPr>
        <p:spPr>
          <a:xfrm>
            <a:off x="960120" y="3383280"/>
            <a:ext cx="2880360" cy="100584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del empleo total en Argentina es trabajo por cuenta propia</a:t>
            </a:r>
            <a:endParaRPr lang="en-US" sz="1500" dirty="0"/>
          </a:p>
        </p:txBody>
      </p:sp>
      <p:sp>
        <p:nvSpPr>
          <p:cNvPr id="8" name="Text 6"/>
          <p:cNvSpPr/>
          <p:nvPr/>
        </p:nvSpPr>
        <p:spPr>
          <a:xfrm>
            <a:off x="960120" y="4526280"/>
            <a:ext cx="2880360" cy="4572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INDEC · EPH 3.er trim. 2025</a:t>
            </a:r>
            <a:endParaRPr lang="en-US" sz="1100" dirty="0"/>
          </a:p>
        </p:txBody>
      </p:sp>
      <p:sp>
        <p:nvSpPr>
          <p:cNvPr id="9" name="Shape 7"/>
          <p:cNvSpPr/>
          <p:nvPr/>
        </p:nvSpPr>
        <p:spPr>
          <a:xfrm>
            <a:off x="4343400" y="2103120"/>
            <a:ext cx="3474720" cy="3017520"/>
          </a:xfrm>
          <a:prstGeom prst="roundRect">
            <a:avLst>
              <a:gd name="adj" fmla="val 2424"/>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0" name="Text 8"/>
          <p:cNvSpPr/>
          <p:nvPr/>
        </p:nvSpPr>
        <p:spPr>
          <a:xfrm>
            <a:off x="4663440" y="2377440"/>
            <a:ext cx="2834640" cy="914400"/>
          </a:xfrm>
          <a:prstGeom prst="rect">
            <a:avLst/>
          </a:prstGeom>
          <a:noFill/>
          <a:ln/>
        </p:spPr>
        <p:txBody>
          <a:bodyPr wrap="square" rtlCol="0" anchor="ctr"/>
          <a:lstStyle/>
          <a:p>
            <a:pPr indent="0" marL="0">
              <a:buNone/>
            </a:pPr>
            <a:r>
              <a:rPr lang="en-US" sz="4600" b="1" dirty="0">
                <a:solidFill>
                  <a:srgbClr val="02C39A"/>
                </a:solidFill>
                <a:latin typeface="Georgia" pitchFamily="34" charset="0"/>
                <a:ea typeface="Georgia" pitchFamily="34" charset="-122"/>
                <a:cs typeface="Georgia" pitchFamily="34" charset="-120"/>
              </a:rPr>
              <a:t>3,3 M</a:t>
            </a:r>
            <a:endParaRPr lang="en-US" sz="4600" dirty="0"/>
          </a:p>
        </p:txBody>
      </p:sp>
      <p:sp>
        <p:nvSpPr>
          <p:cNvPr id="11" name="Text 9"/>
          <p:cNvSpPr/>
          <p:nvPr/>
        </p:nvSpPr>
        <p:spPr>
          <a:xfrm>
            <a:off x="4663440" y="3383280"/>
            <a:ext cx="2880360" cy="100584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de personas trabajan por cuenta propia</a:t>
            </a:r>
            <a:endParaRPr lang="en-US" sz="1500" dirty="0"/>
          </a:p>
        </p:txBody>
      </p:sp>
      <p:sp>
        <p:nvSpPr>
          <p:cNvPr id="12" name="Text 10"/>
          <p:cNvSpPr/>
          <p:nvPr/>
        </p:nvSpPr>
        <p:spPr>
          <a:xfrm>
            <a:off x="4663440" y="4526280"/>
            <a:ext cx="2880360" cy="4572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+42,2 % respecto de 2016</a:t>
            </a:r>
            <a:endParaRPr lang="en-US" sz="1100" dirty="0"/>
          </a:p>
        </p:txBody>
      </p:sp>
      <p:sp>
        <p:nvSpPr>
          <p:cNvPr id="13" name="Shape 11"/>
          <p:cNvSpPr/>
          <p:nvPr/>
        </p:nvSpPr>
        <p:spPr>
          <a:xfrm>
            <a:off x="8046720" y="2103120"/>
            <a:ext cx="3474720" cy="3017520"/>
          </a:xfrm>
          <a:prstGeom prst="roundRect">
            <a:avLst>
              <a:gd name="adj" fmla="val 2424"/>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4" name="Text 12"/>
          <p:cNvSpPr/>
          <p:nvPr/>
        </p:nvSpPr>
        <p:spPr>
          <a:xfrm>
            <a:off x="8366760" y="2377440"/>
            <a:ext cx="2834640" cy="914400"/>
          </a:xfrm>
          <a:prstGeom prst="rect">
            <a:avLst/>
          </a:prstGeom>
          <a:noFill/>
          <a:ln/>
        </p:spPr>
        <p:txBody>
          <a:bodyPr wrap="square" rtlCol="0" anchor="ctr"/>
          <a:lstStyle/>
          <a:p>
            <a:pPr indent="0" marL="0">
              <a:buNone/>
            </a:pPr>
            <a:r>
              <a:rPr lang="en-US" sz="4600" b="1" dirty="0">
                <a:solidFill>
                  <a:srgbClr val="E0A82E"/>
                </a:solidFill>
                <a:latin typeface="Georgia" pitchFamily="34" charset="0"/>
                <a:ea typeface="Georgia" pitchFamily="34" charset="-122"/>
                <a:cs typeface="Georgia" pitchFamily="34" charset="-120"/>
              </a:rPr>
              <a:t>+35 %</a:t>
            </a:r>
            <a:endParaRPr lang="en-US" sz="4600" dirty="0"/>
          </a:p>
        </p:txBody>
      </p:sp>
      <p:sp>
        <p:nvSpPr>
          <p:cNvPr id="15" name="Text 13"/>
          <p:cNvSpPr/>
          <p:nvPr/>
        </p:nvSpPr>
        <p:spPr>
          <a:xfrm>
            <a:off x="8366760" y="3383280"/>
            <a:ext cx="2880360" cy="100584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crecieron los inscriptos al régimen simplificado</a:t>
            </a:r>
            <a:endParaRPr lang="en-US" sz="1500" dirty="0"/>
          </a:p>
        </p:txBody>
      </p:sp>
      <p:sp>
        <p:nvSpPr>
          <p:cNvPr id="16" name="Text 14"/>
          <p:cNvSpPr/>
          <p:nvPr/>
        </p:nvSpPr>
        <p:spPr>
          <a:xfrm>
            <a:off x="8366760" y="4526280"/>
            <a:ext cx="2880360" cy="4572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Secretaría de Trabajo, 2026</a:t>
            </a:r>
            <a:endParaRPr lang="en-US" sz="1100" dirty="0"/>
          </a:p>
        </p:txBody>
      </p:sp>
      <p:sp>
        <p:nvSpPr>
          <p:cNvPr id="17" name="Text 15"/>
          <p:cNvSpPr/>
          <p:nvPr/>
        </p:nvSpPr>
        <p:spPr>
          <a:xfrm>
            <a:off x="640080" y="5577840"/>
            <a:ext cx="10881360" cy="457200"/>
          </a:xfrm>
          <a:prstGeom prst="rect">
            <a:avLst/>
          </a:prstGeom>
          <a:noFill/>
          <a:ln/>
        </p:spPr>
        <p:txBody>
          <a:bodyPr wrap="square" rtlCol="0" anchor="ctr"/>
          <a:lstStyle/>
          <a:p>
            <a:pPr algn="ctr" indent="0" marL="0">
              <a:buNone/>
            </a:pPr>
            <a:r>
              <a:rPr lang="en-US" sz="1500" i="1" dirty="0">
                <a:solidFill>
                  <a:srgbClr val="1C7293"/>
                </a:solidFill>
                <a:latin typeface="Calibri" pitchFamily="34" charset="0"/>
                <a:ea typeface="Calibri" pitchFamily="34" charset="-122"/>
                <a:cs typeface="Calibri" pitchFamily="34" charset="-120"/>
              </a:rPr>
              <a:t>Ese universo es el que enfrenta las cuatro problemáticas relevadas.</a:t>
            </a:r>
            <a:endParaRPr lang="en-US" sz="1500" dirty="0"/>
          </a:p>
        </p:txBody>
      </p:sp>
      <p:sp>
        <p:nvSpPr>
          <p:cNvPr id="18" name="Text 16"/>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9" name="Text 1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DIAGNÓSTICO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1 · 1:00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Cuatro problemáticas concretas</a:t>
            </a:r>
            <a:endParaRPr lang="en-US" sz="3200" dirty="0"/>
          </a:p>
        </p:txBody>
      </p:sp>
      <p:sp>
        <p:nvSpPr>
          <p:cNvPr id="5" name="Shape 3"/>
          <p:cNvSpPr/>
          <p:nvPr/>
        </p:nvSpPr>
        <p:spPr>
          <a:xfrm>
            <a:off x="640080" y="2011680"/>
            <a:ext cx="5257800" cy="1874520"/>
          </a:xfrm>
          <a:prstGeom prst="roundRect">
            <a:avLst>
              <a:gd name="adj" fmla="val 3902"/>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Shape 4"/>
          <p:cNvSpPr/>
          <p:nvPr/>
        </p:nvSpPr>
        <p:spPr>
          <a:xfrm>
            <a:off x="914400" y="2304288"/>
            <a:ext cx="502920" cy="502920"/>
          </a:xfrm>
          <a:prstGeom prst="roundRect">
            <a:avLst>
              <a:gd name="adj" fmla="val 49091"/>
            </a:avLst>
          </a:prstGeom>
          <a:solidFill>
            <a:srgbClr val="1C7293"/>
          </a:solidFill>
          <a:ln/>
        </p:spPr>
      </p:sp>
      <p:sp>
        <p:nvSpPr>
          <p:cNvPr id="7" name="Text 5"/>
          <p:cNvSpPr/>
          <p:nvPr/>
        </p:nvSpPr>
        <p:spPr>
          <a:xfrm>
            <a:off x="914400" y="2304288"/>
            <a:ext cx="502920" cy="50292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600200" y="2286000"/>
            <a:ext cx="4114800" cy="502920"/>
          </a:xfrm>
          <a:prstGeom prst="rect">
            <a:avLst/>
          </a:prstGeom>
          <a:noFill/>
          <a:ln/>
        </p:spPr>
        <p:txBody>
          <a:bodyPr wrap="square" rtlCol="0" anchor="ctr"/>
          <a:lstStyle/>
          <a:p>
            <a:pPr indent="0" marL="0">
              <a:buNone/>
            </a:pPr>
            <a:r>
              <a:rPr lang="en-US" sz="1700" b="1" dirty="0">
                <a:solidFill>
                  <a:srgbClr val="16222E"/>
                </a:solidFill>
                <a:latin typeface="Georgia" pitchFamily="34" charset="0"/>
                <a:ea typeface="Georgia" pitchFamily="34" charset="-122"/>
                <a:cs typeface="Georgia" pitchFamily="34" charset="-120"/>
              </a:rPr>
              <a:t>Flujo de caja variable</a:t>
            </a:r>
            <a:endParaRPr lang="en-US" sz="1700" dirty="0"/>
          </a:p>
        </p:txBody>
      </p:sp>
      <p:sp>
        <p:nvSpPr>
          <p:cNvPr id="9" name="Text 7"/>
          <p:cNvSpPr/>
          <p:nvPr/>
        </p:nvSpPr>
        <p:spPr>
          <a:xfrm>
            <a:off x="932688" y="2926080"/>
            <a:ext cx="4754880" cy="86868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Los ingresos dependen de cuándo termina un entregable y cuándo paga cada cliente. Las herramientas registran, pero no proyectan.</a:t>
            </a:r>
            <a:endParaRPr lang="en-US" sz="1250" dirty="0"/>
          </a:p>
        </p:txBody>
      </p:sp>
      <p:sp>
        <p:nvSpPr>
          <p:cNvPr id="10" name="Shape 8"/>
          <p:cNvSpPr/>
          <p:nvPr/>
        </p:nvSpPr>
        <p:spPr>
          <a:xfrm>
            <a:off x="6217920" y="2011680"/>
            <a:ext cx="5257800" cy="1874520"/>
          </a:xfrm>
          <a:prstGeom prst="roundRect">
            <a:avLst>
              <a:gd name="adj" fmla="val 3902"/>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1" name="Shape 9"/>
          <p:cNvSpPr/>
          <p:nvPr/>
        </p:nvSpPr>
        <p:spPr>
          <a:xfrm>
            <a:off x="6492240" y="2304288"/>
            <a:ext cx="502920" cy="502920"/>
          </a:xfrm>
          <a:prstGeom prst="roundRect">
            <a:avLst>
              <a:gd name="adj" fmla="val 49091"/>
            </a:avLst>
          </a:prstGeom>
          <a:solidFill>
            <a:srgbClr val="1C7293"/>
          </a:solidFill>
          <a:ln/>
        </p:spPr>
      </p:sp>
      <p:sp>
        <p:nvSpPr>
          <p:cNvPr id="12" name="Text 10"/>
          <p:cNvSpPr/>
          <p:nvPr/>
        </p:nvSpPr>
        <p:spPr>
          <a:xfrm>
            <a:off x="6492240" y="2304288"/>
            <a:ext cx="502920" cy="50292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7178040" y="2286000"/>
            <a:ext cx="4114800" cy="502920"/>
          </a:xfrm>
          <a:prstGeom prst="rect">
            <a:avLst/>
          </a:prstGeom>
          <a:noFill/>
          <a:ln/>
        </p:spPr>
        <p:txBody>
          <a:bodyPr wrap="square" rtlCol="0" anchor="ctr"/>
          <a:lstStyle/>
          <a:p>
            <a:pPr indent="0" marL="0">
              <a:buNone/>
            </a:pPr>
            <a:r>
              <a:rPr lang="en-US" sz="1700" b="1" dirty="0">
                <a:solidFill>
                  <a:srgbClr val="16222E"/>
                </a:solidFill>
                <a:latin typeface="Georgia" pitchFamily="34" charset="0"/>
                <a:ea typeface="Georgia" pitchFamily="34" charset="-122"/>
                <a:cs typeface="Georgia" pitchFamily="34" charset="-120"/>
              </a:rPr>
              <a:t>Control de la categoría fiscal</a:t>
            </a:r>
            <a:endParaRPr lang="en-US" sz="1700" dirty="0"/>
          </a:p>
        </p:txBody>
      </p:sp>
      <p:sp>
        <p:nvSpPr>
          <p:cNvPr id="14" name="Text 12"/>
          <p:cNvSpPr/>
          <p:nvPr/>
        </p:nvSpPr>
        <p:spPr>
          <a:xfrm>
            <a:off x="6510528" y="2926080"/>
            <a:ext cx="4754880" cy="86868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Superar el límite anual fuerza la recategorización o la exclusión del régimen. Monitorearlo a mano es propenso a omisiones.</a:t>
            </a:r>
            <a:endParaRPr lang="en-US" sz="1250" dirty="0"/>
          </a:p>
        </p:txBody>
      </p:sp>
      <p:sp>
        <p:nvSpPr>
          <p:cNvPr id="15" name="Shape 13"/>
          <p:cNvSpPr/>
          <p:nvPr/>
        </p:nvSpPr>
        <p:spPr>
          <a:xfrm>
            <a:off x="640080" y="4160520"/>
            <a:ext cx="5257800" cy="1874520"/>
          </a:xfrm>
          <a:prstGeom prst="roundRect">
            <a:avLst>
              <a:gd name="adj" fmla="val 3902"/>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6" name="Shape 14"/>
          <p:cNvSpPr/>
          <p:nvPr/>
        </p:nvSpPr>
        <p:spPr>
          <a:xfrm>
            <a:off x="914400" y="4453128"/>
            <a:ext cx="502920" cy="502920"/>
          </a:xfrm>
          <a:prstGeom prst="roundRect">
            <a:avLst>
              <a:gd name="adj" fmla="val 49091"/>
            </a:avLst>
          </a:prstGeom>
          <a:solidFill>
            <a:srgbClr val="1C7293"/>
          </a:solidFill>
          <a:ln/>
        </p:spPr>
      </p:sp>
      <p:sp>
        <p:nvSpPr>
          <p:cNvPr id="17" name="Text 15"/>
          <p:cNvSpPr/>
          <p:nvPr/>
        </p:nvSpPr>
        <p:spPr>
          <a:xfrm>
            <a:off x="914400" y="4453128"/>
            <a:ext cx="502920" cy="50292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1600200" y="4434840"/>
            <a:ext cx="4114800" cy="502920"/>
          </a:xfrm>
          <a:prstGeom prst="rect">
            <a:avLst/>
          </a:prstGeom>
          <a:noFill/>
          <a:ln/>
        </p:spPr>
        <p:txBody>
          <a:bodyPr wrap="square" rtlCol="0" anchor="ctr"/>
          <a:lstStyle/>
          <a:p>
            <a:pPr indent="0" marL="0">
              <a:buNone/>
            </a:pPr>
            <a:r>
              <a:rPr lang="en-US" sz="1700" b="1" dirty="0">
                <a:solidFill>
                  <a:srgbClr val="16222E"/>
                </a:solidFill>
                <a:latin typeface="Georgia" pitchFamily="34" charset="0"/>
                <a:ea typeface="Georgia" pitchFamily="34" charset="-122"/>
                <a:cs typeface="Georgia" pitchFamily="34" charset="-120"/>
              </a:rPr>
              <a:t>Ausencia de auditoría</a:t>
            </a:r>
            <a:endParaRPr lang="en-US" sz="1700" dirty="0"/>
          </a:p>
        </p:txBody>
      </p:sp>
      <p:sp>
        <p:nvSpPr>
          <p:cNvPr id="19" name="Text 17"/>
          <p:cNvSpPr/>
          <p:nvPr/>
        </p:nvSpPr>
        <p:spPr>
          <a:xfrm>
            <a:off x="932688" y="5074920"/>
            <a:ext cx="4754880" cy="86868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Duplicados, facturas vencidas y cuotas impagas dependen del cruce manual, que se posterga hasta el cierre fiscal anual.</a:t>
            </a:r>
            <a:endParaRPr lang="en-US" sz="1250" dirty="0"/>
          </a:p>
        </p:txBody>
      </p:sp>
      <p:sp>
        <p:nvSpPr>
          <p:cNvPr id="20" name="Shape 18"/>
          <p:cNvSpPr/>
          <p:nvPr/>
        </p:nvSpPr>
        <p:spPr>
          <a:xfrm>
            <a:off x="6217920" y="4160520"/>
            <a:ext cx="5257800" cy="1874520"/>
          </a:xfrm>
          <a:prstGeom prst="roundRect">
            <a:avLst>
              <a:gd name="adj" fmla="val 3902"/>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1" name="Shape 19"/>
          <p:cNvSpPr/>
          <p:nvPr/>
        </p:nvSpPr>
        <p:spPr>
          <a:xfrm>
            <a:off x="6492240" y="4453128"/>
            <a:ext cx="502920" cy="502920"/>
          </a:xfrm>
          <a:prstGeom prst="roundRect">
            <a:avLst>
              <a:gd name="adj" fmla="val 49091"/>
            </a:avLst>
          </a:prstGeom>
          <a:solidFill>
            <a:srgbClr val="1C7293"/>
          </a:solidFill>
          <a:ln/>
        </p:spPr>
      </p:sp>
      <p:sp>
        <p:nvSpPr>
          <p:cNvPr id="22" name="Text 20"/>
          <p:cNvSpPr/>
          <p:nvPr/>
        </p:nvSpPr>
        <p:spPr>
          <a:xfrm>
            <a:off x="6492240" y="4453128"/>
            <a:ext cx="502920" cy="50292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7178040" y="4434840"/>
            <a:ext cx="4114800" cy="502920"/>
          </a:xfrm>
          <a:prstGeom prst="rect">
            <a:avLst/>
          </a:prstGeom>
          <a:noFill/>
          <a:ln/>
        </p:spPr>
        <p:txBody>
          <a:bodyPr wrap="square" rtlCol="0" anchor="ctr"/>
          <a:lstStyle/>
          <a:p>
            <a:pPr indent="0" marL="0">
              <a:buNone/>
            </a:pPr>
            <a:r>
              <a:rPr lang="en-US" sz="1700" b="1" dirty="0">
                <a:solidFill>
                  <a:srgbClr val="16222E"/>
                </a:solidFill>
                <a:latin typeface="Georgia" pitchFamily="34" charset="0"/>
                <a:ea typeface="Georgia" pitchFamily="34" charset="-122"/>
                <a:cs typeface="Georgia" pitchFamily="34" charset="-120"/>
              </a:rPr>
              <a:t>Fragmentación documental</a:t>
            </a:r>
            <a:endParaRPr lang="en-US" sz="1700" dirty="0"/>
          </a:p>
        </p:txBody>
      </p:sp>
      <p:sp>
        <p:nvSpPr>
          <p:cNvPr id="24" name="Text 22"/>
          <p:cNvSpPr/>
          <p:nvPr/>
        </p:nvSpPr>
        <p:spPr>
          <a:xfrm>
            <a:off x="6510528" y="5074920"/>
            <a:ext cx="4754880" cy="86868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Planillas, apps móviles, correos con comprobantes, PDF de facturas y exportaciones CSV del homebanking. Nada consolidado.</a:t>
            </a:r>
            <a:endParaRPr lang="en-US" sz="1250" dirty="0"/>
          </a:p>
        </p:txBody>
      </p:sp>
      <p:sp>
        <p:nvSpPr>
          <p:cNvPr id="25" name="Text 23"/>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6"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RELEVAMIENTO DE LA COMPETENCIA</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1 · 2:00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Ninguna solución del mercado cubre el núcleo</a:t>
            </a:r>
            <a:endParaRPr lang="en-US" sz="3200" dirty="0"/>
          </a:p>
        </p:txBody>
      </p:sp>
      <p:sp>
        <p:nvSpPr>
          <p:cNvPr id="5" name="Text 3"/>
          <p:cNvSpPr/>
          <p:nvPr/>
        </p:nvSpPr>
        <p:spPr>
          <a:xfrm>
            <a:off x="640080" y="1874520"/>
            <a:ext cx="10881360" cy="41148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Contabilium · Xubio · Colppy · QuickBooks · FreshBooks</a:t>
            </a:r>
            <a:endParaRPr lang="en-US" sz="1600" dirty="0"/>
          </a:p>
        </p:txBody>
      </p:sp>
      <p:sp>
        <p:nvSpPr>
          <p:cNvPr id="6" name="Text 4"/>
          <p:cNvSpPr/>
          <p:nvPr/>
        </p:nvSpPr>
        <p:spPr>
          <a:xfrm>
            <a:off x="640080" y="2286000"/>
            <a:ext cx="10881360" cy="548640"/>
          </a:xfrm>
          <a:prstGeom prst="rect">
            <a:avLst/>
          </a:prstGeom>
          <a:noFill/>
          <a:ln/>
        </p:spPr>
        <p:txBody>
          <a:bodyPr wrap="square" rtlCol="0" anchor="ctr"/>
          <a:lstStyle/>
          <a:p>
            <a:pPr indent="0" marL="0">
              <a:buNone/>
            </a:pPr>
            <a:r>
              <a:rPr lang="en-US" sz="1400" dirty="0">
                <a:solidFill>
                  <a:srgbClr val="8FA3B5"/>
                </a:solidFill>
                <a:latin typeface="Calibri" pitchFamily="34" charset="0"/>
                <a:ea typeface="Calibri" pitchFamily="34" charset="-122"/>
                <a:cs typeface="Calibri" pitchFamily="34" charset="-120"/>
              </a:rPr>
              <a:t>Todas están diseñadas para pymes con estructura administrativa formal, no para operadores individuales bajo regímenes simplificados.</a:t>
            </a:r>
            <a:endParaRPr lang="en-US" sz="1400" dirty="0"/>
          </a:p>
        </p:txBody>
      </p:sp>
      <p:sp>
        <p:nvSpPr>
          <p:cNvPr id="7" name="Shape 5"/>
          <p:cNvSpPr/>
          <p:nvPr/>
        </p:nvSpPr>
        <p:spPr>
          <a:xfrm>
            <a:off x="640080" y="3063240"/>
            <a:ext cx="3474720" cy="1508760"/>
          </a:xfrm>
          <a:prstGeom prst="roundRect">
            <a:avLst>
              <a:gd name="adj" fmla="val 6061"/>
            </a:avLst>
          </a:prstGeom>
          <a:solidFill>
            <a:srgbClr val="14395E"/>
          </a:solidFill>
          <a:ln w="19050">
            <a:solidFill>
              <a:srgbClr val="D14D4D"/>
            </a:solidFill>
            <a:prstDash val="solid"/>
          </a:ln>
        </p:spPr>
      </p:sp>
      <p:sp>
        <p:nvSpPr>
          <p:cNvPr id="8" name="Text 6"/>
          <p:cNvSpPr/>
          <p:nvPr/>
        </p:nvSpPr>
        <p:spPr>
          <a:xfrm>
            <a:off x="914400" y="3291840"/>
            <a:ext cx="2926080" cy="77724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Clasificación automática de gastos</a:t>
            </a:r>
            <a:endParaRPr lang="en-US" sz="1450" dirty="0"/>
          </a:p>
        </p:txBody>
      </p:sp>
      <p:sp>
        <p:nvSpPr>
          <p:cNvPr id="9" name="Text 7"/>
          <p:cNvSpPr/>
          <p:nvPr/>
        </p:nvSpPr>
        <p:spPr>
          <a:xfrm>
            <a:off x="914400" y="4069080"/>
            <a:ext cx="2926080" cy="365760"/>
          </a:xfrm>
          <a:prstGeom prst="rect">
            <a:avLst/>
          </a:prstGeom>
          <a:noFill/>
          <a:ln/>
        </p:spPr>
        <p:txBody>
          <a:bodyPr wrap="square" rtlCol="0" anchor="ctr"/>
          <a:lstStyle/>
          <a:p>
            <a:pPr indent="0" marL="0">
              <a:buNone/>
            </a:pPr>
            <a:r>
              <a:rPr lang="en-US" sz="1700" b="1" dirty="0">
                <a:solidFill>
                  <a:srgbClr val="D14D4D"/>
                </a:solidFill>
                <a:latin typeface="Georgia" pitchFamily="34" charset="0"/>
                <a:ea typeface="Georgia" pitchFamily="34" charset="-122"/>
                <a:cs typeface="Georgia" pitchFamily="34" charset="-120"/>
              </a:rPr>
              <a:t>✕  Ninguna</a:t>
            </a:r>
            <a:endParaRPr lang="en-US" sz="1700" dirty="0"/>
          </a:p>
        </p:txBody>
      </p:sp>
      <p:sp>
        <p:nvSpPr>
          <p:cNvPr id="10" name="Shape 8"/>
          <p:cNvSpPr/>
          <p:nvPr/>
        </p:nvSpPr>
        <p:spPr>
          <a:xfrm>
            <a:off x="4343400" y="3063240"/>
            <a:ext cx="3474720" cy="1508760"/>
          </a:xfrm>
          <a:prstGeom prst="roundRect">
            <a:avLst>
              <a:gd name="adj" fmla="val 6061"/>
            </a:avLst>
          </a:prstGeom>
          <a:solidFill>
            <a:srgbClr val="14395E"/>
          </a:solidFill>
          <a:ln w="19050">
            <a:solidFill>
              <a:srgbClr val="D14D4D"/>
            </a:solidFill>
            <a:prstDash val="solid"/>
          </a:ln>
        </p:spPr>
      </p:sp>
      <p:sp>
        <p:nvSpPr>
          <p:cNvPr id="11" name="Text 9"/>
          <p:cNvSpPr/>
          <p:nvPr/>
        </p:nvSpPr>
        <p:spPr>
          <a:xfrm>
            <a:off x="4617720" y="3291840"/>
            <a:ext cx="2926080" cy="77724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Predicción de ingresos</a:t>
            </a:r>
            <a:endParaRPr lang="en-US" sz="1450" dirty="0"/>
          </a:p>
        </p:txBody>
      </p:sp>
      <p:sp>
        <p:nvSpPr>
          <p:cNvPr id="12" name="Text 10"/>
          <p:cNvSpPr/>
          <p:nvPr/>
        </p:nvSpPr>
        <p:spPr>
          <a:xfrm>
            <a:off x="4617720" y="4069080"/>
            <a:ext cx="2926080" cy="365760"/>
          </a:xfrm>
          <a:prstGeom prst="rect">
            <a:avLst/>
          </a:prstGeom>
          <a:noFill/>
          <a:ln/>
        </p:spPr>
        <p:txBody>
          <a:bodyPr wrap="square" rtlCol="0" anchor="ctr"/>
          <a:lstStyle/>
          <a:p>
            <a:pPr indent="0" marL="0">
              <a:buNone/>
            </a:pPr>
            <a:r>
              <a:rPr lang="en-US" sz="1700" b="1" dirty="0">
                <a:solidFill>
                  <a:srgbClr val="D14D4D"/>
                </a:solidFill>
                <a:latin typeface="Georgia" pitchFamily="34" charset="0"/>
                <a:ea typeface="Georgia" pitchFamily="34" charset="-122"/>
                <a:cs typeface="Georgia" pitchFamily="34" charset="-120"/>
              </a:rPr>
              <a:t>✕  Ninguna</a:t>
            </a:r>
            <a:endParaRPr lang="en-US" sz="1700" dirty="0"/>
          </a:p>
        </p:txBody>
      </p:sp>
      <p:sp>
        <p:nvSpPr>
          <p:cNvPr id="13" name="Shape 11"/>
          <p:cNvSpPr/>
          <p:nvPr/>
        </p:nvSpPr>
        <p:spPr>
          <a:xfrm>
            <a:off x="8046720" y="3063240"/>
            <a:ext cx="3474720" cy="1508760"/>
          </a:xfrm>
          <a:prstGeom prst="roundRect">
            <a:avLst>
              <a:gd name="adj" fmla="val 6061"/>
            </a:avLst>
          </a:prstGeom>
          <a:solidFill>
            <a:srgbClr val="14395E"/>
          </a:solidFill>
          <a:ln w="19050">
            <a:solidFill>
              <a:srgbClr val="D14D4D"/>
            </a:solidFill>
            <a:prstDash val="solid"/>
          </a:ln>
        </p:spPr>
      </p:sp>
      <p:sp>
        <p:nvSpPr>
          <p:cNvPr id="14" name="Text 12"/>
          <p:cNvSpPr/>
          <p:nvPr/>
        </p:nvSpPr>
        <p:spPr>
          <a:xfrm>
            <a:off x="8321040" y="3291840"/>
            <a:ext cx="2926080" cy="77724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Auditoría automatizada de registros</a:t>
            </a:r>
            <a:endParaRPr lang="en-US" sz="1450" dirty="0"/>
          </a:p>
        </p:txBody>
      </p:sp>
      <p:sp>
        <p:nvSpPr>
          <p:cNvPr id="15" name="Text 13"/>
          <p:cNvSpPr/>
          <p:nvPr/>
        </p:nvSpPr>
        <p:spPr>
          <a:xfrm>
            <a:off x="8321040" y="4069080"/>
            <a:ext cx="2926080" cy="365760"/>
          </a:xfrm>
          <a:prstGeom prst="rect">
            <a:avLst/>
          </a:prstGeom>
          <a:noFill/>
          <a:ln/>
        </p:spPr>
        <p:txBody>
          <a:bodyPr wrap="square" rtlCol="0" anchor="ctr"/>
          <a:lstStyle/>
          <a:p>
            <a:pPr indent="0" marL="0">
              <a:buNone/>
            </a:pPr>
            <a:r>
              <a:rPr lang="en-US" sz="1700" b="1" dirty="0">
                <a:solidFill>
                  <a:srgbClr val="D14D4D"/>
                </a:solidFill>
                <a:latin typeface="Georgia" pitchFamily="34" charset="0"/>
                <a:ea typeface="Georgia" pitchFamily="34" charset="-122"/>
                <a:cs typeface="Georgia" pitchFamily="34" charset="-120"/>
              </a:rPr>
              <a:t>✕  Ninguna</a:t>
            </a:r>
            <a:endParaRPr lang="en-US" sz="1700" dirty="0"/>
          </a:p>
        </p:txBody>
      </p:sp>
      <p:sp>
        <p:nvSpPr>
          <p:cNvPr id="16" name="Shape 14"/>
          <p:cNvSpPr/>
          <p:nvPr/>
        </p:nvSpPr>
        <p:spPr>
          <a:xfrm>
            <a:off x="640080" y="4937760"/>
            <a:ext cx="10881360" cy="1051560"/>
          </a:xfrm>
          <a:prstGeom prst="roundRect">
            <a:avLst>
              <a:gd name="adj" fmla="val 10435"/>
            </a:avLst>
          </a:prstGeom>
          <a:solidFill>
            <a:srgbClr val="02C39A"/>
          </a:solidFill>
          <a:ln/>
        </p:spPr>
      </p:sp>
      <p:sp>
        <p:nvSpPr>
          <p:cNvPr id="17" name="Text 15"/>
          <p:cNvSpPr/>
          <p:nvPr/>
        </p:nvSpPr>
        <p:spPr>
          <a:xfrm>
            <a:off x="822960" y="4937760"/>
            <a:ext cx="10515600" cy="1051560"/>
          </a:xfrm>
          <a:prstGeom prst="rect">
            <a:avLst/>
          </a:prstGeom>
          <a:noFill/>
          <a:ln/>
        </p:spPr>
        <p:txBody>
          <a:bodyPr wrap="square" rtlCol="0" anchor="ctr"/>
          <a:lstStyle/>
          <a:p>
            <a:pPr indent="0" marL="0">
              <a:buNone/>
            </a:pPr>
            <a:r>
              <a:rPr lang="en-US" sz="2300" b="1" dirty="0">
                <a:solidFill>
                  <a:srgbClr val="0D2B45"/>
                </a:solidFill>
                <a:latin typeface="Georgia" pitchFamily="34" charset="0"/>
                <a:ea typeface="Georgia" pitchFamily="34" charset="-122"/>
                <a:cs typeface="Georgia" pitchFamily="34" charset="-120"/>
              </a:rPr>
              <a:t>¿Puede un software ANTICIPAR ese riesgo, en lugar de solamente registrarlo?</a:t>
            </a:r>
            <a:endParaRPr lang="en-US" sz="2300" dirty="0"/>
          </a:p>
        </p:txBody>
      </p:sp>
      <p:sp>
        <p:nvSpPr>
          <p:cNvPr id="18" name="Text 16"/>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9" name="Text 1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OBJETIVO GENERAL</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2 · 3:00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Qué se propuso este trabajo</a:t>
            </a:r>
            <a:endParaRPr lang="en-US" sz="3200" dirty="0"/>
          </a:p>
        </p:txBody>
      </p:sp>
      <p:sp>
        <p:nvSpPr>
          <p:cNvPr id="5" name="Shape 3"/>
          <p:cNvSpPr/>
          <p:nvPr/>
        </p:nvSpPr>
        <p:spPr>
          <a:xfrm>
            <a:off x="640080" y="1965960"/>
            <a:ext cx="10881360" cy="1371600"/>
          </a:xfrm>
          <a:prstGeom prst="roundRect">
            <a:avLst>
              <a:gd name="adj" fmla="val 6667"/>
            </a:avLst>
          </a:prstGeom>
          <a:solidFill>
            <a:srgbClr val="FFFFFF"/>
          </a:solidFill>
          <a:ln w="25400">
            <a:solidFill>
              <a:srgbClr val="1C7293"/>
            </a:solidFill>
            <a:prstDash val="solid"/>
          </a:ln>
        </p:spPr>
      </p:sp>
      <p:sp>
        <p:nvSpPr>
          <p:cNvPr id="6" name="Text 4"/>
          <p:cNvSpPr/>
          <p:nvPr/>
        </p:nvSpPr>
        <p:spPr>
          <a:xfrm>
            <a:off x="914400" y="1965960"/>
            <a:ext cx="10332720" cy="1371600"/>
          </a:xfrm>
          <a:prstGeom prst="rect">
            <a:avLst/>
          </a:prstGeom>
          <a:noFill/>
          <a:ln/>
        </p:spPr>
        <p:txBody>
          <a:bodyPr wrap="square" rtlCol="0" anchor="ctr"/>
          <a:lstStyle/>
          <a:p>
            <a:pPr indent="0" marL="0">
              <a:buNone/>
            </a:pPr>
            <a:r>
              <a:rPr lang="en-US" sz="1550" i="1" dirty="0">
                <a:solidFill>
                  <a:srgbClr val="16222E"/>
                </a:solidFill>
                <a:latin typeface="Calibri" pitchFamily="34" charset="0"/>
                <a:ea typeface="Calibri" pitchFamily="34" charset="-122"/>
                <a:cs typeface="Calibri" pitchFamily="34" charset="-120"/>
              </a:rPr>
              <a:t>Desarrollar un sistema web de gestión financiera para monotributistas argentinos que integre un clasificador de gastos por procesamiento de lenguaje natural entrenado localmente, un motor de predicción de ingresos, un módulo fiscal de monitoreo de la categoría de Monotributo y un componente de auditoría automatizada de los registros financieros.</a:t>
            </a:r>
            <a:endParaRPr lang="en-US" sz="1550" dirty="0"/>
          </a:p>
        </p:txBody>
      </p:sp>
      <p:sp>
        <p:nvSpPr>
          <p:cNvPr id="7" name="Shape 5"/>
          <p:cNvSpPr/>
          <p:nvPr/>
        </p:nvSpPr>
        <p:spPr>
          <a:xfrm>
            <a:off x="640080" y="3703320"/>
            <a:ext cx="2560320" cy="2194560"/>
          </a:xfrm>
          <a:prstGeom prst="roundRect">
            <a:avLst>
              <a:gd name="adj" fmla="val 4167"/>
            </a:avLst>
          </a:prstGeom>
          <a:solidFill>
            <a:srgbClr val="0D2B45"/>
          </a:solidFill>
          <a:ln/>
        </p:spPr>
      </p:sp>
      <p:sp>
        <p:nvSpPr>
          <p:cNvPr id="8" name="Text 6"/>
          <p:cNvSpPr/>
          <p:nvPr/>
        </p:nvSpPr>
        <p:spPr>
          <a:xfrm>
            <a:off x="868680" y="3931920"/>
            <a:ext cx="2103120" cy="548640"/>
          </a:xfrm>
          <a:prstGeom prst="rect">
            <a:avLst/>
          </a:prstGeom>
          <a:noFill/>
          <a:ln/>
        </p:spPr>
        <p:txBody>
          <a:bodyPr wrap="square" rtlCol="0" anchor="ctr"/>
          <a:lstStyle/>
          <a:p>
            <a:pPr indent="0" marL="0">
              <a:buNone/>
            </a:pPr>
            <a:r>
              <a:rPr lang="en-US" sz="2200" b="1" dirty="0">
                <a:solidFill>
                  <a:srgbClr val="02C39A"/>
                </a:solidFill>
                <a:latin typeface="Georgia" pitchFamily="34" charset="0"/>
                <a:ea typeface="Georgia" pitchFamily="34" charset="-122"/>
                <a:cs typeface="Georgia" pitchFamily="34" charset="-120"/>
              </a:rPr>
              <a:t>Clasificar</a:t>
            </a:r>
            <a:endParaRPr lang="en-US" sz="2200" dirty="0"/>
          </a:p>
        </p:txBody>
      </p:sp>
      <p:sp>
        <p:nvSpPr>
          <p:cNvPr id="9" name="Text 7"/>
          <p:cNvSpPr/>
          <p:nvPr/>
        </p:nvSpPr>
        <p:spPr>
          <a:xfrm>
            <a:off x="868680" y="4572000"/>
            <a:ext cx="219456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Gastos por PLN local,</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reentrenable con</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correcciones</a:t>
            </a:r>
            <a:endParaRPr lang="en-US" sz="1300" dirty="0"/>
          </a:p>
        </p:txBody>
      </p:sp>
      <p:sp>
        <p:nvSpPr>
          <p:cNvPr id="10" name="Shape 8"/>
          <p:cNvSpPr/>
          <p:nvPr/>
        </p:nvSpPr>
        <p:spPr>
          <a:xfrm>
            <a:off x="3429000" y="3703320"/>
            <a:ext cx="2560320" cy="2194560"/>
          </a:xfrm>
          <a:prstGeom prst="roundRect">
            <a:avLst>
              <a:gd name="adj" fmla="val 4167"/>
            </a:avLst>
          </a:prstGeom>
          <a:solidFill>
            <a:srgbClr val="0D2B45"/>
          </a:solidFill>
          <a:ln/>
        </p:spPr>
      </p:sp>
      <p:sp>
        <p:nvSpPr>
          <p:cNvPr id="11" name="Text 9"/>
          <p:cNvSpPr/>
          <p:nvPr/>
        </p:nvSpPr>
        <p:spPr>
          <a:xfrm>
            <a:off x="3657600" y="3931920"/>
            <a:ext cx="2103120" cy="548640"/>
          </a:xfrm>
          <a:prstGeom prst="rect">
            <a:avLst/>
          </a:prstGeom>
          <a:noFill/>
          <a:ln/>
        </p:spPr>
        <p:txBody>
          <a:bodyPr wrap="square" rtlCol="0" anchor="ctr"/>
          <a:lstStyle/>
          <a:p>
            <a:pPr indent="0" marL="0">
              <a:buNone/>
            </a:pPr>
            <a:r>
              <a:rPr lang="en-US" sz="2200" b="1" dirty="0">
                <a:solidFill>
                  <a:srgbClr val="5BB3C4"/>
                </a:solidFill>
                <a:latin typeface="Georgia" pitchFamily="34" charset="0"/>
                <a:ea typeface="Georgia" pitchFamily="34" charset="-122"/>
                <a:cs typeface="Georgia" pitchFamily="34" charset="-120"/>
              </a:rPr>
              <a:t>Predecir</a:t>
            </a:r>
            <a:endParaRPr lang="en-US" sz="2200" dirty="0"/>
          </a:p>
        </p:txBody>
      </p:sp>
      <p:sp>
        <p:nvSpPr>
          <p:cNvPr id="12" name="Text 10"/>
          <p:cNvSpPr/>
          <p:nvPr/>
        </p:nvSpPr>
        <p:spPr>
          <a:xfrm>
            <a:off x="3657600" y="4572000"/>
            <a:ext cx="219456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Ingresos a 6 meses</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con intervalos de</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confianza</a:t>
            </a:r>
            <a:endParaRPr lang="en-US" sz="1300" dirty="0"/>
          </a:p>
        </p:txBody>
      </p:sp>
      <p:sp>
        <p:nvSpPr>
          <p:cNvPr id="13" name="Shape 11"/>
          <p:cNvSpPr/>
          <p:nvPr/>
        </p:nvSpPr>
        <p:spPr>
          <a:xfrm>
            <a:off x="6217920" y="3703320"/>
            <a:ext cx="2560320" cy="2194560"/>
          </a:xfrm>
          <a:prstGeom prst="roundRect">
            <a:avLst>
              <a:gd name="adj" fmla="val 4167"/>
            </a:avLst>
          </a:prstGeom>
          <a:solidFill>
            <a:srgbClr val="0D2B45"/>
          </a:solidFill>
          <a:ln/>
        </p:spPr>
      </p:sp>
      <p:sp>
        <p:nvSpPr>
          <p:cNvPr id="14" name="Text 12"/>
          <p:cNvSpPr/>
          <p:nvPr/>
        </p:nvSpPr>
        <p:spPr>
          <a:xfrm>
            <a:off x="6446520" y="3931920"/>
            <a:ext cx="2103120" cy="548640"/>
          </a:xfrm>
          <a:prstGeom prst="rect">
            <a:avLst/>
          </a:prstGeom>
          <a:noFill/>
          <a:ln/>
        </p:spPr>
        <p:txBody>
          <a:bodyPr wrap="square" rtlCol="0" anchor="ctr"/>
          <a:lstStyle/>
          <a:p>
            <a:pPr indent="0" marL="0">
              <a:buNone/>
            </a:pPr>
            <a:r>
              <a:rPr lang="en-US" sz="2200" b="1" dirty="0">
                <a:solidFill>
                  <a:srgbClr val="E0A82E"/>
                </a:solidFill>
                <a:latin typeface="Georgia" pitchFamily="34" charset="0"/>
                <a:ea typeface="Georgia" pitchFamily="34" charset="-122"/>
                <a:cs typeface="Georgia" pitchFamily="34" charset="-120"/>
              </a:rPr>
              <a:t>Controlar</a:t>
            </a:r>
            <a:endParaRPr lang="en-US" sz="2200" dirty="0"/>
          </a:p>
        </p:txBody>
      </p:sp>
      <p:sp>
        <p:nvSpPr>
          <p:cNvPr id="15" name="Text 13"/>
          <p:cNvSpPr/>
          <p:nvPr/>
        </p:nvSpPr>
        <p:spPr>
          <a:xfrm>
            <a:off x="6446520" y="4572000"/>
            <a:ext cx="219456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Estado fiscal de la</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categoría de</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Monotributo</a:t>
            </a:r>
            <a:endParaRPr lang="en-US" sz="1300" dirty="0"/>
          </a:p>
        </p:txBody>
      </p:sp>
      <p:sp>
        <p:nvSpPr>
          <p:cNvPr id="16" name="Shape 14"/>
          <p:cNvSpPr/>
          <p:nvPr/>
        </p:nvSpPr>
        <p:spPr>
          <a:xfrm>
            <a:off x="9006840" y="3703320"/>
            <a:ext cx="2560320" cy="2194560"/>
          </a:xfrm>
          <a:prstGeom prst="roundRect">
            <a:avLst>
              <a:gd name="adj" fmla="val 4167"/>
            </a:avLst>
          </a:prstGeom>
          <a:solidFill>
            <a:srgbClr val="0D2B45"/>
          </a:solidFill>
          <a:ln/>
        </p:spPr>
      </p:sp>
      <p:sp>
        <p:nvSpPr>
          <p:cNvPr id="17" name="Text 15"/>
          <p:cNvSpPr/>
          <p:nvPr/>
        </p:nvSpPr>
        <p:spPr>
          <a:xfrm>
            <a:off x="9235440" y="3931920"/>
            <a:ext cx="2103120" cy="548640"/>
          </a:xfrm>
          <a:prstGeom prst="rect">
            <a:avLst/>
          </a:prstGeom>
          <a:noFill/>
          <a:ln/>
        </p:spPr>
        <p:txBody>
          <a:bodyPr wrap="square" rtlCol="0" anchor="ctr"/>
          <a:lstStyle/>
          <a:p>
            <a:pPr indent="0" marL="0">
              <a:buNone/>
            </a:pPr>
            <a:r>
              <a:rPr lang="en-US" sz="2200" b="1" dirty="0">
                <a:solidFill>
                  <a:srgbClr val="D14D4D"/>
                </a:solidFill>
                <a:latin typeface="Georgia" pitchFamily="34" charset="0"/>
                <a:ea typeface="Georgia" pitchFamily="34" charset="-122"/>
                <a:cs typeface="Georgia" pitchFamily="34" charset="-120"/>
              </a:rPr>
              <a:t>Auditar</a:t>
            </a:r>
            <a:endParaRPr lang="en-US" sz="2200" dirty="0"/>
          </a:p>
        </p:txBody>
      </p:sp>
      <p:sp>
        <p:nvSpPr>
          <p:cNvPr id="18" name="Text 16"/>
          <p:cNvSpPr/>
          <p:nvPr/>
        </p:nvSpPr>
        <p:spPr>
          <a:xfrm>
            <a:off x="9235440" y="4572000"/>
            <a:ext cx="219456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Inconsistencias en</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los registros</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financieros</a:t>
            </a:r>
            <a:endParaRPr lang="en-US" sz="1300" dirty="0"/>
          </a:p>
        </p:txBody>
      </p:sp>
      <p:sp>
        <p:nvSpPr>
          <p:cNvPr id="19" name="Text 17"/>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0"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OBJETIVOS ESPECÍFICOS</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2 · 3:45</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Cuatro objetivos, cuatro cumplidos</a:t>
            </a:r>
            <a:endParaRPr lang="en-US" sz="3200" dirty="0"/>
          </a:p>
        </p:txBody>
      </p:sp>
      <p:sp>
        <p:nvSpPr>
          <p:cNvPr id="5" name="Shape 3"/>
          <p:cNvSpPr/>
          <p:nvPr/>
        </p:nvSpPr>
        <p:spPr>
          <a:xfrm>
            <a:off x="640080" y="1965960"/>
            <a:ext cx="10881360" cy="868680"/>
          </a:xfrm>
          <a:prstGeom prst="roundRect">
            <a:avLst>
              <a:gd name="adj" fmla="val 8421"/>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Shape 4"/>
          <p:cNvSpPr/>
          <p:nvPr/>
        </p:nvSpPr>
        <p:spPr>
          <a:xfrm>
            <a:off x="640080" y="1965960"/>
            <a:ext cx="137160" cy="868680"/>
          </a:xfrm>
          <a:prstGeom prst="roundRect">
            <a:avLst>
              <a:gd name="adj" fmla="val 26667"/>
            </a:avLst>
          </a:prstGeom>
          <a:solidFill>
            <a:srgbClr val="1C7293"/>
          </a:solidFill>
          <a:ln/>
        </p:spPr>
      </p:sp>
      <p:sp>
        <p:nvSpPr>
          <p:cNvPr id="7" name="Text 5"/>
          <p:cNvSpPr/>
          <p:nvPr/>
        </p:nvSpPr>
        <p:spPr>
          <a:xfrm>
            <a:off x="960120" y="2084832"/>
            <a:ext cx="4206240" cy="36576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Módulo de gestión transaccional</a:t>
            </a:r>
            <a:endParaRPr lang="en-US" sz="1550" dirty="0"/>
          </a:p>
        </p:txBody>
      </p:sp>
      <p:sp>
        <p:nvSpPr>
          <p:cNvPr id="8" name="Text 6"/>
          <p:cNvSpPr/>
          <p:nvPr/>
        </p:nvSpPr>
        <p:spPr>
          <a:xfrm>
            <a:off x="960120" y="2450592"/>
            <a:ext cx="694944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Ingresos, gastos y facturas con aislamiento por usuario, más importación masiva CSV y Excel.</a:t>
            </a:r>
            <a:endParaRPr lang="en-US" sz="1250" dirty="0"/>
          </a:p>
        </p:txBody>
      </p:sp>
      <p:sp>
        <p:nvSpPr>
          <p:cNvPr id="9" name="Shape 7"/>
          <p:cNvSpPr/>
          <p:nvPr/>
        </p:nvSpPr>
        <p:spPr>
          <a:xfrm>
            <a:off x="9418320" y="2203704"/>
            <a:ext cx="1828800" cy="438912"/>
          </a:xfrm>
          <a:prstGeom prst="roundRect">
            <a:avLst>
              <a:gd name="adj" fmla="val 20833"/>
            </a:avLst>
          </a:prstGeom>
          <a:solidFill>
            <a:srgbClr val="2E9E5B"/>
          </a:solidFill>
          <a:ln/>
        </p:spPr>
      </p:sp>
      <p:sp>
        <p:nvSpPr>
          <p:cNvPr id="10" name="Text 8"/>
          <p:cNvSpPr/>
          <p:nvPr/>
        </p:nvSpPr>
        <p:spPr>
          <a:xfrm>
            <a:off x="9418320" y="2203704"/>
            <a:ext cx="1828800" cy="43891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Cumplido</a:t>
            </a:r>
            <a:endParaRPr lang="en-US" sz="1250" dirty="0"/>
          </a:p>
        </p:txBody>
      </p:sp>
      <p:sp>
        <p:nvSpPr>
          <p:cNvPr id="11" name="Shape 9"/>
          <p:cNvSpPr/>
          <p:nvPr/>
        </p:nvSpPr>
        <p:spPr>
          <a:xfrm>
            <a:off x="640080" y="2990088"/>
            <a:ext cx="10881360" cy="868680"/>
          </a:xfrm>
          <a:prstGeom prst="roundRect">
            <a:avLst>
              <a:gd name="adj" fmla="val 8421"/>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2" name="Shape 10"/>
          <p:cNvSpPr/>
          <p:nvPr/>
        </p:nvSpPr>
        <p:spPr>
          <a:xfrm>
            <a:off x="640080" y="2990088"/>
            <a:ext cx="137160" cy="868680"/>
          </a:xfrm>
          <a:prstGeom prst="roundRect">
            <a:avLst>
              <a:gd name="adj" fmla="val 26667"/>
            </a:avLst>
          </a:prstGeom>
          <a:solidFill>
            <a:srgbClr val="02C39A"/>
          </a:solidFill>
          <a:ln/>
        </p:spPr>
      </p:sp>
      <p:sp>
        <p:nvSpPr>
          <p:cNvPr id="13" name="Text 11"/>
          <p:cNvSpPr/>
          <p:nvPr/>
        </p:nvSpPr>
        <p:spPr>
          <a:xfrm>
            <a:off x="960120" y="3108960"/>
            <a:ext cx="4206240" cy="36576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Clasificador por PLN</a:t>
            </a:r>
            <a:endParaRPr lang="en-US" sz="1550" dirty="0"/>
          </a:p>
        </p:txBody>
      </p:sp>
      <p:sp>
        <p:nvSpPr>
          <p:cNvPr id="14" name="Text 12"/>
          <p:cNvSpPr/>
          <p:nvPr/>
        </p:nvSpPr>
        <p:spPr>
          <a:xfrm>
            <a:off x="960120" y="3474720"/>
            <a:ext cx="694944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Entrenado localmente, reentrenable con las correcciones del usuario.</a:t>
            </a:r>
            <a:endParaRPr lang="en-US" sz="1250" dirty="0"/>
          </a:p>
        </p:txBody>
      </p:sp>
      <p:sp>
        <p:nvSpPr>
          <p:cNvPr id="15" name="Shape 13"/>
          <p:cNvSpPr/>
          <p:nvPr/>
        </p:nvSpPr>
        <p:spPr>
          <a:xfrm>
            <a:off x="9418320" y="3227832"/>
            <a:ext cx="1828800" cy="438912"/>
          </a:xfrm>
          <a:prstGeom prst="roundRect">
            <a:avLst>
              <a:gd name="adj" fmla="val 20833"/>
            </a:avLst>
          </a:prstGeom>
          <a:solidFill>
            <a:srgbClr val="02C39A"/>
          </a:solidFill>
          <a:ln/>
        </p:spPr>
      </p:sp>
      <p:sp>
        <p:nvSpPr>
          <p:cNvPr id="16" name="Text 14"/>
          <p:cNvSpPr/>
          <p:nvPr/>
        </p:nvSpPr>
        <p:spPr>
          <a:xfrm>
            <a:off x="9418320" y="3227832"/>
            <a:ext cx="1828800" cy="438912"/>
          </a:xfrm>
          <a:prstGeom prst="rect">
            <a:avLst/>
          </a:prstGeom>
          <a:noFill/>
          <a:ln/>
        </p:spPr>
        <p:txBody>
          <a:bodyPr wrap="square" rtlCol="0" anchor="ctr"/>
          <a:lstStyle/>
          <a:p>
            <a:pPr algn="ctr" indent="0" marL="0">
              <a:buNone/>
            </a:pPr>
            <a:r>
              <a:rPr lang="en-US" sz="1250" b="1" dirty="0">
                <a:solidFill>
                  <a:srgbClr val="0D2B45"/>
                </a:solidFill>
                <a:latin typeface="Calibri" pitchFamily="34" charset="0"/>
                <a:ea typeface="Calibri" pitchFamily="34" charset="-122"/>
                <a:cs typeface="Calibri" pitchFamily="34" charset="-120"/>
              </a:rPr>
              <a:t>76 % · meta 70 %</a:t>
            </a:r>
            <a:endParaRPr lang="en-US" sz="1250" dirty="0"/>
          </a:p>
        </p:txBody>
      </p:sp>
      <p:sp>
        <p:nvSpPr>
          <p:cNvPr id="17" name="Shape 15"/>
          <p:cNvSpPr/>
          <p:nvPr/>
        </p:nvSpPr>
        <p:spPr>
          <a:xfrm>
            <a:off x="640080" y="4014216"/>
            <a:ext cx="10881360" cy="868680"/>
          </a:xfrm>
          <a:prstGeom prst="roundRect">
            <a:avLst>
              <a:gd name="adj" fmla="val 8421"/>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8" name="Shape 16"/>
          <p:cNvSpPr/>
          <p:nvPr/>
        </p:nvSpPr>
        <p:spPr>
          <a:xfrm>
            <a:off x="640080" y="4014216"/>
            <a:ext cx="137160" cy="868680"/>
          </a:xfrm>
          <a:prstGeom prst="roundRect">
            <a:avLst>
              <a:gd name="adj" fmla="val 26667"/>
            </a:avLst>
          </a:prstGeom>
          <a:solidFill>
            <a:srgbClr val="1C7293"/>
          </a:solidFill>
          <a:ln/>
        </p:spPr>
      </p:sp>
      <p:sp>
        <p:nvSpPr>
          <p:cNvPr id="19" name="Text 17"/>
          <p:cNvSpPr/>
          <p:nvPr/>
        </p:nvSpPr>
        <p:spPr>
          <a:xfrm>
            <a:off x="960120" y="4133088"/>
            <a:ext cx="4206240" cy="36576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Módulo fiscal y de auditoría</a:t>
            </a:r>
            <a:endParaRPr lang="en-US" sz="1550" dirty="0"/>
          </a:p>
        </p:txBody>
      </p:sp>
      <p:sp>
        <p:nvSpPr>
          <p:cNvPr id="20" name="Text 18"/>
          <p:cNvSpPr/>
          <p:nvPr/>
        </p:nvSpPr>
        <p:spPr>
          <a:xfrm>
            <a:off x="960120" y="4498848"/>
            <a:ext cx="694944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Utilización del límite anual, duplicados y anomalías estadísticas.</a:t>
            </a:r>
            <a:endParaRPr lang="en-US" sz="1250" dirty="0"/>
          </a:p>
        </p:txBody>
      </p:sp>
      <p:sp>
        <p:nvSpPr>
          <p:cNvPr id="21" name="Shape 19"/>
          <p:cNvSpPr/>
          <p:nvPr/>
        </p:nvSpPr>
        <p:spPr>
          <a:xfrm>
            <a:off x="9418320" y="4251960"/>
            <a:ext cx="1828800" cy="438912"/>
          </a:xfrm>
          <a:prstGeom prst="roundRect">
            <a:avLst>
              <a:gd name="adj" fmla="val 20833"/>
            </a:avLst>
          </a:prstGeom>
          <a:solidFill>
            <a:srgbClr val="2E9E5B"/>
          </a:solidFill>
          <a:ln/>
        </p:spPr>
      </p:sp>
      <p:sp>
        <p:nvSpPr>
          <p:cNvPr id="22" name="Text 20"/>
          <p:cNvSpPr/>
          <p:nvPr/>
        </p:nvSpPr>
        <p:spPr>
          <a:xfrm>
            <a:off x="9418320" y="4251960"/>
            <a:ext cx="1828800" cy="43891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Cumplido</a:t>
            </a:r>
            <a:endParaRPr lang="en-US" sz="1250" dirty="0"/>
          </a:p>
        </p:txBody>
      </p:sp>
      <p:sp>
        <p:nvSpPr>
          <p:cNvPr id="23" name="Shape 21"/>
          <p:cNvSpPr/>
          <p:nvPr/>
        </p:nvSpPr>
        <p:spPr>
          <a:xfrm>
            <a:off x="640080" y="5038344"/>
            <a:ext cx="10881360" cy="868680"/>
          </a:xfrm>
          <a:prstGeom prst="roundRect">
            <a:avLst>
              <a:gd name="adj" fmla="val 8421"/>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4" name="Shape 22"/>
          <p:cNvSpPr/>
          <p:nvPr/>
        </p:nvSpPr>
        <p:spPr>
          <a:xfrm>
            <a:off x="640080" y="5038344"/>
            <a:ext cx="137160" cy="868680"/>
          </a:xfrm>
          <a:prstGeom prst="roundRect">
            <a:avLst>
              <a:gd name="adj" fmla="val 26667"/>
            </a:avLst>
          </a:prstGeom>
          <a:solidFill>
            <a:srgbClr val="1C7293"/>
          </a:solidFill>
          <a:ln/>
        </p:spPr>
      </p:sp>
      <p:sp>
        <p:nvSpPr>
          <p:cNvPr id="25" name="Text 23"/>
          <p:cNvSpPr/>
          <p:nvPr/>
        </p:nvSpPr>
        <p:spPr>
          <a:xfrm>
            <a:off x="960120" y="5157216"/>
            <a:ext cx="4206240" cy="36576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Pipeline predictivo y reportería</a:t>
            </a:r>
            <a:endParaRPr lang="en-US" sz="1550" dirty="0"/>
          </a:p>
        </p:txBody>
      </p:sp>
      <p:sp>
        <p:nvSpPr>
          <p:cNvPr id="26" name="Text 24"/>
          <p:cNvSpPr/>
          <p:nvPr/>
        </p:nvSpPr>
        <p:spPr>
          <a:xfrm>
            <a:off x="960120" y="5522976"/>
            <a:ext cx="694944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Proyección a 6 meses con intervalos de confianza y reporte PDF descargable.</a:t>
            </a:r>
            <a:endParaRPr lang="en-US" sz="1250" dirty="0"/>
          </a:p>
        </p:txBody>
      </p:sp>
      <p:sp>
        <p:nvSpPr>
          <p:cNvPr id="27" name="Shape 25"/>
          <p:cNvSpPr/>
          <p:nvPr/>
        </p:nvSpPr>
        <p:spPr>
          <a:xfrm>
            <a:off x="9418320" y="5276088"/>
            <a:ext cx="1828800" cy="438912"/>
          </a:xfrm>
          <a:prstGeom prst="roundRect">
            <a:avLst>
              <a:gd name="adj" fmla="val 20833"/>
            </a:avLst>
          </a:prstGeom>
          <a:solidFill>
            <a:srgbClr val="2E9E5B"/>
          </a:solidFill>
          <a:ln/>
        </p:spPr>
      </p:sp>
      <p:sp>
        <p:nvSpPr>
          <p:cNvPr id="28" name="Text 26"/>
          <p:cNvSpPr/>
          <p:nvPr/>
        </p:nvSpPr>
        <p:spPr>
          <a:xfrm>
            <a:off x="9418320" y="5276088"/>
            <a:ext cx="1828800" cy="43891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Cumplido</a:t>
            </a:r>
            <a:endParaRPr lang="en-US" sz="1250" dirty="0"/>
          </a:p>
        </p:txBody>
      </p:sp>
      <p:sp>
        <p:nvSpPr>
          <p:cNvPr id="29" name="Text 27"/>
          <p:cNvSpPr/>
          <p:nvPr/>
        </p:nvSpPr>
        <p:spPr>
          <a:xfrm>
            <a:off x="640080" y="6035040"/>
            <a:ext cx="10881360" cy="365760"/>
          </a:xfrm>
          <a:prstGeom prst="rect">
            <a:avLst/>
          </a:prstGeom>
          <a:noFill/>
          <a:ln/>
        </p:spPr>
        <p:txBody>
          <a:bodyPr wrap="square" rtlCol="0" anchor="ctr"/>
          <a:lstStyle/>
          <a:p>
            <a:pPr algn="ctr" indent="0" marL="0">
              <a:buNone/>
            </a:pPr>
            <a:r>
              <a:rPr lang="en-US" sz="1200" i="1" dirty="0">
                <a:solidFill>
                  <a:srgbClr val="8FA3B5"/>
                </a:solidFill>
                <a:latin typeface="Calibri" pitchFamily="34" charset="0"/>
                <a:ea typeface="Calibri" pitchFamily="34" charset="-122"/>
                <a:cs typeface="Calibri" pitchFamily="34" charset="-120"/>
              </a:rPr>
              <a:t>El único objetivo con meta numérica era el del clasificador. Se midió por validación cruzada de 5 particiones.</a:t>
            </a:r>
            <a:endParaRPr lang="en-US" sz="1200" dirty="0"/>
          </a:p>
        </p:txBody>
      </p:sp>
      <p:sp>
        <p:nvSpPr>
          <p:cNvPr id="30" name="Text 28"/>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1" name="Text 29"/>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E0A82E"/>
                </a:solidFill>
                <a:latin typeface="Calibri" pitchFamily="34" charset="0"/>
                <a:ea typeface="Calibri" pitchFamily="34" charset="-122"/>
                <a:cs typeface="Calibri" pitchFamily="34" charset="-120"/>
              </a:rPr>
              <a:t>ALCANCE Y RESPONSABILIDAD</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2 · 4:30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Lo que el sistema hace — y lo que no</a:t>
            </a:r>
            <a:endParaRPr lang="en-US" sz="3300" dirty="0"/>
          </a:p>
        </p:txBody>
      </p:sp>
      <p:sp>
        <p:nvSpPr>
          <p:cNvPr id="5" name="Shape 3"/>
          <p:cNvSpPr/>
          <p:nvPr/>
        </p:nvSpPr>
        <p:spPr>
          <a:xfrm>
            <a:off x="640080" y="1828800"/>
            <a:ext cx="5349240" cy="3200400"/>
          </a:xfrm>
          <a:prstGeom prst="roundRect">
            <a:avLst>
              <a:gd name="adj" fmla="val 2857"/>
            </a:avLst>
          </a:prstGeom>
          <a:solidFill>
            <a:srgbClr val="14395E"/>
          </a:solidFill>
          <a:ln w="25400">
            <a:solidFill>
              <a:srgbClr val="02C39A"/>
            </a:solidFill>
            <a:prstDash val="solid"/>
          </a:ln>
        </p:spPr>
      </p:sp>
      <p:sp>
        <p:nvSpPr>
          <p:cNvPr id="6" name="Text 4"/>
          <p:cNvSpPr/>
          <p:nvPr/>
        </p:nvSpPr>
        <p:spPr>
          <a:xfrm>
            <a:off x="914400" y="2011680"/>
            <a:ext cx="4754880" cy="457200"/>
          </a:xfrm>
          <a:prstGeom prst="rect">
            <a:avLst/>
          </a:prstGeom>
          <a:noFill/>
          <a:ln/>
        </p:spPr>
        <p:txBody>
          <a:bodyPr wrap="square" rtlCol="0" anchor="ctr"/>
          <a:lstStyle/>
          <a:p>
            <a:pPr indent="0" marL="0">
              <a:buNone/>
            </a:pPr>
            <a:r>
              <a:rPr lang="en-US" sz="2400" b="1" dirty="0">
                <a:solidFill>
                  <a:srgbClr val="02C39A"/>
                </a:solidFill>
                <a:latin typeface="Georgia" pitchFamily="34" charset="0"/>
                <a:ea typeface="Georgia" pitchFamily="34" charset="-122"/>
                <a:cs typeface="Georgia" pitchFamily="34" charset="-120"/>
              </a:rPr>
              <a:t>HACE</a:t>
            </a:r>
            <a:endParaRPr lang="en-US" sz="2400" dirty="0"/>
          </a:p>
        </p:txBody>
      </p:sp>
      <p:sp>
        <p:nvSpPr>
          <p:cNvPr id="7" name="Text 5"/>
          <p:cNvSpPr/>
          <p:nvPr/>
        </p:nvSpPr>
        <p:spPr>
          <a:xfrm>
            <a:off x="914400" y="2606040"/>
            <a:ext cx="164592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Informa</a:t>
            </a:r>
            <a:endParaRPr lang="en-US" sz="1700" dirty="0"/>
          </a:p>
        </p:txBody>
      </p:sp>
      <p:sp>
        <p:nvSpPr>
          <p:cNvPr id="8" name="Text 6"/>
          <p:cNvSpPr/>
          <p:nvPr/>
        </p:nvSpPr>
        <p:spPr>
          <a:xfrm>
            <a:off x="2423160" y="2633472"/>
            <a:ext cx="32918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Consolida y muestra lo que el usuario cargó</a:t>
            </a:r>
            <a:endParaRPr lang="en-US" sz="1250" dirty="0"/>
          </a:p>
        </p:txBody>
      </p:sp>
      <p:sp>
        <p:nvSpPr>
          <p:cNvPr id="9" name="Text 7"/>
          <p:cNvSpPr/>
          <p:nvPr/>
        </p:nvSpPr>
        <p:spPr>
          <a:xfrm>
            <a:off x="914400" y="3383280"/>
            <a:ext cx="164592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Proyecta</a:t>
            </a:r>
            <a:endParaRPr lang="en-US" sz="1700" dirty="0"/>
          </a:p>
        </p:txBody>
      </p:sp>
      <p:sp>
        <p:nvSpPr>
          <p:cNvPr id="10" name="Text 8"/>
          <p:cNvSpPr/>
          <p:nvPr/>
        </p:nvSpPr>
        <p:spPr>
          <a:xfrm>
            <a:off x="2423160" y="3410712"/>
            <a:ext cx="32918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Estima escenarios futuros con su intervalo</a:t>
            </a:r>
            <a:endParaRPr lang="en-US" sz="1250" dirty="0"/>
          </a:p>
        </p:txBody>
      </p:sp>
      <p:sp>
        <p:nvSpPr>
          <p:cNvPr id="11" name="Text 9"/>
          <p:cNvSpPr/>
          <p:nvPr/>
        </p:nvSpPr>
        <p:spPr>
          <a:xfrm>
            <a:off x="914400" y="4160520"/>
            <a:ext cx="164592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Alerta</a:t>
            </a:r>
            <a:endParaRPr lang="en-US" sz="1700" dirty="0"/>
          </a:p>
        </p:txBody>
      </p:sp>
      <p:sp>
        <p:nvSpPr>
          <p:cNvPr id="12" name="Text 10"/>
          <p:cNvSpPr/>
          <p:nvPr/>
        </p:nvSpPr>
        <p:spPr>
          <a:xfrm>
            <a:off x="2423160" y="4187952"/>
            <a:ext cx="32918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Señala desvíos y riesgos para su revisión</a:t>
            </a:r>
            <a:endParaRPr lang="en-US" sz="1250" dirty="0"/>
          </a:p>
        </p:txBody>
      </p:sp>
      <p:sp>
        <p:nvSpPr>
          <p:cNvPr id="13" name="Shape 11"/>
          <p:cNvSpPr/>
          <p:nvPr/>
        </p:nvSpPr>
        <p:spPr>
          <a:xfrm>
            <a:off x="6172200" y="1828800"/>
            <a:ext cx="5349240" cy="3200400"/>
          </a:xfrm>
          <a:prstGeom prst="roundRect">
            <a:avLst>
              <a:gd name="adj" fmla="val 2857"/>
            </a:avLst>
          </a:prstGeom>
          <a:solidFill>
            <a:srgbClr val="14395E"/>
          </a:solidFill>
          <a:ln w="25400">
            <a:solidFill>
              <a:srgbClr val="D14D4D"/>
            </a:solidFill>
            <a:prstDash val="solid"/>
          </a:ln>
        </p:spPr>
      </p:sp>
      <p:sp>
        <p:nvSpPr>
          <p:cNvPr id="14" name="Text 12"/>
          <p:cNvSpPr/>
          <p:nvPr/>
        </p:nvSpPr>
        <p:spPr>
          <a:xfrm>
            <a:off x="6446520" y="2011680"/>
            <a:ext cx="4754880" cy="457200"/>
          </a:xfrm>
          <a:prstGeom prst="rect">
            <a:avLst/>
          </a:prstGeom>
          <a:noFill/>
          <a:ln/>
        </p:spPr>
        <p:txBody>
          <a:bodyPr wrap="square" rtlCol="0" anchor="ctr"/>
          <a:lstStyle/>
          <a:p>
            <a:pPr indent="0" marL="0">
              <a:buNone/>
            </a:pPr>
            <a:r>
              <a:rPr lang="en-US" sz="2400" b="1" dirty="0">
                <a:solidFill>
                  <a:srgbClr val="D14D4D"/>
                </a:solidFill>
                <a:latin typeface="Georgia" pitchFamily="34" charset="0"/>
                <a:ea typeface="Georgia" pitchFamily="34" charset="-122"/>
                <a:cs typeface="Georgia" pitchFamily="34" charset="-120"/>
              </a:rPr>
              <a:t>NO HACE</a:t>
            </a:r>
            <a:endParaRPr lang="en-US" sz="2400" dirty="0"/>
          </a:p>
        </p:txBody>
      </p:sp>
      <p:sp>
        <p:nvSpPr>
          <p:cNvPr id="15" name="Text 13"/>
          <p:cNvSpPr/>
          <p:nvPr/>
        </p:nvSpPr>
        <p:spPr>
          <a:xfrm>
            <a:off x="6446520" y="2606040"/>
            <a:ext cx="192024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 asesora</a:t>
            </a:r>
            <a:endParaRPr lang="en-US" sz="1700" dirty="0"/>
          </a:p>
        </p:txBody>
      </p:sp>
      <p:sp>
        <p:nvSpPr>
          <p:cNvPr id="16" name="Text 14"/>
          <p:cNvSpPr/>
          <p:nvPr/>
        </p:nvSpPr>
        <p:spPr>
          <a:xfrm>
            <a:off x="8229600" y="2633472"/>
            <a:ext cx="30632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 dice qué decisión tomar</a:t>
            </a:r>
            <a:endParaRPr lang="en-US" sz="1250" dirty="0"/>
          </a:p>
        </p:txBody>
      </p:sp>
      <p:sp>
        <p:nvSpPr>
          <p:cNvPr id="17" name="Text 15"/>
          <p:cNvSpPr/>
          <p:nvPr/>
        </p:nvSpPr>
        <p:spPr>
          <a:xfrm>
            <a:off x="6446520" y="3383280"/>
            <a:ext cx="192024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 dictamina</a:t>
            </a:r>
            <a:endParaRPr lang="en-US" sz="1700" dirty="0"/>
          </a:p>
        </p:txBody>
      </p:sp>
      <p:sp>
        <p:nvSpPr>
          <p:cNvPr id="18" name="Text 16"/>
          <p:cNvSpPr/>
          <p:nvPr/>
        </p:nvSpPr>
        <p:spPr>
          <a:xfrm>
            <a:off x="8229600" y="3410712"/>
            <a:ext cx="30632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Señala un posible error, no lo determina</a:t>
            </a:r>
            <a:endParaRPr lang="en-US" sz="1250" dirty="0"/>
          </a:p>
        </p:txBody>
      </p:sp>
      <p:sp>
        <p:nvSpPr>
          <p:cNvPr id="19" name="Text 17"/>
          <p:cNvSpPr/>
          <p:nvPr/>
        </p:nvSpPr>
        <p:spPr>
          <a:xfrm>
            <a:off x="6446520" y="4160520"/>
            <a:ext cx="192024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 garantiza</a:t>
            </a:r>
            <a:endParaRPr lang="en-US" sz="1700" dirty="0"/>
          </a:p>
        </p:txBody>
      </p:sp>
      <p:sp>
        <p:nvSpPr>
          <p:cNvPr id="20" name="Text 18"/>
          <p:cNvSpPr/>
          <p:nvPr/>
        </p:nvSpPr>
        <p:spPr>
          <a:xfrm>
            <a:off x="8229600" y="4187952"/>
            <a:ext cx="30632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Una proyección no es una certeza</a:t>
            </a:r>
            <a:endParaRPr lang="en-US" sz="1250" dirty="0"/>
          </a:p>
        </p:txBody>
      </p:sp>
      <p:sp>
        <p:nvSpPr>
          <p:cNvPr id="21" name="Shape 19"/>
          <p:cNvSpPr/>
          <p:nvPr/>
        </p:nvSpPr>
        <p:spPr>
          <a:xfrm>
            <a:off x="640080" y="5257800"/>
            <a:ext cx="10881360" cy="960120"/>
          </a:xfrm>
          <a:prstGeom prst="roundRect">
            <a:avLst>
              <a:gd name="adj" fmla="val 9524"/>
            </a:avLst>
          </a:prstGeom>
          <a:solidFill>
            <a:srgbClr val="E0A82E"/>
          </a:solidFill>
          <a:ln/>
        </p:spPr>
      </p:sp>
      <p:sp>
        <p:nvSpPr>
          <p:cNvPr id="22" name="Text 20"/>
          <p:cNvSpPr/>
          <p:nvPr/>
        </p:nvSpPr>
        <p:spPr>
          <a:xfrm>
            <a:off x="914400" y="5257800"/>
            <a:ext cx="10332720" cy="960120"/>
          </a:xfrm>
          <a:prstGeom prst="rect">
            <a:avLst/>
          </a:prstGeom>
          <a:noFill/>
          <a:ln/>
        </p:spPr>
        <p:txBody>
          <a:bodyPr wrap="square" rtlCol="0" anchor="ctr"/>
          <a:lstStyle/>
          <a:p>
            <a:pPr indent="0" marL="0">
              <a:buNone/>
            </a:pPr>
            <a:r>
              <a:rPr lang="en-US" sz="1700" b="1" dirty="0">
                <a:solidFill>
                  <a:srgbClr val="0D2B45"/>
                </a:solidFill>
                <a:latin typeface="Georgia" pitchFamily="34" charset="0"/>
                <a:ea typeface="Georgia" pitchFamily="34" charset="-122"/>
                <a:cs typeface="Georgia" pitchFamily="34" charset="-120"/>
              </a:rPr>
              <a:t>No constituye asesoramiento contable, fiscal ni financiero, y no reemplaza la intervención de un profesional matriculado.</a:t>
            </a:r>
            <a:endParaRPr lang="en-US" sz="1700" dirty="0"/>
          </a:p>
        </p:txBody>
      </p:sp>
      <p:sp>
        <p:nvSpPr>
          <p:cNvPr id="23" name="Text 2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4" name="Text 2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ALCANCE IMPLEMENTADO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2 · 5:00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No es una nota al pie: está en el producto</a:t>
            </a:r>
            <a:endParaRPr lang="en-US" sz="3200" dirty="0"/>
          </a:p>
        </p:txBody>
      </p:sp>
      <p:sp>
        <p:nvSpPr>
          <p:cNvPr id="5" name="Shape 3"/>
          <p:cNvSpPr/>
          <p:nvPr/>
        </p:nvSpPr>
        <p:spPr>
          <a:xfrm>
            <a:off x="640080" y="201168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Shape 4"/>
          <p:cNvSpPr/>
          <p:nvPr/>
        </p:nvSpPr>
        <p:spPr>
          <a:xfrm>
            <a:off x="640080" y="2011680"/>
            <a:ext cx="137160" cy="1005840"/>
          </a:xfrm>
          <a:prstGeom prst="roundRect">
            <a:avLst>
              <a:gd name="adj" fmla="val 26667"/>
            </a:avLst>
          </a:prstGeom>
          <a:solidFill>
            <a:srgbClr val="1C7293"/>
          </a:solidFill>
          <a:ln/>
        </p:spPr>
      </p:sp>
      <p:sp>
        <p:nvSpPr>
          <p:cNvPr id="7" name="Text 5"/>
          <p:cNvSpPr/>
          <p:nvPr/>
        </p:nvSpPr>
        <p:spPr>
          <a:xfrm>
            <a:off x="1005840" y="2121408"/>
            <a:ext cx="4663440" cy="384048"/>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Monotributo</a:t>
            </a:r>
            <a:endParaRPr lang="en-US" sz="1550" dirty="0"/>
          </a:p>
        </p:txBody>
      </p:sp>
      <p:sp>
        <p:nvSpPr>
          <p:cNvPr id="8" name="Text 6"/>
          <p:cNvSpPr/>
          <p:nvPr/>
        </p:nvSpPr>
        <p:spPr>
          <a:xfrm>
            <a:off x="1005840" y="251460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La categorización definitiva la determina ARCA</a:t>
            </a:r>
            <a:endParaRPr lang="en-US" sz="1200" dirty="0"/>
          </a:p>
        </p:txBody>
      </p:sp>
      <p:sp>
        <p:nvSpPr>
          <p:cNvPr id="9" name="Shape 7"/>
          <p:cNvSpPr/>
          <p:nvPr/>
        </p:nvSpPr>
        <p:spPr>
          <a:xfrm>
            <a:off x="6217920" y="201168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0" name="Shape 8"/>
          <p:cNvSpPr/>
          <p:nvPr/>
        </p:nvSpPr>
        <p:spPr>
          <a:xfrm>
            <a:off x="6217920" y="2011680"/>
            <a:ext cx="137160" cy="1005840"/>
          </a:xfrm>
          <a:prstGeom prst="roundRect">
            <a:avLst>
              <a:gd name="adj" fmla="val 26667"/>
            </a:avLst>
          </a:prstGeom>
          <a:solidFill>
            <a:srgbClr val="1C7293"/>
          </a:solidFill>
          <a:ln/>
        </p:spPr>
      </p:sp>
      <p:sp>
        <p:nvSpPr>
          <p:cNvPr id="11" name="Text 9"/>
          <p:cNvSpPr/>
          <p:nvPr/>
        </p:nvSpPr>
        <p:spPr>
          <a:xfrm>
            <a:off x="6583680" y="2121408"/>
            <a:ext cx="4663440" cy="384048"/>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Proyecciones</a:t>
            </a:r>
            <a:endParaRPr lang="en-US" sz="1550" dirty="0"/>
          </a:p>
        </p:txBody>
      </p:sp>
      <p:sp>
        <p:nvSpPr>
          <p:cNvPr id="12" name="Text 10"/>
          <p:cNvSpPr/>
          <p:nvPr/>
        </p:nvSpPr>
        <p:spPr>
          <a:xfrm>
            <a:off x="6583680" y="251460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Son estimaciones estadísticas, no una garantía de ingresos</a:t>
            </a:r>
            <a:endParaRPr lang="en-US" sz="1200" dirty="0"/>
          </a:p>
        </p:txBody>
      </p:sp>
      <p:sp>
        <p:nvSpPr>
          <p:cNvPr id="13" name="Shape 11"/>
          <p:cNvSpPr/>
          <p:nvPr/>
        </p:nvSpPr>
        <p:spPr>
          <a:xfrm>
            <a:off x="640080" y="324612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4" name="Shape 12"/>
          <p:cNvSpPr/>
          <p:nvPr/>
        </p:nvSpPr>
        <p:spPr>
          <a:xfrm>
            <a:off x="640080" y="3246120"/>
            <a:ext cx="137160" cy="1005840"/>
          </a:xfrm>
          <a:prstGeom prst="roundRect">
            <a:avLst>
              <a:gd name="adj" fmla="val 26667"/>
            </a:avLst>
          </a:prstGeom>
          <a:solidFill>
            <a:srgbClr val="1C7293"/>
          </a:solidFill>
          <a:ln/>
        </p:spPr>
      </p:sp>
      <p:sp>
        <p:nvSpPr>
          <p:cNvPr id="15" name="Text 13"/>
          <p:cNvSpPr/>
          <p:nvPr/>
        </p:nvSpPr>
        <p:spPr>
          <a:xfrm>
            <a:off x="1005840" y="3355848"/>
            <a:ext cx="4663440" cy="384048"/>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Recomendaciones</a:t>
            </a:r>
            <a:endParaRPr lang="en-US" sz="1550" dirty="0"/>
          </a:p>
        </p:txBody>
      </p:sp>
      <p:sp>
        <p:nvSpPr>
          <p:cNvPr id="16" name="Text 14"/>
          <p:cNvSpPr/>
          <p:nvPr/>
        </p:nvSpPr>
        <p:spPr>
          <a:xfrm>
            <a:off x="1005840" y="374904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Reglas sobre sus propios datos, de carácter orientativo</a:t>
            </a:r>
            <a:endParaRPr lang="en-US" sz="1200" dirty="0"/>
          </a:p>
        </p:txBody>
      </p:sp>
      <p:sp>
        <p:nvSpPr>
          <p:cNvPr id="17" name="Shape 15"/>
          <p:cNvSpPr/>
          <p:nvPr/>
        </p:nvSpPr>
        <p:spPr>
          <a:xfrm>
            <a:off x="6217920" y="324612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8" name="Shape 16"/>
          <p:cNvSpPr/>
          <p:nvPr/>
        </p:nvSpPr>
        <p:spPr>
          <a:xfrm>
            <a:off x="6217920" y="3246120"/>
            <a:ext cx="137160" cy="1005840"/>
          </a:xfrm>
          <a:prstGeom prst="roundRect">
            <a:avLst>
              <a:gd name="adj" fmla="val 26667"/>
            </a:avLst>
          </a:prstGeom>
          <a:solidFill>
            <a:srgbClr val="1C7293"/>
          </a:solidFill>
          <a:ln/>
        </p:spPr>
      </p:sp>
      <p:sp>
        <p:nvSpPr>
          <p:cNvPr id="19" name="Text 17"/>
          <p:cNvSpPr/>
          <p:nvPr/>
        </p:nvSpPr>
        <p:spPr>
          <a:xfrm>
            <a:off x="6583680" y="3355848"/>
            <a:ext cx="4663440" cy="384048"/>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Resumen IA</a:t>
            </a:r>
            <a:endParaRPr lang="en-US" sz="1550" dirty="0"/>
          </a:p>
        </p:txBody>
      </p:sp>
      <p:sp>
        <p:nvSpPr>
          <p:cNvPr id="20" name="Text 18"/>
          <p:cNvSpPr/>
          <p:nvPr/>
        </p:nvSpPr>
        <p:spPr>
          <a:xfrm>
            <a:off x="6583680" y="374904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Redactado por un modelo de lenguaje: verificar las cifras</a:t>
            </a:r>
            <a:endParaRPr lang="en-US" sz="1200" dirty="0"/>
          </a:p>
        </p:txBody>
      </p:sp>
      <p:sp>
        <p:nvSpPr>
          <p:cNvPr id="21" name="Shape 19"/>
          <p:cNvSpPr/>
          <p:nvPr/>
        </p:nvSpPr>
        <p:spPr>
          <a:xfrm>
            <a:off x="640080" y="448056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2" name="Shape 20"/>
          <p:cNvSpPr/>
          <p:nvPr/>
        </p:nvSpPr>
        <p:spPr>
          <a:xfrm>
            <a:off x="640080" y="4480560"/>
            <a:ext cx="137160" cy="1005840"/>
          </a:xfrm>
          <a:prstGeom prst="roundRect">
            <a:avLst>
              <a:gd name="adj" fmla="val 26667"/>
            </a:avLst>
          </a:prstGeom>
          <a:solidFill>
            <a:srgbClr val="1C7293"/>
          </a:solidFill>
          <a:ln/>
        </p:spPr>
      </p:sp>
      <p:sp>
        <p:nvSpPr>
          <p:cNvPr id="23" name="Text 21"/>
          <p:cNvSpPr/>
          <p:nvPr/>
        </p:nvSpPr>
        <p:spPr>
          <a:xfrm>
            <a:off x="1005840" y="4590288"/>
            <a:ext cx="4663440" cy="384048"/>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Auditoría</a:t>
            </a:r>
            <a:endParaRPr lang="en-US" sz="1550" dirty="0"/>
          </a:p>
        </p:txBody>
      </p:sp>
      <p:sp>
        <p:nvSpPr>
          <p:cNvPr id="24" name="Text 22"/>
          <p:cNvSpPr/>
          <p:nvPr/>
        </p:nvSpPr>
        <p:spPr>
          <a:xfrm>
            <a:off x="1005840" y="498348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Señala posibles inconsistencias, no dictamina un error</a:t>
            </a:r>
            <a:endParaRPr lang="en-US" sz="1200" dirty="0"/>
          </a:p>
        </p:txBody>
      </p:sp>
      <p:sp>
        <p:nvSpPr>
          <p:cNvPr id="25" name="Shape 23"/>
          <p:cNvSpPr/>
          <p:nvPr/>
        </p:nvSpPr>
        <p:spPr>
          <a:xfrm>
            <a:off x="6217920" y="4480560"/>
            <a:ext cx="5257800" cy="1005840"/>
          </a:xfrm>
          <a:prstGeom prst="roundRect">
            <a:avLst>
              <a:gd name="adj" fmla="val 7273"/>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6" name="Shape 24"/>
          <p:cNvSpPr/>
          <p:nvPr/>
        </p:nvSpPr>
        <p:spPr>
          <a:xfrm>
            <a:off x="6217920" y="4480560"/>
            <a:ext cx="137160" cy="1005840"/>
          </a:xfrm>
          <a:prstGeom prst="roundRect">
            <a:avLst>
              <a:gd name="adj" fmla="val 26667"/>
            </a:avLst>
          </a:prstGeom>
          <a:solidFill>
            <a:srgbClr val="E0A82E"/>
          </a:solidFill>
          <a:ln/>
        </p:spPr>
      </p:sp>
      <p:sp>
        <p:nvSpPr>
          <p:cNvPr id="27" name="Text 25"/>
          <p:cNvSpPr/>
          <p:nvPr/>
        </p:nvSpPr>
        <p:spPr>
          <a:xfrm>
            <a:off x="6583680" y="4590288"/>
            <a:ext cx="4663440" cy="384048"/>
          </a:xfrm>
          <a:prstGeom prst="rect">
            <a:avLst/>
          </a:prstGeom>
          <a:noFill/>
          <a:ln/>
        </p:spPr>
        <p:txBody>
          <a:bodyPr wrap="square" rtlCol="0" anchor="ctr"/>
          <a:lstStyle/>
          <a:p>
            <a:pPr indent="0" marL="0">
              <a:buNone/>
            </a:pPr>
            <a:r>
              <a:rPr lang="en-US" sz="1550" b="1" dirty="0">
                <a:solidFill>
                  <a:srgbClr val="8A6410"/>
                </a:solidFill>
                <a:latin typeface="Georgia" pitchFamily="34" charset="0"/>
                <a:ea typeface="Georgia" pitchFamily="34" charset="-122"/>
                <a:cs typeface="Georgia" pitchFamily="34" charset="-120"/>
              </a:rPr>
              <a:t>Reporte PDF</a:t>
            </a:r>
            <a:endParaRPr lang="en-US" sz="1550" dirty="0"/>
          </a:p>
        </p:txBody>
      </p:sp>
      <p:sp>
        <p:nvSpPr>
          <p:cNvPr id="28" name="Text 26"/>
          <p:cNvSpPr/>
          <p:nvPr/>
        </p:nvSpPr>
        <p:spPr>
          <a:xfrm>
            <a:off x="6583680" y="4983480"/>
            <a:ext cx="4663440" cy="41148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Además: verificar contra la documentación respaldatoria</a:t>
            </a:r>
            <a:endParaRPr lang="en-US" sz="1200" dirty="0"/>
          </a:p>
        </p:txBody>
      </p:sp>
      <p:sp>
        <p:nvSpPr>
          <p:cNvPr id="29" name="Shape 27"/>
          <p:cNvSpPr/>
          <p:nvPr/>
        </p:nvSpPr>
        <p:spPr>
          <a:xfrm>
            <a:off x="640080" y="5687568"/>
            <a:ext cx="10881360" cy="658368"/>
          </a:xfrm>
          <a:prstGeom prst="roundRect">
            <a:avLst>
              <a:gd name="adj" fmla="val 13889"/>
            </a:avLst>
          </a:prstGeom>
          <a:solidFill>
            <a:srgbClr val="0D2B45"/>
          </a:solidFill>
          <a:ln/>
        </p:spPr>
      </p:sp>
      <p:sp>
        <p:nvSpPr>
          <p:cNvPr id="30" name="Text 28"/>
          <p:cNvSpPr/>
          <p:nvPr/>
        </p:nvSpPr>
        <p:spPr>
          <a:xfrm>
            <a:off x="914400" y="5687568"/>
            <a:ext cx="10332720" cy="658368"/>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El reporte PDF es el único artefacto que sale de la aplicación y circula fuera de ella: tiene que llevar el límite consigo.</a:t>
            </a:r>
            <a:endParaRPr lang="en-US" sz="1350" dirty="0"/>
          </a:p>
        </p:txBody>
      </p:sp>
      <p:sp>
        <p:nvSpPr>
          <p:cNvPr id="31" name="Text 29"/>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2" name="Text 30"/>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LÍMITES DEL PROTOTIPO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2 · 5:30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Qué quedó deliberadamente fuera</a:t>
            </a:r>
            <a:endParaRPr lang="en-US" sz="3200" dirty="0"/>
          </a:p>
        </p:txBody>
      </p:sp>
      <p:sp>
        <p:nvSpPr>
          <p:cNvPr id="5" name="Shape 3"/>
          <p:cNvSpPr/>
          <p:nvPr/>
        </p:nvSpPr>
        <p:spPr>
          <a:xfrm>
            <a:off x="640080" y="2103120"/>
            <a:ext cx="2560320" cy="2286000"/>
          </a:xfrm>
          <a:prstGeom prst="roundRect">
            <a:avLst>
              <a:gd name="adj" fmla="val 3200"/>
            </a:avLst>
          </a:prstGeom>
          <a:solidFill>
            <a:srgbClr val="FFFFFF"/>
          </a:solidFill>
          <a:ln w="12700">
            <a:solidFill>
              <a:srgbClr val="DCE4EC"/>
            </a:solidFill>
            <a:prstDash val="dash"/>
          </a:ln>
        </p:spPr>
      </p:sp>
      <p:sp>
        <p:nvSpPr>
          <p:cNvPr id="6" name="Text 4"/>
          <p:cNvSpPr/>
          <p:nvPr/>
        </p:nvSpPr>
        <p:spPr>
          <a:xfrm>
            <a:off x="868680" y="2331720"/>
            <a:ext cx="548640" cy="457200"/>
          </a:xfrm>
          <a:prstGeom prst="rect">
            <a:avLst/>
          </a:prstGeom>
          <a:noFill/>
          <a:ln/>
        </p:spPr>
        <p:txBody>
          <a:bodyPr wrap="square" rtlCol="0" anchor="ctr"/>
          <a:lstStyle/>
          <a:p>
            <a:pPr indent="0" marL="0">
              <a:buNone/>
            </a:pPr>
            <a:r>
              <a:rPr lang="en-US" sz="2200" b="1" dirty="0">
                <a:solidFill>
                  <a:srgbClr val="C3CEDA"/>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868680" y="2834640"/>
            <a:ext cx="2148840" cy="68580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Facturación electrónica</a:t>
            </a:r>
            <a:endParaRPr lang="en-US" sz="1550" dirty="0"/>
          </a:p>
        </p:txBody>
      </p:sp>
      <p:sp>
        <p:nvSpPr>
          <p:cNvPr id="8" name="Text 6"/>
          <p:cNvSpPr/>
          <p:nvPr/>
        </p:nvSpPr>
        <p:spPr>
          <a:xfrm>
            <a:off x="868680" y="3520440"/>
            <a:ext cx="2194560" cy="7772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Integración con el sistema del organismo recaudador</a:t>
            </a:r>
            <a:endParaRPr lang="en-US" sz="1200" dirty="0"/>
          </a:p>
        </p:txBody>
      </p:sp>
      <p:sp>
        <p:nvSpPr>
          <p:cNvPr id="9" name="Shape 7"/>
          <p:cNvSpPr/>
          <p:nvPr/>
        </p:nvSpPr>
        <p:spPr>
          <a:xfrm>
            <a:off x="3429000" y="2103120"/>
            <a:ext cx="2560320" cy="2286000"/>
          </a:xfrm>
          <a:prstGeom prst="roundRect">
            <a:avLst>
              <a:gd name="adj" fmla="val 3200"/>
            </a:avLst>
          </a:prstGeom>
          <a:solidFill>
            <a:srgbClr val="FFFFFF"/>
          </a:solidFill>
          <a:ln w="12700">
            <a:solidFill>
              <a:srgbClr val="DCE4EC"/>
            </a:solidFill>
            <a:prstDash val="dash"/>
          </a:ln>
        </p:spPr>
      </p:sp>
      <p:sp>
        <p:nvSpPr>
          <p:cNvPr id="10" name="Text 8"/>
          <p:cNvSpPr/>
          <p:nvPr/>
        </p:nvSpPr>
        <p:spPr>
          <a:xfrm>
            <a:off x="3657600" y="2331720"/>
            <a:ext cx="548640" cy="457200"/>
          </a:xfrm>
          <a:prstGeom prst="rect">
            <a:avLst/>
          </a:prstGeom>
          <a:noFill/>
          <a:ln/>
        </p:spPr>
        <p:txBody>
          <a:bodyPr wrap="square" rtlCol="0" anchor="ctr"/>
          <a:lstStyle/>
          <a:p>
            <a:pPr indent="0" marL="0">
              <a:buNone/>
            </a:pPr>
            <a:r>
              <a:rPr lang="en-US" sz="2200" b="1" dirty="0">
                <a:solidFill>
                  <a:srgbClr val="C3CEDA"/>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657600" y="2834640"/>
            <a:ext cx="2148840" cy="68580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Conciliación bancaria</a:t>
            </a:r>
            <a:endParaRPr lang="en-US" sz="1550" dirty="0"/>
          </a:p>
        </p:txBody>
      </p:sp>
      <p:sp>
        <p:nvSpPr>
          <p:cNvPr id="12" name="Text 10"/>
          <p:cNvSpPr/>
          <p:nvPr/>
        </p:nvSpPr>
        <p:spPr>
          <a:xfrm>
            <a:off x="3657600" y="3520440"/>
            <a:ext cx="2194560" cy="7772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Cruce automatizado contra cuentas reales del usuario</a:t>
            </a:r>
            <a:endParaRPr lang="en-US" sz="1200" dirty="0"/>
          </a:p>
        </p:txBody>
      </p:sp>
      <p:sp>
        <p:nvSpPr>
          <p:cNvPr id="13" name="Shape 11"/>
          <p:cNvSpPr/>
          <p:nvPr/>
        </p:nvSpPr>
        <p:spPr>
          <a:xfrm>
            <a:off x="6217920" y="2103120"/>
            <a:ext cx="2560320" cy="2286000"/>
          </a:xfrm>
          <a:prstGeom prst="roundRect">
            <a:avLst>
              <a:gd name="adj" fmla="val 3200"/>
            </a:avLst>
          </a:prstGeom>
          <a:solidFill>
            <a:srgbClr val="FFFFFF"/>
          </a:solidFill>
          <a:ln w="12700">
            <a:solidFill>
              <a:srgbClr val="DCE4EC"/>
            </a:solidFill>
            <a:prstDash val="dash"/>
          </a:ln>
        </p:spPr>
      </p:sp>
      <p:sp>
        <p:nvSpPr>
          <p:cNvPr id="14" name="Text 12"/>
          <p:cNvSpPr/>
          <p:nvPr/>
        </p:nvSpPr>
        <p:spPr>
          <a:xfrm>
            <a:off x="6446520" y="2331720"/>
            <a:ext cx="548640" cy="457200"/>
          </a:xfrm>
          <a:prstGeom prst="rect">
            <a:avLst/>
          </a:prstGeom>
          <a:noFill/>
          <a:ln/>
        </p:spPr>
        <p:txBody>
          <a:bodyPr wrap="square" rtlCol="0" anchor="ctr"/>
          <a:lstStyle/>
          <a:p>
            <a:pPr indent="0" marL="0">
              <a:buNone/>
            </a:pPr>
            <a:r>
              <a:rPr lang="en-US" sz="2200" b="1" dirty="0">
                <a:solidFill>
                  <a:srgbClr val="C3CEDA"/>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446520" y="2834640"/>
            <a:ext cx="2148840" cy="68580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Gestión de clientes</a:t>
            </a:r>
            <a:endParaRPr lang="en-US" sz="1550" dirty="0"/>
          </a:p>
        </p:txBody>
      </p:sp>
      <p:sp>
        <p:nvSpPr>
          <p:cNvPr id="16" name="Text 14"/>
          <p:cNvSpPr/>
          <p:nvPr/>
        </p:nvSpPr>
        <p:spPr>
          <a:xfrm>
            <a:off x="6446520" y="3520440"/>
            <a:ext cx="2194560" cy="7772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Como entidad independiente de las facturas emitidas</a:t>
            </a:r>
            <a:endParaRPr lang="en-US" sz="1200" dirty="0"/>
          </a:p>
        </p:txBody>
      </p:sp>
      <p:sp>
        <p:nvSpPr>
          <p:cNvPr id="17" name="Shape 15"/>
          <p:cNvSpPr/>
          <p:nvPr/>
        </p:nvSpPr>
        <p:spPr>
          <a:xfrm>
            <a:off x="9006840" y="2103120"/>
            <a:ext cx="2560320" cy="2286000"/>
          </a:xfrm>
          <a:prstGeom prst="roundRect">
            <a:avLst>
              <a:gd name="adj" fmla="val 3200"/>
            </a:avLst>
          </a:prstGeom>
          <a:solidFill>
            <a:srgbClr val="FFFFFF"/>
          </a:solidFill>
          <a:ln w="12700">
            <a:solidFill>
              <a:srgbClr val="DCE4EC"/>
            </a:solidFill>
            <a:prstDash val="dash"/>
          </a:ln>
        </p:spPr>
      </p:sp>
      <p:sp>
        <p:nvSpPr>
          <p:cNvPr id="18" name="Text 16"/>
          <p:cNvSpPr/>
          <p:nvPr/>
        </p:nvSpPr>
        <p:spPr>
          <a:xfrm>
            <a:off x="9235440" y="2331720"/>
            <a:ext cx="548640" cy="457200"/>
          </a:xfrm>
          <a:prstGeom prst="rect">
            <a:avLst/>
          </a:prstGeom>
          <a:noFill/>
          <a:ln/>
        </p:spPr>
        <p:txBody>
          <a:bodyPr wrap="square" rtlCol="0" anchor="ctr"/>
          <a:lstStyle/>
          <a:p>
            <a:pPr indent="0" marL="0">
              <a:buNone/>
            </a:pPr>
            <a:r>
              <a:rPr lang="en-US" sz="2200" b="1" dirty="0">
                <a:solidFill>
                  <a:srgbClr val="C3CEDA"/>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9235440" y="2834640"/>
            <a:ext cx="2148840" cy="685800"/>
          </a:xfrm>
          <a:prstGeom prst="rect">
            <a:avLst/>
          </a:prstGeom>
          <a:noFill/>
          <a:ln/>
        </p:spPr>
        <p:txBody>
          <a:bodyPr wrap="square" rtlCol="0" anchor="ctr"/>
          <a:lstStyle/>
          <a:p>
            <a:pPr indent="0" marL="0">
              <a:buNone/>
            </a:pPr>
            <a:r>
              <a:rPr lang="en-US" sz="1550" b="1" dirty="0">
                <a:solidFill>
                  <a:srgbClr val="16222E"/>
                </a:solidFill>
                <a:latin typeface="Georgia" pitchFamily="34" charset="0"/>
                <a:ea typeface="Georgia" pitchFamily="34" charset="-122"/>
                <a:cs typeface="Georgia" pitchFamily="34" charset="-120"/>
              </a:rPr>
              <a:t>Venta de productos</a:t>
            </a:r>
            <a:endParaRPr lang="en-US" sz="1550" dirty="0"/>
          </a:p>
        </p:txBody>
      </p:sp>
      <p:sp>
        <p:nvSpPr>
          <p:cNvPr id="20" name="Text 18"/>
          <p:cNvSpPr/>
          <p:nvPr/>
        </p:nvSpPr>
        <p:spPr>
          <a:xfrm>
            <a:off x="9235440" y="3520440"/>
            <a:ext cx="2194560" cy="7772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El prototipo se orienta a la prestación de servicios</a:t>
            </a:r>
            <a:endParaRPr lang="en-US" sz="1200" dirty="0"/>
          </a:p>
        </p:txBody>
      </p:sp>
      <p:sp>
        <p:nvSpPr>
          <p:cNvPr id="21" name="Shape 19"/>
          <p:cNvSpPr/>
          <p:nvPr/>
        </p:nvSpPr>
        <p:spPr>
          <a:xfrm>
            <a:off x="640080" y="4846320"/>
            <a:ext cx="10881360" cy="1371600"/>
          </a:xfrm>
          <a:prstGeom prst="roundRect">
            <a:avLst>
              <a:gd name="adj" fmla="val 6667"/>
            </a:avLst>
          </a:prstGeom>
          <a:solidFill>
            <a:srgbClr val="0D2B45"/>
          </a:solidFill>
          <a:ln/>
        </p:spPr>
      </p:sp>
      <p:sp>
        <p:nvSpPr>
          <p:cNvPr id="22" name="Text 20"/>
          <p:cNvSpPr/>
          <p:nvPr/>
        </p:nvSpPr>
        <p:spPr>
          <a:xfrm>
            <a:off x="914400" y="5029200"/>
            <a:ext cx="3657600" cy="320040"/>
          </a:xfrm>
          <a:prstGeom prst="rect">
            <a:avLst/>
          </a:prstGeom>
          <a:noFill/>
          <a:ln/>
        </p:spPr>
        <p:txBody>
          <a:bodyPr wrap="square"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CÓMO SE CONSTRUYÓ</a:t>
            </a:r>
            <a:endParaRPr lang="en-US" sz="1150" dirty="0"/>
          </a:p>
        </p:txBody>
      </p:sp>
      <p:sp>
        <p:nvSpPr>
          <p:cNvPr id="23" name="Text 21"/>
          <p:cNvSpPr/>
          <p:nvPr/>
        </p:nvSpPr>
        <p:spPr>
          <a:xfrm>
            <a:off x="914400" y="5349240"/>
            <a:ext cx="201168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17</a:t>
            </a:r>
            <a:endParaRPr lang="en-US" sz="2600" dirty="0"/>
          </a:p>
        </p:txBody>
      </p:sp>
      <p:sp>
        <p:nvSpPr>
          <p:cNvPr id="24" name="Text 22"/>
          <p:cNvSpPr/>
          <p:nvPr/>
        </p:nvSpPr>
        <p:spPr>
          <a:xfrm>
            <a:off x="914400" y="5779008"/>
            <a:ext cx="201168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historias de usuario</a:t>
            </a:r>
            <a:endParaRPr lang="en-US" sz="1150" dirty="0"/>
          </a:p>
        </p:txBody>
      </p:sp>
      <p:sp>
        <p:nvSpPr>
          <p:cNvPr id="25" name="Text 23"/>
          <p:cNvSpPr/>
          <p:nvPr/>
        </p:nvSpPr>
        <p:spPr>
          <a:xfrm>
            <a:off x="3063240" y="5349240"/>
            <a:ext cx="201168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17</a:t>
            </a:r>
            <a:endParaRPr lang="en-US" sz="2600" dirty="0"/>
          </a:p>
        </p:txBody>
      </p:sp>
      <p:sp>
        <p:nvSpPr>
          <p:cNvPr id="26" name="Text 24"/>
          <p:cNvSpPr/>
          <p:nvPr/>
        </p:nvSpPr>
        <p:spPr>
          <a:xfrm>
            <a:off x="3063240" y="5779008"/>
            <a:ext cx="201168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ítems de backlog</a:t>
            </a:r>
            <a:endParaRPr lang="en-US" sz="1150" dirty="0"/>
          </a:p>
        </p:txBody>
      </p:sp>
      <p:sp>
        <p:nvSpPr>
          <p:cNvPr id="27" name="Text 25"/>
          <p:cNvSpPr/>
          <p:nvPr/>
        </p:nvSpPr>
        <p:spPr>
          <a:xfrm>
            <a:off x="5212080" y="5349240"/>
            <a:ext cx="201168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28" name="Text 26"/>
          <p:cNvSpPr/>
          <p:nvPr/>
        </p:nvSpPr>
        <p:spPr>
          <a:xfrm>
            <a:off x="5212080" y="5779008"/>
            <a:ext cx="201168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sprints</a:t>
            </a:r>
            <a:endParaRPr lang="en-US" sz="1150" dirty="0"/>
          </a:p>
        </p:txBody>
      </p:sp>
      <p:sp>
        <p:nvSpPr>
          <p:cNvPr id="29" name="Text 27"/>
          <p:cNvSpPr/>
          <p:nvPr/>
        </p:nvSpPr>
        <p:spPr>
          <a:xfrm>
            <a:off x="7360920" y="5349240"/>
            <a:ext cx="201168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4</a:t>
            </a:r>
            <a:endParaRPr lang="en-US" sz="2600" dirty="0"/>
          </a:p>
        </p:txBody>
      </p:sp>
      <p:sp>
        <p:nvSpPr>
          <p:cNvPr id="30" name="Text 28"/>
          <p:cNvSpPr/>
          <p:nvPr/>
        </p:nvSpPr>
        <p:spPr>
          <a:xfrm>
            <a:off x="7360920" y="5779008"/>
            <a:ext cx="201168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meses</a:t>
            </a:r>
            <a:endParaRPr lang="en-US" sz="1150" dirty="0"/>
          </a:p>
        </p:txBody>
      </p:sp>
      <p:sp>
        <p:nvSpPr>
          <p:cNvPr id="31" name="Text 29"/>
          <p:cNvSpPr/>
          <p:nvPr/>
        </p:nvSpPr>
        <p:spPr>
          <a:xfrm>
            <a:off x="9509760" y="5349240"/>
            <a:ext cx="201168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Scrum</a:t>
            </a:r>
            <a:endParaRPr lang="en-US" sz="2600" dirty="0"/>
          </a:p>
        </p:txBody>
      </p:sp>
      <p:sp>
        <p:nvSpPr>
          <p:cNvPr id="32" name="Text 30"/>
          <p:cNvSpPr/>
          <p:nvPr/>
        </p:nvSpPr>
        <p:spPr>
          <a:xfrm>
            <a:off x="9509760" y="5779008"/>
            <a:ext cx="201168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marco de trabajo</a:t>
            </a:r>
            <a:endParaRPr lang="en-US" sz="1150" dirty="0"/>
          </a:p>
        </p:txBody>
      </p:sp>
      <p:sp>
        <p:nvSpPr>
          <p:cNvPr id="33" name="Text 3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4" name="Text 3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45"/>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3 · 6:00</a:t>
            </a:r>
            <a:endParaRPr lang="en-US" sz="1050" dirty="0"/>
          </a:p>
        </p:txBody>
      </p:sp>
      <p:sp>
        <p:nvSpPr>
          <p:cNvPr id="4" name="Text 2"/>
          <p:cNvSpPr/>
          <p:nvPr/>
        </p:nvSpPr>
        <p:spPr>
          <a:xfrm>
            <a:off x="822960" y="2377440"/>
            <a:ext cx="10881360" cy="45720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VIDEO EXPLICATIVO</a:t>
            </a:r>
            <a:endParaRPr lang="en-US" sz="1400" dirty="0"/>
          </a:p>
        </p:txBody>
      </p:sp>
      <p:sp>
        <p:nvSpPr>
          <p:cNvPr id="5" name="Text 3"/>
          <p:cNvSpPr/>
          <p:nvPr/>
        </p:nvSpPr>
        <p:spPr>
          <a:xfrm>
            <a:off x="777240" y="2880360"/>
            <a:ext cx="10698480" cy="100584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El sistema, de principio a fin</a:t>
            </a:r>
            <a:endParaRPr lang="en-US" sz="4400" dirty="0"/>
          </a:p>
        </p:txBody>
      </p:sp>
      <p:sp>
        <p:nvSpPr>
          <p:cNvPr id="6" name="Text 4"/>
          <p:cNvSpPr/>
          <p:nvPr/>
        </p:nvSpPr>
        <p:spPr>
          <a:xfrm>
            <a:off x="822960" y="3931920"/>
            <a:ext cx="9601200" cy="54864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Recorrido del ciclo completo de uso, en el mismo orden en que fueron diagnosticados los problemas.</a:t>
            </a:r>
            <a:endParaRPr lang="en-US" sz="1700" dirty="0"/>
          </a:p>
        </p:txBody>
      </p:sp>
      <p:sp>
        <p:nvSpPr>
          <p:cNvPr id="7" name="Text 5"/>
          <p:cNvSpPr/>
          <p:nvPr/>
        </p:nvSpPr>
        <p:spPr>
          <a:xfrm>
            <a:off x="822960" y="4754880"/>
            <a:ext cx="4572000" cy="548640"/>
          </a:xfrm>
          <a:prstGeom prst="rect">
            <a:avLst/>
          </a:prstGeom>
          <a:noFill/>
          <a:ln/>
        </p:spPr>
        <p:txBody>
          <a:bodyPr wrap="square" rtlCol="0" anchor="ctr"/>
          <a:lstStyle/>
          <a:p>
            <a:pPr indent="0" marL="0">
              <a:buNone/>
            </a:pPr>
            <a:r>
              <a:rPr lang="en-US" sz="2200" b="1" dirty="0">
                <a:solidFill>
                  <a:srgbClr val="02C39A"/>
                </a:solidFill>
                <a:latin typeface="Georgia" pitchFamily="34" charset="0"/>
                <a:ea typeface="Georgia" pitchFamily="34" charset="-122"/>
                <a:cs typeface="Georgia" pitchFamily="34" charset="-120"/>
              </a:rPr>
              <a:t>▶   4 minutos</a:t>
            </a:r>
            <a:endParaRPr lang="en-US" sz="2200" dirty="0"/>
          </a:p>
        </p:txBody>
      </p:sp>
      <p:sp>
        <p:nvSpPr>
          <p:cNvPr id="8" name="Text 6"/>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9"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DEMOSTRACIÓN EN VIVO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4 · 10:00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El recorrido</a:t>
            </a:r>
            <a:endParaRPr lang="en-US" sz="3200" dirty="0"/>
          </a:p>
        </p:txBody>
      </p:sp>
      <p:sp>
        <p:nvSpPr>
          <p:cNvPr id="5" name="Shape 3"/>
          <p:cNvSpPr/>
          <p:nvPr/>
        </p:nvSpPr>
        <p:spPr>
          <a:xfrm>
            <a:off x="640080" y="1965960"/>
            <a:ext cx="5257800" cy="1143000"/>
          </a:xfrm>
          <a:prstGeom prst="roundRect">
            <a:avLst>
              <a:gd name="adj" fmla="val 6400"/>
            </a:avLst>
          </a:prstGeom>
          <a:solidFill>
            <a:srgbClr val="14395E"/>
          </a:solidFill>
          <a:ln w="12700">
            <a:solidFill>
              <a:srgbClr val="02C39A"/>
            </a:solidFill>
            <a:prstDash val="solid"/>
          </a:ln>
        </p:spPr>
      </p:sp>
      <p:sp>
        <p:nvSpPr>
          <p:cNvPr id="6" name="Shape 4"/>
          <p:cNvSpPr/>
          <p:nvPr/>
        </p:nvSpPr>
        <p:spPr>
          <a:xfrm>
            <a:off x="896112" y="2267712"/>
            <a:ext cx="548640" cy="548640"/>
          </a:xfrm>
          <a:prstGeom prst="roundRect">
            <a:avLst>
              <a:gd name="adj" fmla="val 50000"/>
            </a:avLst>
          </a:prstGeom>
          <a:solidFill>
            <a:srgbClr val="02C39A"/>
          </a:solidFill>
          <a:ln/>
        </p:spPr>
      </p:sp>
      <p:sp>
        <p:nvSpPr>
          <p:cNvPr id="7" name="Text 5"/>
          <p:cNvSpPr/>
          <p:nvPr/>
        </p:nvSpPr>
        <p:spPr>
          <a:xfrm>
            <a:off x="896112" y="22677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1600200" y="21488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Clasificador de gastos</a:t>
            </a:r>
            <a:endParaRPr lang="en-US" sz="1550" dirty="0"/>
          </a:p>
        </p:txBody>
      </p:sp>
      <p:sp>
        <p:nvSpPr>
          <p:cNvPr id="9" name="Text 7"/>
          <p:cNvSpPr/>
          <p:nvPr/>
        </p:nvSpPr>
        <p:spPr>
          <a:xfrm>
            <a:off x="1600200" y="25603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Sugerencia automática, umbral de confianza y aprendizaje por corrección</a:t>
            </a:r>
            <a:endParaRPr lang="en-US" sz="1150" dirty="0"/>
          </a:p>
        </p:txBody>
      </p:sp>
      <p:sp>
        <p:nvSpPr>
          <p:cNvPr id="10" name="Shape 8"/>
          <p:cNvSpPr/>
          <p:nvPr/>
        </p:nvSpPr>
        <p:spPr>
          <a:xfrm>
            <a:off x="6217920" y="1965960"/>
            <a:ext cx="5257800" cy="1143000"/>
          </a:xfrm>
          <a:prstGeom prst="roundRect">
            <a:avLst>
              <a:gd name="adj" fmla="val 6400"/>
            </a:avLst>
          </a:prstGeom>
          <a:solidFill>
            <a:srgbClr val="14395E"/>
          </a:solidFill>
          <a:ln w="12700">
            <a:solidFill>
              <a:srgbClr val="5BB3C4"/>
            </a:solidFill>
            <a:prstDash val="solid"/>
          </a:ln>
        </p:spPr>
      </p:sp>
      <p:sp>
        <p:nvSpPr>
          <p:cNvPr id="11" name="Shape 9"/>
          <p:cNvSpPr/>
          <p:nvPr/>
        </p:nvSpPr>
        <p:spPr>
          <a:xfrm>
            <a:off x="6473952" y="2267712"/>
            <a:ext cx="548640" cy="548640"/>
          </a:xfrm>
          <a:prstGeom prst="roundRect">
            <a:avLst>
              <a:gd name="adj" fmla="val 50000"/>
            </a:avLst>
          </a:prstGeom>
          <a:solidFill>
            <a:srgbClr val="5BB3C4"/>
          </a:solidFill>
          <a:ln/>
        </p:spPr>
      </p:sp>
      <p:sp>
        <p:nvSpPr>
          <p:cNvPr id="12" name="Text 10"/>
          <p:cNvSpPr/>
          <p:nvPr/>
        </p:nvSpPr>
        <p:spPr>
          <a:xfrm>
            <a:off x="6473952" y="22677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7178040" y="21488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Importación bancaria</a:t>
            </a:r>
            <a:endParaRPr lang="en-US" sz="1550" dirty="0"/>
          </a:p>
        </p:txBody>
      </p:sp>
      <p:sp>
        <p:nvSpPr>
          <p:cNvPr id="14" name="Text 12"/>
          <p:cNvSpPr/>
          <p:nvPr/>
        </p:nvSpPr>
        <p:spPr>
          <a:xfrm>
            <a:off x="7178040" y="25603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Nueve formatos de homebanking, detección heurística local</a:t>
            </a:r>
            <a:endParaRPr lang="en-US" sz="1150" dirty="0"/>
          </a:p>
        </p:txBody>
      </p:sp>
      <p:sp>
        <p:nvSpPr>
          <p:cNvPr id="15" name="Shape 13"/>
          <p:cNvSpPr/>
          <p:nvPr/>
        </p:nvSpPr>
        <p:spPr>
          <a:xfrm>
            <a:off x="640080" y="3337560"/>
            <a:ext cx="5257800" cy="1143000"/>
          </a:xfrm>
          <a:prstGeom prst="roundRect">
            <a:avLst>
              <a:gd name="adj" fmla="val 6400"/>
            </a:avLst>
          </a:prstGeom>
          <a:solidFill>
            <a:srgbClr val="14395E"/>
          </a:solidFill>
          <a:ln w="12700">
            <a:solidFill>
              <a:srgbClr val="5BB3C4"/>
            </a:solidFill>
            <a:prstDash val="solid"/>
          </a:ln>
        </p:spPr>
      </p:sp>
      <p:sp>
        <p:nvSpPr>
          <p:cNvPr id="16" name="Shape 14"/>
          <p:cNvSpPr/>
          <p:nvPr/>
        </p:nvSpPr>
        <p:spPr>
          <a:xfrm>
            <a:off x="896112" y="3639312"/>
            <a:ext cx="548640" cy="548640"/>
          </a:xfrm>
          <a:prstGeom prst="roundRect">
            <a:avLst>
              <a:gd name="adj" fmla="val 50000"/>
            </a:avLst>
          </a:prstGeom>
          <a:solidFill>
            <a:srgbClr val="5BB3C4"/>
          </a:solidFill>
          <a:ln/>
        </p:spPr>
      </p:sp>
      <p:sp>
        <p:nvSpPr>
          <p:cNvPr id="17" name="Text 15"/>
          <p:cNvSpPr/>
          <p:nvPr/>
        </p:nvSpPr>
        <p:spPr>
          <a:xfrm>
            <a:off x="896112" y="36393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1600200" y="35204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Auditoría automatizada</a:t>
            </a:r>
            <a:endParaRPr lang="en-US" sz="1550" dirty="0"/>
          </a:p>
        </p:txBody>
      </p:sp>
      <p:sp>
        <p:nvSpPr>
          <p:cNvPr id="19" name="Text 17"/>
          <p:cNvSpPr/>
          <p:nvPr/>
        </p:nvSpPr>
        <p:spPr>
          <a:xfrm>
            <a:off x="1600200" y="39319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Cinco detectores sobre los registros del usuario</a:t>
            </a:r>
            <a:endParaRPr lang="en-US" sz="1150" dirty="0"/>
          </a:p>
        </p:txBody>
      </p:sp>
      <p:sp>
        <p:nvSpPr>
          <p:cNvPr id="20" name="Shape 18"/>
          <p:cNvSpPr/>
          <p:nvPr/>
        </p:nvSpPr>
        <p:spPr>
          <a:xfrm>
            <a:off x="6217920" y="3337560"/>
            <a:ext cx="5257800" cy="1143000"/>
          </a:xfrm>
          <a:prstGeom prst="roundRect">
            <a:avLst>
              <a:gd name="adj" fmla="val 6400"/>
            </a:avLst>
          </a:prstGeom>
          <a:solidFill>
            <a:srgbClr val="14395E"/>
          </a:solidFill>
          <a:ln w="12700">
            <a:solidFill>
              <a:srgbClr val="E0A82E"/>
            </a:solidFill>
            <a:prstDash val="solid"/>
          </a:ln>
        </p:spPr>
      </p:sp>
      <p:sp>
        <p:nvSpPr>
          <p:cNvPr id="21" name="Shape 19"/>
          <p:cNvSpPr/>
          <p:nvPr/>
        </p:nvSpPr>
        <p:spPr>
          <a:xfrm>
            <a:off x="6473952" y="3639312"/>
            <a:ext cx="548640" cy="548640"/>
          </a:xfrm>
          <a:prstGeom prst="roundRect">
            <a:avLst>
              <a:gd name="adj" fmla="val 50000"/>
            </a:avLst>
          </a:prstGeom>
          <a:solidFill>
            <a:srgbClr val="E0A82E"/>
          </a:solidFill>
          <a:ln/>
        </p:spPr>
      </p:sp>
      <p:sp>
        <p:nvSpPr>
          <p:cNvPr id="22" name="Text 20"/>
          <p:cNvSpPr/>
          <p:nvPr/>
        </p:nvSpPr>
        <p:spPr>
          <a:xfrm>
            <a:off x="6473952" y="36393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4</a:t>
            </a:r>
            <a:endParaRPr lang="en-US" sz="2000" dirty="0"/>
          </a:p>
        </p:txBody>
      </p:sp>
      <p:sp>
        <p:nvSpPr>
          <p:cNvPr id="23" name="Text 21"/>
          <p:cNvSpPr/>
          <p:nvPr/>
        </p:nvSpPr>
        <p:spPr>
          <a:xfrm>
            <a:off x="7178040" y="35204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Estado fiscal</a:t>
            </a:r>
            <a:endParaRPr lang="en-US" sz="1550" dirty="0"/>
          </a:p>
        </p:txBody>
      </p:sp>
      <p:sp>
        <p:nvSpPr>
          <p:cNvPr id="24" name="Text 22"/>
          <p:cNvSpPr/>
          <p:nvPr/>
        </p:nvSpPr>
        <p:spPr>
          <a:xfrm>
            <a:off x="7178040" y="39319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Año en curso + proyección hasta diciembre contra el límite de la categoría</a:t>
            </a:r>
            <a:endParaRPr lang="en-US" sz="1150" dirty="0"/>
          </a:p>
        </p:txBody>
      </p:sp>
      <p:sp>
        <p:nvSpPr>
          <p:cNvPr id="25" name="Shape 23"/>
          <p:cNvSpPr/>
          <p:nvPr/>
        </p:nvSpPr>
        <p:spPr>
          <a:xfrm>
            <a:off x="640080" y="4709160"/>
            <a:ext cx="5257800" cy="1143000"/>
          </a:xfrm>
          <a:prstGeom prst="roundRect">
            <a:avLst>
              <a:gd name="adj" fmla="val 6400"/>
            </a:avLst>
          </a:prstGeom>
          <a:solidFill>
            <a:srgbClr val="14395E"/>
          </a:solidFill>
          <a:ln w="12700">
            <a:solidFill>
              <a:srgbClr val="5BB3C4"/>
            </a:solidFill>
            <a:prstDash val="solid"/>
          </a:ln>
        </p:spPr>
      </p:sp>
      <p:sp>
        <p:nvSpPr>
          <p:cNvPr id="26" name="Shape 24"/>
          <p:cNvSpPr/>
          <p:nvPr/>
        </p:nvSpPr>
        <p:spPr>
          <a:xfrm>
            <a:off x="896112" y="5010912"/>
            <a:ext cx="548640" cy="548640"/>
          </a:xfrm>
          <a:prstGeom prst="roundRect">
            <a:avLst>
              <a:gd name="adj" fmla="val 50000"/>
            </a:avLst>
          </a:prstGeom>
          <a:solidFill>
            <a:srgbClr val="5BB3C4"/>
          </a:solidFill>
          <a:ln/>
        </p:spPr>
      </p:sp>
      <p:sp>
        <p:nvSpPr>
          <p:cNvPr id="27" name="Text 25"/>
          <p:cNvSpPr/>
          <p:nvPr/>
        </p:nvSpPr>
        <p:spPr>
          <a:xfrm>
            <a:off x="896112" y="50109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5</a:t>
            </a:r>
            <a:endParaRPr lang="en-US" sz="2000" dirty="0"/>
          </a:p>
        </p:txBody>
      </p:sp>
      <p:sp>
        <p:nvSpPr>
          <p:cNvPr id="28" name="Text 26"/>
          <p:cNvSpPr/>
          <p:nvPr/>
        </p:nvSpPr>
        <p:spPr>
          <a:xfrm>
            <a:off x="1600200" y="48920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Proyección de ingresos</a:t>
            </a:r>
            <a:endParaRPr lang="en-US" sz="1550" dirty="0"/>
          </a:p>
        </p:txBody>
      </p:sp>
      <p:sp>
        <p:nvSpPr>
          <p:cNvPr id="29" name="Text 27"/>
          <p:cNvSpPr/>
          <p:nvPr/>
        </p:nvSpPr>
        <p:spPr>
          <a:xfrm>
            <a:off x="1600200" y="53035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Seis meses con intervalo de confianza y arranque en frío</a:t>
            </a:r>
            <a:endParaRPr lang="en-US" sz="1150" dirty="0"/>
          </a:p>
        </p:txBody>
      </p:sp>
      <p:sp>
        <p:nvSpPr>
          <p:cNvPr id="30" name="Shape 28"/>
          <p:cNvSpPr/>
          <p:nvPr/>
        </p:nvSpPr>
        <p:spPr>
          <a:xfrm>
            <a:off x="6217920" y="4709160"/>
            <a:ext cx="5257800" cy="1143000"/>
          </a:xfrm>
          <a:prstGeom prst="roundRect">
            <a:avLst>
              <a:gd name="adj" fmla="val 6400"/>
            </a:avLst>
          </a:prstGeom>
          <a:solidFill>
            <a:srgbClr val="14395E"/>
          </a:solidFill>
          <a:ln w="12700">
            <a:solidFill>
              <a:srgbClr val="02C39A"/>
            </a:solidFill>
            <a:prstDash val="solid"/>
          </a:ln>
        </p:spPr>
      </p:sp>
      <p:sp>
        <p:nvSpPr>
          <p:cNvPr id="31" name="Shape 29"/>
          <p:cNvSpPr/>
          <p:nvPr/>
        </p:nvSpPr>
        <p:spPr>
          <a:xfrm>
            <a:off x="6473952" y="5010912"/>
            <a:ext cx="548640" cy="548640"/>
          </a:xfrm>
          <a:prstGeom prst="roundRect">
            <a:avLst>
              <a:gd name="adj" fmla="val 50000"/>
            </a:avLst>
          </a:prstGeom>
          <a:solidFill>
            <a:srgbClr val="02C39A"/>
          </a:solidFill>
          <a:ln/>
        </p:spPr>
      </p:sp>
      <p:sp>
        <p:nvSpPr>
          <p:cNvPr id="32" name="Text 30"/>
          <p:cNvSpPr/>
          <p:nvPr/>
        </p:nvSpPr>
        <p:spPr>
          <a:xfrm>
            <a:off x="6473952" y="5010912"/>
            <a:ext cx="548640" cy="548640"/>
          </a:xfrm>
          <a:prstGeom prst="rect">
            <a:avLst/>
          </a:prstGeom>
          <a:noFill/>
          <a:ln/>
        </p:spPr>
        <p:txBody>
          <a:bodyPr wrap="square" rtlCol="0" anchor="ctr"/>
          <a:lstStyle/>
          <a:p>
            <a:pPr algn="ctr" indent="0" marL="0">
              <a:buNone/>
            </a:pPr>
            <a:r>
              <a:rPr lang="en-US" sz="2000" b="1" dirty="0">
                <a:solidFill>
                  <a:srgbClr val="0D2B45"/>
                </a:solidFill>
                <a:latin typeface="Georgia" pitchFamily="34" charset="0"/>
                <a:ea typeface="Georgia" pitchFamily="34" charset="-122"/>
                <a:cs typeface="Georgia" pitchFamily="34" charset="-120"/>
              </a:rPr>
              <a:t>6</a:t>
            </a:r>
            <a:endParaRPr lang="en-US" sz="2000" dirty="0"/>
          </a:p>
        </p:txBody>
      </p:sp>
      <p:sp>
        <p:nvSpPr>
          <p:cNvPr id="33" name="Text 31"/>
          <p:cNvSpPr/>
          <p:nvPr/>
        </p:nvSpPr>
        <p:spPr>
          <a:xfrm>
            <a:off x="7178040" y="4892040"/>
            <a:ext cx="4114800" cy="411480"/>
          </a:xfrm>
          <a:prstGeom prst="rect">
            <a:avLst/>
          </a:prstGeom>
          <a:noFill/>
          <a:ln/>
        </p:spPr>
        <p:txBody>
          <a:bodyPr wrap="square"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Reporte PDF</a:t>
            </a:r>
            <a:endParaRPr lang="en-US" sz="1550" dirty="0"/>
          </a:p>
        </p:txBody>
      </p:sp>
      <p:sp>
        <p:nvSpPr>
          <p:cNvPr id="34" name="Text 32"/>
          <p:cNvSpPr/>
          <p:nvPr/>
        </p:nvSpPr>
        <p:spPr>
          <a:xfrm>
            <a:off x="7178040" y="5303520"/>
            <a:ext cx="411480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Documento mensual consolidado para el contador</a:t>
            </a:r>
            <a:endParaRPr lang="en-US" sz="1150" dirty="0"/>
          </a:p>
        </p:txBody>
      </p:sp>
      <p:sp>
        <p:nvSpPr>
          <p:cNvPr id="35" name="Text 33"/>
          <p:cNvSpPr/>
          <p:nvPr/>
        </p:nvSpPr>
        <p:spPr>
          <a:xfrm>
            <a:off x="640080" y="6144768"/>
            <a:ext cx="10881360" cy="365760"/>
          </a:xfrm>
          <a:prstGeom prst="rect">
            <a:avLst/>
          </a:prstGeom>
          <a:noFill/>
          <a:ln/>
        </p:spPr>
        <p:txBody>
          <a:bodyPr wrap="square" rtlCol="0" anchor="ctr"/>
          <a:lstStyle/>
          <a:p>
            <a:pPr algn="ctr" indent="0" marL="0">
              <a:buNone/>
            </a:pPr>
            <a:r>
              <a:rPr lang="en-US" sz="1300" i="1" dirty="0">
                <a:solidFill>
                  <a:srgbClr val="8FA3B5"/>
                </a:solidFill>
                <a:latin typeface="Calibri" pitchFamily="34" charset="0"/>
                <a:ea typeface="Calibri" pitchFamily="34" charset="-122"/>
                <a:cs typeface="Calibri" pitchFamily="34" charset="-120"/>
              </a:rPr>
              <a:t>Cada módulo responde a una de las cuatro problemáticas del diagnóstico.</a:t>
            </a:r>
            <a:endParaRPr lang="en-US" sz="1300" dirty="0"/>
          </a:p>
        </p:txBody>
      </p:sp>
      <p:sp>
        <p:nvSpPr>
          <p:cNvPr id="36" name="Text 34"/>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7" name="Text 35"/>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B45"/>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C7293"/>
          </a:solidFill>
          <a:ln/>
        </p:spPr>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24:00</a:t>
            </a:r>
            <a:endParaRPr lang="en-US" sz="1050" dirty="0"/>
          </a:p>
        </p:txBody>
      </p:sp>
      <p:sp>
        <p:nvSpPr>
          <p:cNvPr id="4" name="Text 2"/>
          <p:cNvSpPr/>
          <p:nvPr/>
        </p:nvSpPr>
        <p:spPr>
          <a:xfrm>
            <a:off x="822960" y="2286000"/>
            <a:ext cx="10881360" cy="457200"/>
          </a:xfrm>
          <a:prstGeom prst="rect">
            <a:avLst/>
          </a:prstGeom>
          <a:noFill/>
          <a:ln/>
        </p:spPr>
        <p:txBody>
          <a:bodyPr wrap="square" rtlCol="0" anchor="ctr"/>
          <a:lstStyle/>
          <a:p>
            <a:pPr indent="0" marL="0">
              <a:buNone/>
            </a:pPr>
            <a:r>
              <a:rPr lang="en-US" sz="1400" b="1" spc="300" kern="0" dirty="0">
                <a:solidFill>
                  <a:srgbClr val="5BB3C4"/>
                </a:solidFill>
                <a:latin typeface="Calibri" pitchFamily="34" charset="0"/>
                <a:ea typeface="Calibri" pitchFamily="34" charset="-122"/>
                <a:cs typeface="Calibri" pitchFamily="34" charset="-120"/>
              </a:rPr>
              <a:t>ARQUITECTURA Y DECISIONES DE DISEÑO</a:t>
            </a:r>
            <a:endParaRPr lang="en-US" sz="1400" dirty="0"/>
          </a:p>
        </p:txBody>
      </p:sp>
      <p:sp>
        <p:nvSpPr>
          <p:cNvPr id="5" name="Text 3"/>
          <p:cNvSpPr/>
          <p:nvPr/>
        </p:nvSpPr>
        <p:spPr>
          <a:xfrm>
            <a:off x="777240" y="2788920"/>
            <a:ext cx="10698480" cy="100584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Del qué al porqué</a:t>
            </a:r>
            <a:endParaRPr lang="en-US" sz="4400" dirty="0"/>
          </a:p>
        </p:txBody>
      </p:sp>
      <p:sp>
        <p:nvSpPr>
          <p:cNvPr id="6" name="Text 4"/>
          <p:cNvSpPr/>
          <p:nvPr/>
        </p:nvSpPr>
        <p:spPr>
          <a:xfrm>
            <a:off x="822960" y="4114800"/>
            <a:ext cx="3291840" cy="548640"/>
          </a:xfrm>
          <a:prstGeom prst="rect">
            <a:avLst/>
          </a:prstGeom>
          <a:noFill/>
          <a:ln/>
        </p:spPr>
        <p:txBody>
          <a:bodyPr wrap="square" rtlCol="0" anchor="ctr"/>
          <a:lstStyle/>
          <a:p>
            <a:pPr indent="0" marL="0">
              <a:buNone/>
            </a:pPr>
            <a:r>
              <a:rPr lang="en-US" sz="2800" b="1" dirty="0">
                <a:solidFill>
                  <a:srgbClr val="8FA3B5"/>
                </a:solidFill>
                <a:latin typeface="Georgia" pitchFamily="34" charset="0"/>
                <a:ea typeface="Georgia" pitchFamily="34" charset="-122"/>
                <a:cs typeface="Georgia" pitchFamily="34" charset="-120"/>
              </a:rPr>
              <a:t>QUÉ</a:t>
            </a:r>
            <a:endParaRPr lang="en-US" sz="2800" dirty="0"/>
          </a:p>
        </p:txBody>
      </p:sp>
      <p:sp>
        <p:nvSpPr>
          <p:cNvPr id="7" name="Text 5"/>
          <p:cNvSpPr/>
          <p:nvPr/>
        </p:nvSpPr>
        <p:spPr>
          <a:xfrm>
            <a:off x="822960" y="4663440"/>
            <a:ext cx="3291840" cy="365760"/>
          </a:xfrm>
          <a:prstGeom prst="rect">
            <a:avLst/>
          </a:prstGeom>
          <a:noFill/>
          <a:ln/>
        </p:spPr>
        <p:txBody>
          <a:bodyPr wrap="square" rtlCol="0" anchor="ctr"/>
          <a:lstStyle/>
          <a:p>
            <a:pPr indent="0" marL="0">
              <a:buNone/>
            </a:pPr>
            <a:r>
              <a:rPr lang="en-US" sz="1400" dirty="0">
                <a:solidFill>
                  <a:srgbClr val="8FA3B5"/>
                </a:solidFill>
                <a:latin typeface="Calibri" pitchFamily="34" charset="0"/>
                <a:ea typeface="Calibri" pitchFamily="34" charset="-122"/>
                <a:cs typeface="Calibri" pitchFamily="34" charset="-120"/>
              </a:rPr>
              <a:t>hace el sistema</a:t>
            </a:r>
            <a:endParaRPr lang="en-US" sz="1400" dirty="0"/>
          </a:p>
        </p:txBody>
      </p:sp>
      <p:sp>
        <p:nvSpPr>
          <p:cNvPr id="8" name="Text 6"/>
          <p:cNvSpPr/>
          <p:nvPr/>
        </p:nvSpPr>
        <p:spPr>
          <a:xfrm>
            <a:off x="822960" y="5074920"/>
            <a:ext cx="3291840" cy="320040"/>
          </a:xfrm>
          <a:prstGeom prst="rect">
            <a:avLst/>
          </a:prstGeom>
          <a:noFill/>
          <a:ln/>
        </p:spPr>
        <p:txBody>
          <a:bodyPr wrap="square" rtlCol="0" anchor="ctr"/>
          <a:lstStyle/>
          <a:p>
            <a:pPr indent="0" marL="0">
              <a:buNone/>
            </a:pPr>
            <a:r>
              <a:rPr lang="en-US" sz="1150" i="1" dirty="0">
                <a:solidFill>
                  <a:srgbClr val="8FA3B5"/>
                </a:solidFill>
                <a:latin typeface="Calibri" pitchFamily="34" charset="0"/>
                <a:ea typeface="Calibri" pitchFamily="34" charset="-122"/>
                <a:cs typeface="Calibri" pitchFamily="34" charset="-120"/>
              </a:rPr>
              <a:t>✓  ya visto</a:t>
            </a:r>
            <a:endParaRPr lang="en-US" sz="1150" dirty="0"/>
          </a:p>
        </p:txBody>
      </p:sp>
      <p:sp>
        <p:nvSpPr>
          <p:cNvPr id="9" name="Text 7"/>
          <p:cNvSpPr/>
          <p:nvPr/>
        </p:nvSpPr>
        <p:spPr>
          <a:xfrm>
            <a:off x="4480560" y="4114800"/>
            <a:ext cx="329184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CÓMO</a:t>
            </a:r>
            <a:endParaRPr lang="en-US" sz="2800" dirty="0"/>
          </a:p>
        </p:txBody>
      </p:sp>
      <p:sp>
        <p:nvSpPr>
          <p:cNvPr id="10" name="Text 8"/>
          <p:cNvSpPr/>
          <p:nvPr/>
        </p:nvSpPr>
        <p:spPr>
          <a:xfrm>
            <a:off x="4480560" y="4663440"/>
            <a:ext cx="329184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está construido</a:t>
            </a:r>
            <a:endParaRPr lang="en-US" sz="1400" dirty="0"/>
          </a:p>
        </p:txBody>
      </p:sp>
      <p:sp>
        <p:nvSpPr>
          <p:cNvPr id="11" name="Text 9"/>
          <p:cNvSpPr/>
          <p:nvPr/>
        </p:nvSpPr>
        <p:spPr>
          <a:xfrm>
            <a:off x="8138160" y="4114800"/>
            <a:ext cx="3291840" cy="548640"/>
          </a:xfrm>
          <a:prstGeom prst="rect">
            <a:avLst/>
          </a:prstGeom>
          <a:noFill/>
          <a:ln/>
        </p:spPr>
        <p:txBody>
          <a:bodyPr wrap="square" rtlCol="0" anchor="ctr"/>
          <a:lstStyle/>
          <a:p>
            <a:pPr indent="0" marL="0">
              <a:buNone/>
            </a:pPr>
            <a:r>
              <a:rPr lang="en-US" sz="2800" b="1" dirty="0">
                <a:solidFill>
                  <a:srgbClr val="02C39A"/>
                </a:solidFill>
                <a:latin typeface="Georgia" pitchFamily="34" charset="0"/>
                <a:ea typeface="Georgia" pitchFamily="34" charset="-122"/>
                <a:cs typeface="Georgia" pitchFamily="34" charset="-120"/>
              </a:rPr>
              <a:t>POR QUÉ</a:t>
            </a:r>
            <a:endParaRPr lang="en-US" sz="2800" dirty="0"/>
          </a:p>
        </p:txBody>
      </p:sp>
      <p:sp>
        <p:nvSpPr>
          <p:cNvPr id="12" name="Text 10"/>
          <p:cNvSpPr/>
          <p:nvPr/>
        </p:nvSpPr>
        <p:spPr>
          <a:xfrm>
            <a:off x="8138160" y="4663440"/>
            <a:ext cx="329184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está construido así</a:t>
            </a:r>
            <a:endParaRPr lang="en-US" sz="1400" dirty="0"/>
          </a:p>
        </p:txBody>
      </p:sp>
      <p:sp>
        <p:nvSpPr>
          <p:cNvPr id="13" name="Text 1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4" name="Text 1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ARQUITECTURA</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24:00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Tres contenedores, una red interna</a:t>
            </a:r>
            <a:endParaRPr lang="en-US" sz="3200" dirty="0"/>
          </a:p>
        </p:txBody>
      </p:sp>
      <p:sp>
        <p:nvSpPr>
          <p:cNvPr id="5" name="Shape 3"/>
          <p:cNvSpPr/>
          <p:nvPr/>
        </p:nvSpPr>
        <p:spPr>
          <a:xfrm>
            <a:off x="640080" y="2057400"/>
            <a:ext cx="7589520" cy="1051560"/>
          </a:xfrm>
          <a:prstGeom prst="roundRect">
            <a:avLst>
              <a:gd name="adj" fmla="val 695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Shape 4"/>
          <p:cNvSpPr/>
          <p:nvPr/>
        </p:nvSpPr>
        <p:spPr>
          <a:xfrm>
            <a:off x="640080" y="2057400"/>
            <a:ext cx="137160" cy="1051560"/>
          </a:xfrm>
          <a:prstGeom prst="roundRect">
            <a:avLst>
              <a:gd name="adj" fmla="val 26667"/>
            </a:avLst>
          </a:prstGeom>
          <a:solidFill>
            <a:srgbClr val="1C7293"/>
          </a:solidFill>
          <a:ln/>
        </p:spPr>
      </p:sp>
      <p:sp>
        <p:nvSpPr>
          <p:cNvPr id="7" name="Text 5"/>
          <p:cNvSpPr/>
          <p:nvPr/>
        </p:nvSpPr>
        <p:spPr>
          <a:xfrm>
            <a:off x="960120" y="2203704"/>
            <a:ext cx="2926080" cy="457200"/>
          </a:xfrm>
          <a:prstGeom prst="rect">
            <a:avLst/>
          </a:prstGeom>
          <a:noFill/>
          <a:ln/>
        </p:spPr>
        <p:txBody>
          <a:bodyPr wrap="square" rtlCol="0" anchor="ctr"/>
          <a:lstStyle/>
          <a:p>
            <a:pPr indent="0" marL="0">
              <a:buNone/>
            </a:pPr>
            <a:r>
              <a:rPr lang="en-US" sz="1900" b="1" dirty="0">
                <a:solidFill>
                  <a:srgbClr val="16222E"/>
                </a:solidFill>
                <a:latin typeface="Georgia" pitchFamily="34" charset="0"/>
                <a:ea typeface="Georgia" pitchFamily="34" charset="-122"/>
                <a:cs typeface="Georgia" pitchFamily="34" charset="-120"/>
              </a:rPr>
              <a:t>Frontend</a:t>
            </a:r>
            <a:endParaRPr lang="en-US" sz="1900" dirty="0"/>
          </a:p>
        </p:txBody>
      </p:sp>
      <p:sp>
        <p:nvSpPr>
          <p:cNvPr id="8" name="Text 6"/>
          <p:cNvSpPr/>
          <p:nvPr/>
        </p:nvSpPr>
        <p:spPr>
          <a:xfrm>
            <a:off x="960120" y="2633472"/>
            <a:ext cx="566928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React 19 · React Router · Axios · Chart.js · 13 pantallas</a:t>
            </a:r>
            <a:endParaRPr lang="en-US" sz="1250" dirty="0"/>
          </a:p>
        </p:txBody>
      </p:sp>
      <p:sp>
        <p:nvSpPr>
          <p:cNvPr id="9" name="Shape 7"/>
          <p:cNvSpPr/>
          <p:nvPr/>
        </p:nvSpPr>
        <p:spPr>
          <a:xfrm>
            <a:off x="6766560" y="2377440"/>
            <a:ext cx="1325880" cy="411480"/>
          </a:xfrm>
          <a:prstGeom prst="roundRect">
            <a:avLst>
              <a:gd name="adj" fmla="val 22222"/>
            </a:avLst>
          </a:prstGeom>
          <a:solidFill>
            <a:srgbClr val="1C7293"/>
          </a:solidFill>
          <a:ln/>
        </p:spPr>
      </p:sp>
      <p:sp>
        <p:nvSpPr>
          <p:cNvPr id="10" name="Text 8"/>
          <p:cNvSpPr/>
          <p:nvPr/>
        </p:nvSpPr>
        <p:spPr>
          <a:xfrm>
            <a:off x="6766560" y="2377440"/>
            <a:ext cx="1325880" cy="4114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Puerto 3000</a:t>
            </a:r>
            <a:endParaRPr lang="en-US" sz="1100" dirty="0"/>
          </a:p>
        </p:txBody>
      </p:sp>
      <p:sp>
        <p:nvSpPr>
          <p:cNvPr id="11" name="Shape 9"/>
          <p:cNvSpPr/>
          <p:nvPr/>
        </p:nvSpPr>
        <p:spPr>
          <a:xfrm>
            <a:off x="640080" y="3291840"/>
            <a:ext cx="7589520" cy="1051560"/>
          </a:xfrm>
          <a:prstGeom prst="roundRect">
            <a:avLst>
              <a:gd name="adj" fmla="val 695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2" name="Shape 10"/>
          <p:cNvSpPr/>
          <p:nvPr/>
        </p:nvSpPr>
        <p:spPr>
          <a:xfrm>
            <a:off x="640080" y="3291840"/>
            <a:ext cx="137160" cy="1051560"/>
          </a:xfrm>
          <a:prstGeom prst="roundRect">
            <a:avLst>
              <a:gd name="adj" fmla="val 26667"/>
            </a:avLst>
          </a:prstGeom>
          <a:solidFill>
            <a:srgbClr val="02C39A"/>
          </a:solidFill>
          <a:ln/>
        </p:spPr>
      </p:sp>
      <p:sp>
        <p:nvSpPr>
          <p:cNvPr id="13" name="Text 11"/>
          <p:cNvSpPr/>
          <p:nvPr/>
        </p:nvSpPr>
        <p:spPr>
          <a:xfrm>
            <a:off x="960120" y="3438144"/>
            <a:ext cx="2926080" cy="457200"/>
          </a:xfrm>
          <a:prstGeom prst="rect">
            <a:avLst/>
          </a:prstGeom>
          <a:noFill/>
          <a:ln/>
        </p:spPr>
        <p:txBody>
          <a:bodyPr wrap="square" rtlCol="0" anchor="ctr"/>
          <a:lstStyle/>
          <a:p>
            <a:pPr indent="0" marL="0">
              <a:buNone/>
            </a:pPr>
            <a:r>
              <a:rPr lang="en-US" sz="1900" b="1" dirty="0">
                <a:solidFill>
                  <a:srgbClr val="16222E"/>
                </a:solidFill>
                <a:latin typeface="Georgia" pitchFamily="34" charset="0"/>
                <a:ea typeface="Georgia" pitchFamily="34" charset="-122"/>
                <a:cs typeface="Georgia" pitchFamily="34" charset="-120"/>
              </a:rPr>
              <a:t>Backend API</a:t>
            </a:r>
            <a:endParaRPr lang="en-US" sz="1900" dirty="0"/>
          </a:p>
        </p:txBody>
      </p:sp>
      <p:sp>
        <p:nvSpPr>
          <p:cNvPr id="14" name="Text 12"/>
          <p:cNvSpPr/>
          <p:nvPr/>
        </p:nvSpPr>
        <p:spPr>
          <a:xfrm>
            <a:off x="960120" y="3867912"/>
            <a:ext cx="566928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FastAPI 0.111 · Python 3.11 · ASGI · JWT · Pydantic</a:t>
            </a:r>
            <a:endParaRPr lang="en-US" sz="1250" dirty="0"/>
          </a:p>
        </p:txBody>
      </p:sp>
      <p:sp>
        <p:nvSpPr>
          <p:cNvPr id="15" name="Shape 13"/>
          <p:cNvSpPr/>
          <p:nvPr/>
        </p:nvSpPr>
        <p:spPr>
          <a:xfrm>
            <a:off x="6766560" y="3611880"/>
            <a:ext cx="1325880" cy="411480"/>
          </a:xfrm>
          <a:prstGeom prst="roundRect">
            <a:avLst>
              <a:gd name="adj" fmla="val 22222"/>
            </a:avLst>
          </a:prstGeom>
          <a:solidFill>
            <a:srgbClr val="02C39A"/>
          </a:solidFill>
          <a:ln/>
        </p:spPr>
      </p:sp>
      <p:sp>
        <p:nvSpPr>
          <p:cNvPr id="16" name="Text 14"/>
          <p:cNvSpPr/>
          <p:nvPr/>
        </p:nvSpPr>
        <p:spPr>
          <a:xfrm>
            <a:off x="6766560" y="3611880"/>
            <a:ext cx="1325880" cy="4114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Puerto 8000</a:t>
            </a:r>
            <a:endParaRPr lang="en-US" sz="1100" dirty="0"/>
          </a:p>
        </p:txBody>
      </p:sp>
      <p:sp>
        <p:nvSpPr>
          <p:cNvPr id="17" name="Shape 15"/>
          <p:cNvSpPr/>
          <p:nvPr/>
        </p:nvSpPr>
        <p:spPr>
          <a:xfrm>
            <a:off x="640080" y="4526280"/>
            <a:ext cx="7589520" cy="1051560"/>
          </a:xfrm>
          <a:prstGeom prst="roundRect">
            <a:avLst>
              <a:gd name="adj" fmla="val 695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8" name="Shape 16"/>
          <p:cNvSpPr/>
          <p:nvPr/>
        </p:nvSpPr>
        <p:spPr>
          <a:xfrm>
            <a:off x="640080" y="4526280"/>
            <a:ext cx="137160" cy="1051560"/>
          </a:xfrm>
          <a:prstGeom prst="roundRect">
            <a:avLst>
              <a:gd name="adj" fmla="val 26667"/>
            </a:avLst>
          </a:prstGeom>
          <a:solidFill>
            <a:srgbClr val="14395E"/>
          </a:solidFill>
          <a:ln/>
        </p:spPr>
      </p:sp>
      <p:sp>
        <p:nvSpPr>
          <p:cNvPr id="19" name="Text 17"/>
          <p:cNvSpPr/>
          <p:nvPr/>
        </p:nvSpPr>
        <p:spPr>
          <a:xfrm>
            <a:off x="960120" y="4672584"/>
            <a:ext cx="2926080" cy="457200"/>
          </a:xfrm>
          <a:prstGeom prst="rect">
            <a:avLst/>
          </a:prstGeom>
          <a:noFill/>
          <a:ln/>
        </p:spPr>
        <p:txBody>
          <a:bodyPr wrap="square" rtlCol="0" anchor="ctr"/>
          <a:lstStyle/>
          <a:p>
            <a:pPr indent="0" marL="0">
              <a:buNone/>
            </a:pPr>
            <a:r>
              <a:rPr lang="en-US" sz="1900" b="1" dirty="0">
                <a:solidFill>
                  <a:srgbClr val="16222E"/>
                </a:solidFill>
                <a:latin typeface="Georgia" pitchFamily="34" charset="0"/>
                <a:ea typeface="Georgia" pitchFamily="34" charset="-122"/>
                <a:cs typeface="Georgia" pitchFamily="34" charset="-120"/>
              </a:rPr>
              <a:t>Base de datos</a:t>
            </a:r>
            <a:endParaRPr lang="en-US" sz="1900" dirty="0"/>
          </a:p>
        </p:txBody>
      </p:sp>
      <p:sp>
        <p:nvSpPr>
          <p:cNvPr id="20" name="Text 18"/>
          <p:cNvSpPr/>
          <p:nvPr/>
        </p:nvSpPr>
        <p:spPr>
          <a:xfrm>
            <a:off x="960120" y="5102352"/>
            <a:ext cx="5669280" cy="365760"/>
          </a:xfrm>
          <a:prstGeom prst="rect">
            <a:avLst/>
          </a:prstGeom>
          <a:noFill/>
          <a:ln/>
        </p:spPr>
        <p:txBody>
          <a:bodyPr wrap="square" rtlCol="0" anchor="ctr"/>
          <a:lstStyle/>
          <a:p>
            <a:pPr indent="0" marL="0">
              <a:buNone/>
            </a:pPr>
            <a:r>
              <a:rPr lang="en-US" sz="1250" dirty="0">
                <a:solidFill>
                  <a:srgbClr val="4A5A68"/>
                </a:solidFill>
                <a:latin typeface="Calibri" pitchFamily="34" charset="0"/>
                <a:ea typeface="Calibri" pitchFamily="34" charset="-122"/>
                <a:cs typeface="Calibri" pitchFamily="34" charset="-120"/>
              </a:rPr>
              <a:t>PostgreSQL 15 · SQLAlchemy 2.0 · Alembic · 9 tablas</a:t>
            </a:r>
            <a:endParaRPr lang="en-US" sz="1250" dirty="0"/>
          </a:p>
        </p:txBody>
      </p:sp>
      <p:sp>
        <p:nvSpPr>
          <p:cNvPr id="21" name="Shape 19"/>
          <p:cNvSpPr/>
          <p:nvPr/>
        </p:nvSpPr>
        <p:spPr>
          <a:xfrm>
            <a:off x="6766560" y="4846320"/>
            <a:ext cx="1325880" cy="411480"/>
          </a:xfrm>
          <a:prstGeom prst="roundRect">
            <a:avLst>
              <a:gd name="adj" fmla="val 22222"/>
            </a:avLst>
          </a:prstGeom>
          <a:solidFill>
            <a:srgbClr val="14395E"/>
          </a:solidFill>
          <a:ln/>
        </p:spPr>
      </p:sp>
      <p:sp>
        <p:nvSpPr>
          <p:cNvPr id="22" name="Text 20"/>
          <p:cNvSpPr/>
          <p:nvPr/>
        </p:nvSpPr>
        <p:spPr>
          <a:xfrm>
            <a:off x="6766560" y="4846320"/>
            <a:ext cx="1325880" cy="4114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Puerto 5432</a:t>
            </a:r>
            <a:endParaRPr lang="en-US" sz="1100" dirty="0"/>
          </a:p>
        </p:txBody>
      </p:sp>
      <p:sp>
        <p:nvSpPr>
          <p:cNvPr id="23" name="Shape 21"/>
          <p:cNvSpPr/>
          <p:nvPr/>
        </p:nvSpPr>
        <p:spPr>
          <a:xfrm>
            <a:off x="8549640" y="2057400"/>
            <a:ext cx="2971800" cy="3703320"/>
          </a:xfrm>
          <a:prstGeom prst="roundRect">
            <a:avLst>
              <a:gd name="adj" fmla="val 3077"/>
            </a:avLst>
          </a:prstGeom>
          <a:solidFill>
            <a:srgbClr val="0D2B45"/>
          </a:solidFill>
          <a:ln/>
        </p:spPr>
      </p:sp>
      <p:sp>
        <p:nvSpPr>
          <p:cNvPr id="24" name="Text 22"/>
          <p:cNvSpPr/>
          <p:nvPr/>
        </p:nvSpPr>
        <p:spPr>
          <a:xfrm>
            <a:off x="8778240" y="2258568"/>
            <a:ext cx="2560320" cy="36576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STACK CLAVE</a:t>
            </a:r>
            <a:endParaRPr lang="en-US" sz="1200" dirty="0"/>
          </a:p>
        </p:txBody>
      </p:sp>
      <p:sp>
        <p:nvSpPr>
          <p:cNvPr id="25" name="Text 23"/>
          <p:cNvSpPr/>
          <p:nvPr/>
        </p:nvSpPr>
        <p:spPr>
          <a:xfrm>
            <a:off x="8778240" y="2743200"/>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9052560" y="2743200"/>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scikit-learn — TF-IDF + SVM</a:t>
            </a:r>
            <a:endParaRPr lang="en-US" sz="1150" dirty="0"/>
          </a:p>
        </p:txBody>
      </p:sp>
      <p:sp>
        <p:nvSpPr>
          <p:cNvPr id="27" name="Text 25"/>
          <p:cNvSpPr/>
          <p:nvPr/>
        </p:nvSpPr>
        <p:spPr>
          <a:xfrm>
            <a:off x="8778240" y="3218688"/>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9052560" y="3218688"/>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Prophet — series temporales</a:t>
            </a:r>
            <a:endParaRPr lang="en-US" sz="1150" dirty="0"/>
          </a:p>
        </p:txBody>
      </p:sp>
      <p:sp>
        <p:nvSpPr>
          <p:cNvPr id="29" name="Text 27"/>
          <p:cNvSpPr/>
          <p:nvPr/>
        </p:nvSpPr>
        <p:spPr>
          <a:xfrm>
            <a:off x="8778240" y="3694176"/>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30" name="Text 28"/>
          <p:cNvSpPr/>
          <p:nvPr/>
        </p:nvSpPr>
        <p:spPr>
          <a:xfrm>
            <a:off x="9052560" y="3694176"/>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ReportLab — PDF programático</a:t>
            </a:r>
            <a:endParaRPr lang="en-US" sz="1150" dirty="0"/>
          </a:p>
        </p:txBody>
      </p:sp>
      <p:sp>
        <p:nvSpPr>
          <p:cNvPr id="31" name="Text 29"/>
          <p:cNvSpPr/>
          <p:nvPr/>
        </p:nvSpPr>
        <p:spPr>
          <a:xfrm>
            <a:off x="8778240" y="4169664"/>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32" name="Text 30"/>
          <p:cNvSpPr/>
          <p:nvPr/>
        </p:nvSpPr>
        <p:spPr>
          <a:xfrm>
            <a:off x="9052560" y="4169664"/>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Groq — solo datos agregados</a:t>
            </a:r>
            <a:endParaRPr lang="en-US" sz="1150" dirty="0"/>
          </a:p>
        </p:txBody>
      </p:sp>
      <p:sp>
        <p:nvSpPr>
          <p:cNvPr id="33" name="Text 31"/>
          <p:cNvSpPr/>
          <p:nvPr/>
        </p:nvSpPr>
        <p:spPr>
          <a:xfrm>
            <a:off x="8778240" y="4645152"/>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34" name="Text 32"/>
          <p:cNvSpPr/>
          <p:nvPr/>
        </p:nvSpPr>
        <p:spPr>
          <a:xfrm>
            <a:off x="9052560" y="4645152"/>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Docker Compose</a:t>
            </a:r>
            <a:endParaRPr lang="en-US" sz="1150" dirty="0"/>
          </a:p>
        </p:txBody>
      </p:sp>
      <p:sp>
        <p:nvSpPr>
          <p:cNvPr id="35" name="Text 33"/>
          <p:cNvSpPr/>
          <p:nvPr/>
        </p:nvSpPr>
        <p:spPr>
          <a:xfrm>
            <a:off x="8778240" y="5120640"/>
            <a:ext cx="27432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a:t>
            </a:r>
            <a:endParaRPr lang="en-US" sz="1500" dirty="0"/>
          </a:p>
        </p:txBody>
      </p:sp>
      <p:sp>
        <p:nvSpPr>
          <p:cNvPr id="36" name="Text 34"/>
          <p:cNvSpPr/>
          <p:nvPr/>
        </p:nvSpPr>
        <p:spPr>
          <a:xfrm>
            <a:off x="9052560" y="5120640"/>
            <a:ext cx="2377440" cy="41148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pytest — 390 pruebas</a:t>
            </a:r>
            <a:endParaRPr lang="en-US" sz="1150" dirty="0"/>
          </a:p>
        </p:txBody>
      </p:sp>
      <p:sp>
        <p:nvSpPr>
          <p:cNvPr id="37" name="Text 35"/>
          <p:cNvSpPr/>
          <p:nvPr/>
        </p:nvSpPr>
        <p:spPr>
          <a:xfrm>
            <a:off x="640080" y="5943600"/>
            <a:ext cx="10881360" cy="411480"/>
          </a:xfrm>
          <a:prstGeom prst="rect">
            <a:avLst/>
          </a:prstGeom>
          <a:noFill/>
          <a:ln/>
        </p:spPr>
        <p:txBody>
          <a:bodyPr wrap="square" rtlCol="0" anchor="ctr"/>
          <a:lstStyle/>
          <a:p>
            <a:pPr algn="ctr" indent="0" marL="0">
              <a:buNone/>
            </a:pPr>
            <a:r>
              <a:rPr lang="en-US" sz="1250" i="1" dirty="0">
                <a:solidFill>
                  <a:srgbClr val="1C7293"/>
                </a:solidFill>
                <a:latin typeface="Calibri" pitchFamily="34" charset="0"/>
                <a:ea typeface="Calibri" pitchFamily="34" charset="-122"/>
                <a:cs typeface="Calibri" pitchFamily="34" charset="-120"/>
              </a:rPr>
              <a:t>Orquestados con Docker Compose. Todo el stack es software de código abierto: costo de licencias nulo.</a:t>
            </a:r>
            <a:endParaRPr lang="en-US" sz="1250" dirty="0"/>
          </a:p>
        </p:txBody>
      </p:sp>
      <p:sp>
        <p:nvSpPr>
          <p:cNvPr id="38" name="Text 36"/>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9" name="Text 3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ARQUITECTURA EN CAPAS</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25:00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Un router no calcula nada</a:t>
            </a:r>
            <a:endParaRPr lang="en-US" sz="3200" dirty="0"/>
          </a:p>
        </p:txBody>
      </p:sp>
      <p:sp>
        <p:nvSpPr>
          <p:cNvPr id="5" name="Shape 3"/>
          <p:cNvSpPr/>
          <p:nvPr/>
        </p:nvSpPr>
        <p:spPr>
          <a:xfrm>
            <a:off x="640080" y="1920240"/>
            <a:ext cx="7223760" cy="777240"/>
          </a:xfrm>
          <a:prstGeom prst="roundRect">
            <a:avLst>
              <a:gd name="adj" fmla="val 9412"/>
            </a:avLst>
          </a:prstGeom>
          <a:solidFill>
            <a:srgbClr val="14395E"/>
          </a:solidFill>
          <a:ln/>
        </p:spPr>
      </p:sp>
      <p:sp>
        <p:nvSpPr>
          <p:cNvPr id="6" name="Text 4"/>
          <p:cNvSpPr/>
          <p:nvPr/>
        </p:nvSpPr>
        <p:spPr>
          <a:xfrm>
            <a:off x="914400" y="1920240"/>
            <a:ext cx="1554480" cy="777240"/>
          </a:xfrm>
          <a:prstGeom prst="rect">
            <a:avLst/>
          </a:prstGeom>
          <a:noFill/>
          <a:ln/>
        </p:spPr>
        <p:txBody>
          <a:bodyPr wrap="square" rtlCol="0" anchor="ctr"/>
          <a:lstStyle/>
          <a:p>
            <a:pPr indent="0" marL="0">
              <a:buNone/>
            </a:pPr>
            <a:r>
              <a:rPr lang="en-US" sz="1600" b="1" dirty="0">
                <a:solidFill>
                  <a:srgbClr val="FFFFFF"/>
                </a:solidFill>
                <a:latin typeface="Consolas" pitchFamily="34" charset="0"/>
                <a:ea typeface="Consolas" pitchFamily="34" charset="-122"/>
                <a:cs typeface="Consolas" pitchFamily="34" charset="-120"/>
              </a:rPr>
              <a:t>routers/</a:t>
            </a:r>
            <a:endParaRPr lang="en-US" sz="1600" dirty="0"/>
          </a:p>
        </p:txBody>
      </p:sp>
      <p:sp>
        <p:nvSpPr>
          <p:cNvPr id="7" name="Text 5"/>
          <p:cNvSpPr/>
          <p:nvPr/>
        </p:nvSpPr>
        <p:spPr>
          <a:xfrm>
            <a:off x="2423160" y="1920240"/>
            <a:ext cx="1188720" cy="7772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12 archivos</a:t>
            </a:r>
            <a:endParaRPr lang="en-US" sz="1150" dirty="0"/>
          </a:p>
        </p:txBody>
      </p:sp>
      <p:sp>
        <p:nvSpPr>
          <p:cNvPr id="8" name="Text 6"/>
          <p:cNvSpPr/>
          <p:nvPr/>
        </p:nvSpPr>
        <p:spPr>
          <a:xfrm>
            <a:off x="3657600" y="1920240"/>
            <a:ext cx="4023360" cy="77724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HTTP: rutas, códigos de estado y permisos</a:t>
            </a:r>
            <a:endParaRPr lang="en-US" sz="1250" dirty="0"/>
          </a:p>
        </p:txBody>
      </p:sp>
      <p:sp>
        <p:nvSpPr>
          <p:cNvPr id="9" name="Text 7"/>
          <p:cNvSpPr/>
          <p:nvPr/>
        </p:nvSpPr>
        <p:spPr>
          <a:xfrm>
            <a:off x="4023360" y="2679192"/>
            <a:ext cx="365760" cy="182880"/>
          </a:xfrm>
          <a:prstGeom prst="rect">
            <a:avLst/>
          </a:prstGeom>
          <a:noFill/>
          <a:ln/>
        </p:spPr>
        <p:txBody>
          <a:bodyPr wrap="square" rtlCol="0" anchor="ctr"/>
          <a:lstStyle/>
          <a:p>
            <a:pPr algn="ctr" indent="0" marL="0">
              <a:buNone/>
            </a:pPr>
            <a:r>
              <a:rPr lang="en-US" sz="1300" dirty="0">
                <a:solidFill>
                  <a:srgbClr val="8FA3B5"/>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640080" y="2852928"/>
            <a:ext cx="7223760" cy="777240"/>
          </a:xfrm>
          <a:prstGeom prst="roundRect">
            <a:avLst>
              <a:gd name="adj" fmla="val 9412"/>
            </a:avLst>
          </a:prstGeom>
          <a:solidFill>
            <a:srgbClr val="14395E"/>
          </a:solidFill>
          <a:ln/>
        </p:spPr>
      </p:sp>
      <p:sp>
        <p:nvSpPr>
          <p:cNvPr id="11" name="Text 9"/>
          <p:cNvSpPr/>
          <p:nvPr/>
        </p:nvSpPr>
        <p:spPr>
          <a:xfrm>
            <a:off x="914400" y="2852928"/>
            <a:ext cx="1554480" cy="777240"/>
          </a:xfrm>
          <a:prstGeom prst="rect">
            <a:avLst/>
          </a:prstGeom>
          <a:noFill/>
          <a:ln/>
        </p:spPr>
        <p:txBody>
          <a:bodyPr wrap="square" rtlCol="0" anchor="ctr"/>
          <a:lstStyle/>
          <a:p>
            <a:pPr indent="0" marL="0">
              <a:buNone/>
            </a:pPr>
            <a:r>
              <a:rPr lang="en-US" sz="1600" b="1" dirty="0">
                <a:solidFill>
                  <a:srgbClr val="FFFFFF"/>
                </a:solidFill>
                <a:latin typeface="Consolas" pitchFamily="34" charset="0"/>
                <a:ea typeface="Consolas" pitchFamily="34" charset="-122"/>
                <a:cs typeface="Consolas" pitchFamily="34" charset="-120"/>
              </a:rPr>
              <a:t>schemas/</a:t>
            </a:r>
            <a:endParaRPr lang="en-US" sz="1600" dirty="0"/>
          </a:p>
        </p:txBody>
      </p:sp>
      <p:sp>
        <p:nvSpPr>
          <p:cNvPr id="12" name="Text 10"/>
          <p:cNvSpPr/>
          <p:nvPr/>
        </p:nvSpPr>
        <p:spPr>
          <a:xfrm>
            <a:off x="2423160" y="2852928"/>
            <a:ext cx="1188720" cy="7772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6 archivos</a:t>
            </a:r>
            <a:endParaRPr lang="en-US" sz="1150" dirty="0"/>
          </a:p>
        </p:txBody>
      </p:sp>
      <p:sp>
        <p:nvSpPr>
          <p:cNvPr id="13" name="Text 11"/>
          <p:cNvSpPr/>
          <p:nvPr/>
        </p:nvSpPr>
        <p:spPr>
          <a:xfrm>
            <a:off x="3657600" y="2852928"/>
            <a:ext cx="4023360" cy="77724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DTO: validación de entrada y salida con Pydantic</a:t>
            </a:r>
            <a:endParaRPr lang="en-US" sz="1250" dirty="0"/>
          </a:p>
        </p:txBody>
      </p:sp>
      <p:sp>
        <p:nvSpPr>
          <p:cNvPr id="14" name="Text 12"/>
          <p:cNvSpPr/>
          <p:nvPr/>
        </p:nvSpPr>
        <p:spPr>
          <a:xfrm>
            <a:off x="4023360" y="3611880"/>
            <a:ext cx="365760" cy="182880"/>
          </a:xfrm>
          <a:prstGeom prst="rect">
            <a:avLst/>
          </a:prstGeom>
          <a:noFill/>
          <a:ln/>
        </p:spPr>
        <p:txBody>
          <a:bodyPr wrap="square" rtlCol="0" anchor="ctr"/>
          <a:lstStyle/>
          <a:p>
            <a:pPr algn="ctr" indent="0" marL="0">
              <a:buNone/>
            </a:pPr>
            <a:r>
              <a:rPr lang="en-US" sz="1300" dirty="0">
                <a:solidFill>
                  <a:srgbClr val="8FA3B5"/>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640080" y="3785616"/>
            <a:ext cx="7223760" cy="777240"/>
          </a:xfrm>
          <a:prstGeom prst="roundRect">
            <a:avLst>
              <a:gd name="adj" fmla="val 9412"/>
            </a:avLst>
          </a:prstGeom>
          <a:solidFill>
            <a:srgbClr val="02C39A"/>
          </a:solidFill>
          <a:ln/>
        </p:spPr>
      </p:sp>
      <p:sp>
        <p:nvSpPr>
          <p:cNvPr id="16" name="Text 14"/>
          <p:cNvSpPr/>
          <p:nvPr/>
        </p:nvSpPr>
        <p:spPr>
          <a:xfrm>
            <a:off x="914400" y="3785616"/>
            <a:ext cx="1554480" cy="777240"/>
          </a:xfrm>
          <a:prstGeom prst="rect">
            <a:avLst/>
          </a:prstGeom>
          <a:noFill/>
          <a:ln/>
        </p:spPr>
        <p:txBody>
          <a:bodyPr wrap="square" rtlCol="0" anchor="ctr"/>
          <a:lstStyle/>
          <a:p>
            <a:pPr indent="0" marL="0">
              <a:buNone/>
            </a:pPr>
            <a:r>
              <a:rPr lang="en-US" sz="1600" b="1" dirty="0">
                <a:solidFill>
                  <a:srgbClr val="0D2B45"/>
                </a:solidFill>
                <a:latin typeface="Consolas" pitchFamily="34" charset="0"/>
                <a:ea typeface="Consolas" pitchFamily="34" charset="-122"/>
                <a:cs typeface="Consolas" pitchFamily="34" charset="-120"/>
              </a:rPr>
              <a:t>services/</a:t>
            </a:r>
            <a:endParaRPr lang="en-US" sz="1600" dirty="0"/>
          </a:p>
        </p:txBody>
      </p:sp>
      <p:sp>
        <p:nvSpPr>
          <p:cNvPr id="17" name="Text 15"/>
          <p:cNvSpPr/>
          <p:nvPr/>
        </p:nvSpPr>
        <p:spPr>
          <a:xfrm>
            <a:off x="2423160" y="3785616"/>
            <a:ext cx="1188720" cy="777240"/>
          </a:xfrm>
          <a:prstGeom prst="rect">
            <a:avLst/>
          </a:prstGeom>
          <a:noFill/>
          <a:ln/>
        </p:spPr>
        <p:txBody>
          <a:bodyPr wrap="square" rtlCol="0" anchor="ctr"/>
          <a:lstStyle/>
          <a:p>
            <a:pPr indent="0" marL="0">
              <a:buNone/>
            </a:pPr>
            <a:r>
              <a:rPr lang="en-US" sz="1150" dirty="0">
                <a:solidFill>
                  <a:srgbClr val="14395E"/>
                </a:solidFill>
                <a:latin typeface="Calibri" pitchFamily="34" charset="0"/>
                <a:ea typeface="Calibri" pitchFamily="34" charset="-122"/>
                <a:cs typeface="Calibri" pitchFamily="34" charset="-120"/>
              </a:rPr>
              <a:t>15 archivos</a:t>
            </a:r>
            <a:endParaRPr lang="en-US" sz="1150" dirty="0"/>
          </a:p>
        </p:txBody>
      </p:sp>
      <p:sp>
        <p:nvSpPr>
          <p:cNvPr id="18" name="Text 16"/>
          <p:cNvSpPr/>
          <p:nvPr/>
        </p:nvSpPr>
        <p:spPr>
          <a:xfrm>
            <a:off x="3657600" y="3785616"/>
            <a:ext cx="4023360" cy="777240"/>
          </a:xfrm>
          <a:prstGeom prst="rect">
            <a:avLst/>
          </a:prstGeom>
          <a:noFill/>
          <a:ln/>
        </p:spPr>
        <p:txBody>
          <a:bodyPr wrap="square" rtlCol="0" anchor="ctr"/>
          <a:lstStyle/>
          <a:p>
            <a:pPr indent="0" marL="0">
              <a:buNone/>
            </a:pPr>
            <a:r>
              <a:rPr lang="en-US" sz="1250" dirty="0">
                <a:solidFill>
                  <a:srgbClr val="0D2B45"/>
                </a:solidFill>
                <a:latin typeface="Calibri" pitchFamily="34" charset="0"/>
                <a:ea typeface="Calibri" pitchFamily="34" charset="-122"/>
                <a:cs typeface="Calibri" pitchFamily="34" charset="-120"/>
              </a:rPr>
              <a:t>LÓGICA DE NEGOCIO — el corazón del trabajo</a:t>
            </a:r>
            <a:endParaRPr lang="en-US" sz="1250" dirty="0"/>
          </a:p>
        </p:txBody>
      </p:sp>
      <p:sp>
        <p:nvSpPr>
          <p:cNvPr id="19" name="Text 17"/>
          <p:cNvSpPr/>
          <p:nvPr/>
        </p:nvSpPr>
        <p:spPr>
          <a:xfrm>
            <a:off x="4023360" y="4544568"/>
            <a:ext cx="365760" cy="182880"/>
          </a:xfrm>
          <a:prstGeom prst="rect">
            <a:avLst/>
          </a:prstGeom>
          <a:noFill/>
          <a:ln/>
        </p:spPr>
        <p:txBody>
          <a:bodyPr wrap="square" rtlCol="0" anchor="ctr"/>
          <a:lstStyle/>
          <a:p>
            <a:pPr algn="ctr" indent="0" marL="0">
              <a:buNone/>
            </a:pPr>
            <a:r>
              <a:rPr lang="en-US" sz="1300" dirty="0">
                <a:solidFill>
                  <a:srgbClr val="8FA3B5"/>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640080" y="4718304"/>
            <a:ext cx="7223760" cy="777240"/>
          </a:xfrm>
          <a:prstGeom prst="roundRect">
            <a:avLst>
              <a:gd name="adj" fmla="val 9412"/>
            </a:avLst>
          </a:prstGeom>
          <a:solidFill>
            <a:srgbClr val="14395E"/>
          </a:solidFill>
          <a:ln/>
        </p:spPr>
      </p:sp>
      <p:sp>
        <p:nvSpPr>
          <p:cNvPr id="21" name="Text 19"/>
          <p:cNvSpPr/>
          <p:nvPr/>
        </p:nvSpPr>
        <p:spPr>
          <a:xfrm>
            <a:off x="914400" y="4718304"/>
            <a:ext cx="1554480" cy="777240"/>
          </a:xfrm>
          <a:prstGeom prst="rect">
            <a:avLst/>
          </a:prstGeom>
          <a:noFill/>
          <a:ln/>
        </p:spPr>
        <p:txBody>
          <a:bodyPr wrap="square" rtlCol="0" anchor="ctr"/>
          <a:lstStyle/>
          <a:p>
            <a:pPr indent="0" marL="0">
              <a:buNone/>
            </a:pPr>
            <a:r>
              <a:rPr lang="en-US" sz="1600" b="1" dirty="0">
                <a:solidFill>
                  <a:srgbClr val="FFFFFF"/>
                </a:solidFill>
                <a:latin typeface="Consolas" pitchFamily="34" charset="0"/>
                <a:ea typeface="Consolas" pitchFamily="34" charset="-122"/>
                <a:cs typeface="Consolas" pitchFamily="34" charset="-120"/>
              </a:rPr>
              <a:t>models/</a:t>
            </a:r>
            <a:endParaRPr lang="en-US" sz="1600" dirty="0"/>
          </a:p>
        </p:txBody>
      </p:sp>
      <p:sp>
        <p:nvSpPr>
          <p:cNvPr id="22" name="Text 20"/>
          <p:cNvSpPr/>
          <p:nvPr/>
        </p:nvSpPr>
        <p:spPr>
          <a:xfrm>
            <a:off x="2423160" y="4718304"/>
            <a:ext cx="1188720" cy="7772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9 archivos</a:t>
            </a:r>
            <a:endParaRPr lang="en-US" sz="1150" dirty="0"/>
          </a:p>
        </p:txBody>
      </p:sp>
      <p:sp>
        <p:nvSpPr>
          <p:cNvPr id="23" name="Text 21"/>
          <p:cNvSpPr/>
          <p:nvPr/>
        </p:nvSpPr>
        <p:spPr>
          <a:xfrm>
            <a:off x="3657600" y="4718304"/>
            <a:ext cx="4023360" cy="77724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ORM: mapeo objeto-relacional con SQLAlchemy</a:t>
            </a:r>
            <a:endParaRPr lang="en-US" sz="1250" dirty="0"/>
          </a:p>
        </p:txBody>
      </p:sp>
      <p:sp>
        <p:nvSpPr>
          <p:cNvPr id="24" name="Shape 22"/>
          <p:cNvSpPr/>
          <p:nvPr/>
        </p:nvSpPr>
        <p:spPr>
          <a:xfrm>
            <a:off x="8092440" y="1920240"/>
            <a:ext cx="3429000" cy="3566160"/>
          </a:xfrm>
          <a:prstGeom prst="roundRect">
            <a:avLst>
              <a:gd name="adj" fmla="val 2667"/>
            </a:avLst>
          </a:prstGeom>
          <a:solidFill>
            <a:srgbClr val="14395E"/>
          </a:solidFill>
          <a:ln w="12700">
            <a:solidFill>
              <a:srgbClr val="1C7293"/>
            </a:solidFill>
            <a:prstDash val="solid"/>
          </a:ln>
        </p:spPr>
      </p:sp>
      <p:sp>
        <p:nvSpPr>
          <p:cNvPr id="25" name="Text 23"/>
          <p:cNvSpPr/>
          <p:nvPr/>
        </p:nvSpPr>
        <p:spPr>
          <a:xfrm>
            <a:off x="8366760" y="2121408"/>
            <a:ext cx="2926080" cy="320040"/>
          </a:xfrm>
          <a:prstGeom prst="rect">
            <a:avLst/>
          </a:prstGeom>
          <a:noFill/>
          <a:ln/>
        </p:spPr>
        <p:txBody>
          <a:bodyPr wrap="square"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QUÉ ME DIO</a:t>
            </a:r>
            <a:endParaRPr lang="en-US" sz="1150" dirty="0"/>
          </a:p>
        </p:txBody>
      </p:sp>
      <p:sp>
        <p:nvSpPr>
          <p:cNvPr id="26" name="Text 24"/>
          <p:cNvSpPr/>
          <p:nvPr/>
        </p:nvSpPr>
        <p:spPr>
          <a:xfrm>
            <a:off x="8366760" y="2560320"/>
            <a:ext cx="2926080" cy="3200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Testeabilidad</a:t>
            </a:r>
            <a:endParaRPr lang="en-US" sz="1450" dirty="0"/>
          </a:p>
        </p:txBody>
      </p:sp>
      <p:sp>
        <p:nvSpPr>
          <p:cNvPr id="27" name="Text 25"/>
          <p:cNvSpPr/>
          <p:nvPr/>
        </p:nvSpPr>
        <p:spPr>
          <a:xfrm>
            <a:off x="8366760" y="2871216"/>
            <a:ext cx="2926080" cy="5943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390 pruebas contra SQLite en memoria, sin levantar HTTP. Unos 2 minutos.</a:t>
            </a:r>
            <a:endParaRPr lang="en-US" sz="1100" dirty="0"/>
          </a:p>
        </p:txBody>
      </p:sp>
      <p:sp>
        <p:nvSpPr>
          <p:cNvPr id="28" name="Text 26"/>
          <p:cNvSpPr/>
          <p:nvPr/>
        </p:nvSpPr>
        <p:spPr>
          <a:xfrm>
            <a:off x="8366760" y="3520440"/>
            <a:ext cx="2926080" cy="3200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Reutilización</a:t>
            </a:r>
            <a:endParaRPr lang="en-US" sz="1450" dirty="0"/>
          </a:p>
        </p:txBody>
      </p:sp>
      <p:sp>
        <p:nvSpPr>
          <p:cNvPr id="29" name="Text 27"/>
          <p:cNvSpPr/>
          <p:nvPr/>
        </p:nvSpPr>
        <p:spPr>
          <a:xfrm>
            <a:off x="8366760" y="3831336"/>
            <a:ext cx="2926080" cy="5943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La regla de la cuota la usan el módulo fiscal y la auditoría.</a:t>
            </a:r>
            <a:endParaRPr lang="en-US" sz="1100" dirty="0"/>
          </a:p>
        </p:txBody>
      </p:sp>
      <p:sp>
        <p:nvSpPr>
          <p:cNvPr id="30" name="Text 28"/>
          <p:cNvSpPr/>
          <p:nvPr/>
        </p:nvSpPr>
        <p:spPr>
          <a:xfrm>
            <a:off x="8366760" y="4480560"/>
            <a:ext cx="2926080" cy="3200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Un solo lugar</a:t>
            </a:r>
            <a:endParaRPr lang="en-US" sz="1450" dirty="0"/>
          </a:p>
        </p:txBody>
      </p:sp>
      <p:sp>
        <p:nvSpPr>
          <p:cNvPr id="31" name="Text 29"/>
          <p:cNvSpPr/>
          <p:nvPr/>
        </p:nvSpPr>
        <p:spPr>
          <a:xfrm>
            <a:off x="8366760" y="4791456"/>
            <a:ext cx="2926080" cy="5943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El formato de moneda lo comparten las alertas y el PDF.</a:t>
            </a:r>
            <a:endParaRPr lang="en-US" sz="1100" dirty="0"/>
          </a:p>
        </p:txBody>
      </p:sp>
      <p:sp>
        <p:nvSpPr>
          <p:cNvPr id="32" name="Shape 30"/>
          <p:cNvSpPr/>
          <p:nvPr/>
        </p:nvSpPr>
        <p:spPr>
          <a:xfrm>
            <a:off x="640080" y="5669280"/>
            <a:ext cx="10881360" cy="777240"/>
          </a:xfrm>
          <a:prstGeom prst="roundRect">
            <a:avLst>
              <a:gd name="adj" fmla="val 9412"/>
            </a:avLst>
          </a:prstGeom>
          <a:solidFill>
            <a:srgbClr val="14395E"/>
          </a:solidFill>
          <a:ln w="12700">
            <a:solidFill>
              <a:srgbClr val="D14D4D"/>
            </a:solidFill>
            <a:prstDash val="solid"/>
          </a:ln>
        </p:spPr>
      </p:sp>
      <p:sp>
        <p:nvSpPr>
          <p:cNvPr id="33" name="Text 31"/>
          <p:cNvSpPr/>
          <p:nvPr/>
        </p:nvSpPr>
        <p:spPr>
          <a:xfrm>
            <a:off x="914400" y="5669280"/>
            <a:ext cx="10332720" cy="77724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Alternativa descartada:  un monolito con la lógica en las vistas. El núcleo del trabajo es la lógica financiera y de ML: necesitaba estar aislada y probada, no acoplada al ciclo de un request HTTP.</a:t>
            </a:r>
            <a:endParaRPr lang="en-US" sz="1250" dirty="0"/>
          </a:p>
        </p:txBody>
      </p:sp>
      <p:sp>
        <p:nvSpPr>
          <p:cNvPr id="34" name="Text 32"/>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5" name="Text 3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MAPA DE MÓDULOS</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26:00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Dónde se maneja cada cosa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3108960"/>
                <a:gridCol w="2194560"/>
                <a:gridCol w="3017520"/>
                <a:gridCol w="25603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Funcionalidad</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D2B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Router</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D2B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Servicio</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D2B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Modelo</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0D2B45"/>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Registro y login</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auth</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auth</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usuario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Ingresos</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ingresos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ingreso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Gastos + clasificación</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gastos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ia → ml_service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gasto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Facturas</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facturas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factura</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Auditoría</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alertas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auditoria</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alerta_auditoria</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Proyecciones</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proyecciones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prophet_service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proyeccion</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Importación CSV / Excel</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importar</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csv_service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ingreso + gasto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Monotributo</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monotributo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monotributo_service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categoria_monotributo</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Clasificador (playground)</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ml</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ml_service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modelo_clasificador</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Resumen IA</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resumen</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ia_service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Recomendaciones</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recomendaciones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recomendaciones_service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22E"/>
                          </a:solidFill>
                          <a:latin typeface="Calibri" pitchFamily="34" charset="0"/>
                          <a:ea typeface="Calibri" pitchFamily="34" charset="-122"/>
                          <a:cs typeface="Calibri" pitchFamily="34" charset="-120"/>
                        </a:rPr>
                        <a:t>Reporte PDF</a:t>
                      </a:r>
                      <a:endParaRPr lang="en-US" sz="12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reportes</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reportes_service</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c>
                  <a:txBody>
                    <a:bodyPr/>
                    <a:lstStyle/>
                    <a:p>
                      <a:pPr indent="0" marL="0">
                        <a:buNone/>
                      </a:pPr>
                      <a:r>
                        <a:rPr lang="en-US" sz="1200" dirty="0">
                          <a:solidFill>
                            <a:srgbClr val="4A5A68"/>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EDF2F7"/>
                    </a:solidFill>
                  </a:tcPr>
                </a:tc>
              </a:tr>
            </a:tbl>
          </a:graphicData>
        </a:graphic>
      </p:graphicFrame>
      <p:sp>
        <p:nvSpPr>
          <p:cNvPr id="6" name="Text 3"/>
          <p:cNvSpPr/>
          <p:nvPr/>
        </p:nvSpPr>
        <p:spPr>
          <a:xfrm>
            <a:off x="640080" y="6080760"/>
            <a:ext cx="10881360" cy="411480"/>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8.063 líneas de backend  ·  5.344 de frontend  ·  390 pruebas  ·  9 tablas  ·  13 pantallas</a:t>
            </a:r>
            <a:endParaRPr lang="en-US" sz="1300" dirty="0"/>
          </a:p>
        </p:txBody>
      </p:sp>
      <p:sp>
        <p:nvSpPr>
          <p:cNvPr id="7" name="Text 4"/>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PATRONES DE DISEÑO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26:30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32 decisiones anotadas en el código</a:t>
            </a:r>
            <a:endParaRPr lang="en-US" sz="3200" dirty="0"/>
          </a:p>
        </p:txBody>
      </p:sp>
      <p:sp>
        <p:nvSpPr>
          <p:cNvPr id="5" name="Shape 3"/>
          <p:cNvSpPr/>
          <p:nvPr/>
        </p:nvSpPr>
        <p:spPr>
          <a:xfrm>
            <a:off x="640080" y="1828800"/>
            <a:ext cx="10881360" cy="731520"/>
          </a:xfrm>
          <a:prstGeom prst="roundRect">
            <a:avLst>
              <a:gd name="adj" fmla="val 10000"/>
            </a:avLst>
          </a:prstGeom>
          <a:solidFill>
            <a:srgbClr val="0B1B2B"/>
          </a:solidFill>
          <a:ln w="12700">
            <a:solidFill>
              <a:srgbClr val="02C39A"/>
            </a:solidFill>
            <a:prstDash val="solid"/>
          </a:ln>
        </p:spPr>
      </p:sp>
      <p:sp>
        <p:nvSpPr>
          <p:cNvPr id="6" name="Text 4"/>
          <p:cNvSpPr/>
          <p:nvPr/>
        </p:nvSpPr>
        <p:spPr>
          <a:xfrm>
            <a:off x="960120" y="1828800"/>
            <a:ext cx="6400800" cy="731520"/>
          </a:xfrm>
          <a:prstGeom prst="rect">
            <a:avLst/>
          </a:prstGeom>
          <a:noFill/>
          <a:ln/>
        </p:spPr>
        <p:txBody>
          <a:bodyPr wrap="square" rtlCol="0" anchor="ctr"/>
          <a:lstStyle/>
          <a:p>
            <a:pPr indent="0" marL="0">
              <a:buNone/>
            </a:pPr>
            <a:r>
              <a:rPr lang="en-US" sz="1600" dirty="0">
                <a:solidFill>
                  <a:srgbClr val="02C39A"/>
                </a:solidFill>
                <a:latin typeface="Consolas" pitchFamily="34" charset="0"/>
                <a:ea typeface="Consolas" pitchFamily="34" charset="-122"/>
                <a:cs typeface="Consolas" pitchFamily="34" charset="-120"/>
              </a:rPr>
              <a:t>grep -rn "PATRÓN:" app frontend/src</a:t>
            </a:r>
            <a:endParaRPr lang="en-US" sz="1600" dirty="0"/>
          </a:p>
        </p:txBody>
      </p:sp>
      <p:sp>
        <p:nvSpPr>
          <p:cNvPr id="7" name="Text 5"/>
          <p:cNvSpPr/>
          <p:nvPr/>
        </p:nvSpPr>
        <p:spPr>
          <a:xfrm>
            <a:off x="7498080" y="1828800"/>
            <a:ext cx="3840480" cy="73152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32 resultados en 16 archivos</a:t>
            </a:r>
            <a:endParaRPr lang="en-US" sz="1400" dirty="0"/>
          </a:p>
        </p:txBody>
      </p:sp>
      <p:sp>
        <p:nvSpPr>
          <p:cNvPr id="8" name="Shape 6"/>
          <p:cNvSpPr/>
          <p:nvPr/>
        </p:nvSpPr>
        <p:spPr>
          <a:xfrm>
            <a:off x="640080" y="2788920"/>
            <a:ext cx="2606040" cy="713232"/>
          </a:xfrm>
          <a:prstGeom prst="roundRect">
            <a:avLst>
              <a:gd name="adj" fmla="val 7692"/>
            </a:avLst>
          </a:prstGeom>
          <a:solidFill>
            <a:srgbClr val="14395E"/>
          </a:solidFill>
          <a:ln w="22860">
            <a:solidFill>
              <a:srgbClr val="02C39A"/>
            </a:solidFill>
            <a:prstDash val="solid"/>
          </a:ln>
        </p:spPr>
      </p:sp>
      <p:sp>
        <p:nvSpPr>
          <p:cNvPr id="9" name="Text 7"/>
          <p:cNvSpPr/>
          <p:nvPr/>
        </p:nvSpPr>
        <p:spPr>
          <a:xfrm>
            <a:off x="804672" y="2843784"/>
            <a:ext cx="2331720" cy="329184"/>
          </a:xfrm>
          <a:prstGeom prst="rect">
            <a:avLst/>
          </a:prstGeom>
          <a:noFill/>
          <a:ln/>
        </p:spPr>
        <p:txBody>
          <a:bodyPr wrap="square" rtlCol="0" anchor="ctr"/>
          <a:lstStyle/>
          <a:p>
            <a:pPr indent="0" marL="0">
              <a:buNone/>
            </a:pPr>
            <a:r>
              <a:rPr lang="en-US" sz="1350" b="1" dirty="0">
                <a:solidFill>
                  <a:srgbClr val="02C39A"/>
                </a:solidFill>
                <a:latin typeface="Georgia" pitchFamily="34" charset="0"/>
                <a:ea typeface="Georgia" pitchFamily="34" charset="-122"/>
                <a:cs typeface="Georgia" pitchFamily="34" charset="-120"/>
              </a:rPr>
              <a:t>Strategy</a:t>
            </a:r>
            <a:endParaRPr lang="en-US" sz="1350" dirty="0"/>
          </a:p>
        </p:txBody>
      </p:sp>
      <p:sp>
        <p:nvSpPr>
          <p:cNvPr id="10" name="Text 8"/>
          <p:cNvSpPr/>
          <p:nvPr/>
        </p:nvSpPr>
        <p:spPr>
          <a:xfrm>
            <a:off x="804672" y="318211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ml_service · prophet_service</a:t>
            </a:r>
            <a:endParaRPr lang="en-US" sz="950" dirty="0"/>
          </a:p>
        </p:txBody>
      </p:sp>
      <p:sp>
        <p:nvSpPr>
          <p:cNvPr id="11" name="Shape 9"/>
          <p:cNvSpPr/>
          <p:nvPr/>
        </p:nvSpPr>
        <p:spPr>
          <a:xfrm>
            <a:off x="3429000" y="2788920"/>
            <a:ext cx="2606040" cy="713232"/>
          </a:xfrm>
          <a:prstGeom prst="roundRect">
            <a:avLst>
              <a:gd name="adj" fmla="val 7692"/>
            </a:avLst>
          </a:prstGeom>
          <a:solidFill>
            <a:srgbClr val="14395E"/>
          </a:solidFill>
          <a:ln w="22860">
            <a:solidFill>
              <a:srgbClr val="02C39A"/>
            </a:solidFill>
            <a:prstDash val="solid"/>
          </a:ln>
        </p:spPr>
      </p:sp>
      <p:sp>
        <p:nvSpPr>
          <p:cNvPr id="12" name="Text 10"/>
          <p:cNvSpPr/>
          <p:nvPr/>
        </p:nvSpPr>
        <p:spPr>
          <a:xfrm>
            <a:off x="3593592" y="2843784"/>
            <a:ext cx="2331720" cy="329184"/>
          </a:xfrm>
          <a:prstGeom prst="rect">
            <a:avLst/>
          </a:prstGeom>
          <a:noFill/>
          <a:ln/>
        </p:spPr>
        <p:txBody>
          <a:bodyPr wrap="square" rtlCol="0" anchor="ctr"/>
          <a:lstStyle/>
          <a:p>
            <a:pPr indent="0" marL="0">
              <a:buNone/>
            </a:pPr>
            <a:r>
              <a:rPr lang="en-US" sz="1350" b="1" dirty="0">
                <a:solidFill>
                  <a:srgbClr val="02C39A"/>
                </a:solidFill>
                <a:latin typeface="Georgia" pitchFamily="34" charset="0"/>
                <a:ea typeface="Georgia" pitchFamily="34" charset="-122"/>
                <a:cs typeface="Georgia" pitchFamily="34" charset="-120"/>
              </a:rPr>
              <a:t>Adapter</a:t>
            </a:r>
            <a:endParaRPr lang="en-US" sz="1350" dirty="0"/>
          </a:p>
        </p:txBody>
      </p:sp>
      <p:sp>
        <p:nvSpPr>
          <p:cNvPr id="13" name="Text 11"/>
          <p:cNvSpPr/>
          <p:nvPr/>
        </p:nvSpPr>
        <p:spPr>
          <a:xfrm>
            <a:off x="3593592" y="318211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csv_service — 9 bancos</a:t>
            </a:r>
            <a:endParaRPr lang="en-US" sz="950" dirty="0"/>
          </a:p>
        </p:txBody>
      </p:sp>
      <p:sp>
        <p:nvSpPr>
          <p:cNvPr id="14" name="Shape 12"/>
          <p:cNvSpPr/>
          <p:nvPr/>
        </p:nvSpPr>
        <p:spPr>
          <a:xfrm>
            <a:off x="6217920" y="2788920"/>
            <a:ext cx="2606040" cy="713232"/>
          </a:xfrm>
          <a:prstGeom prst="roundRect">
            <a:avLst>
              <a:gd name="adj" fmla="val 7692"/>
            </a:avLst>
          </a:prstGeom>
          <a:solidFill>
            <a:srgbClr val="14395E"/>
          </a:solidFill>
          <a:ln w="22860">
            <a:solidFill>
              <a:srgbClr val="02C39A"/>
            </a:solidFill>
            <a:prstDash val="solid"/>
          </a:ln>
        </p:spPr>
      </p:sp>
      <p:sp>
        <p:nvSpPr>
          <p:cNvPr id="15" name="Text 13"/>
          <p:cNvSpPr/>
          <p:nvPr/>
        </p:nvSpPr>
        <p:spPr>
          <a:xfrm>
            <a:off x="6382512" y="2843784"/>
            <a:ext cx="2331720" cy="329184"/>
          </a:xfrm>
          <a:prstGeom prst="rect">
            <a:avLst/>
          </a:prstGeom>
          <a:noFill/>
          <a:ln/>
        </p:spPr>
        <p:txBody>
          <a:bodyPr wrap="square" rtlCol="0" anchor="ctr"/>
          <a:lstStyle/>
          <a:p>
            <a:pPr indent="0" marL="0">
              <a:buNone/>
            </a:pPr>
            <a:r>
              <a:rPr lang="en-US" sz="1350" b="1" dirty="0">
                <a:solidFill>
                  <a:srgbClr val="02C39A"/>
                </a:solidFill>
                <a:latin typeface="Georgia" pitchFamily="34" charset="0"/>
                <a:ea typeface="Georgia" pitchFamily="34" charset="-122"/>
                <a:cs typeface="Georgia" pitchFamily="34" charset="-120"/>
              </a:rPr>
              <a:t>Cache-Aside</a:t>
            </a:r>
            <a:endParaRPr lang="en-US" sz="1350" dirty="0"/>
          </a:p>
        </p:txBody>
      </p:sp>
      <p:sp>
        <p:nvSpPr>
          <p:cNvPr id="16" name="Text 14"/>
          <p:cNvSpPr/>
          <p:nvPr/>
        </p:nvSpPr>
        <p:spPr>
          <a:xfrm>
            <a:off x="6382512" y="318211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ia_service — correcciones</a:t>
            </a:r>
            <a:endParaRPr lang="en-US" sz="950" dirty="0"/>
          </a:p>
        </p:txBody>
      </p:sp>
      <p:sp>
        <p:nvSpPr>
          <p:cNvPr id="17" name="Shape 15"/>
          <p:cNvSpPr/>
          <p:nvPr/>
        </p:nvSpPr>
        <p:spPr>
          <a:xfrm>
            <a:off x="9006840" y="2788920"/>
            <a:ext cx="2606040" cy="713232"/>
          </a:xfrm>
          <a:prstGeom prst="roundRect">
            <a:avLst>
              <a:gd name="adj" fmla="val 7692"/>
            </a:avLst>
          </a:prstGeom>
          <a:solidFill>
            <a:srgbClr val="14395E"/>
          </a:solidFill>
          <a:ln w="9525">
            <a:solidFill>
              <a:srgbClr val="5BB3C4"/>
            </a:solidFill>
            <a:prstDash val="solid"/>
          </a:ln>
        </p:spPr>
      </p:sp>
      <p:sp>
        <p:nvSpPr>
          <p:cNvPr id="18" name="Text 16"/>
          <p:cNvSpPr/>
          <p:nvPr/>
        </p:nvSpPr>
        <p:spPr>
          <a:xfrm>
            <a:off x="9171432" y="284378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Chain of Responsibility</a:t>
            </a:r>
            <a:endParaRPr lang="en-US" sz="1250" dirty="0"/>
          </a:p>
        </p:txBody>
      </p:sp>
      <p:sp>
        <p:nvSpPr>
          <p:cNvPr id="19" name="Text 17"/>
          <p:cNvSpPr/>
          <p:nvPr/>
        </p:nvSpPr>
        <p:spPr>
          <a:xfrm>
            <a:off x="9171432" y="318211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ia_service — 3 eslabones</a:t>
            </a:r>
            <a:endParaRPr lang="en-US" sz="950" dirty="0"/>
          </a:p>
        </p:txBody>
      </p:sp>
      <p:sp>
        <p:nvSpPr>
          <p:cNvPr id="20" name="Shape 18"/>
          <p:cNvSpPr/>
          <p:nvPr/>
        </p:nvSpPr>
        <p:spPr>
          <a:xfrm>
            <a:off x="640080" y="3611880"/>
            <a:ext cx="2606040" cy="713232"/>
          </a:xfrm>
          <a:prstGeom prst="roundRect">
            <a:avLst>
              <a:gd name="adj" fmla="val 7692"/>
            </a:avLst>
          </a:prstGeom>
          <a:solidFill>
            <a:srgbClr val="14395E"/>
          </a:solidFill>
          <a:ln w="9525">
            <a:solidFill>
              <a:srgbClr val="5BB3C4"/>
            </a:solidFill>
            <a:prstDash val="solid"/>
          </a:ln>
        </p:spPr>
      </p:sp>
      <p:sp>
        <p:nvSpPr>
          <p:cNvPr id="21" name="Text 19"/>
          <p:cNvSpPr/>
          <p:nvPr/>
        </p:nvSpPr>
        <p:spPr>
          <a:xfrm>
            <a:off x="804672" y="366674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Factory Method</a:t>
            </a:r>
            <a:endParaRPr lang="en-US" sz="1250" dirty="0"/>
          </a:p>
        </p:txBody>
      </p:sp>
      <p:sp>
        <p:nvSpPr>
          <p:cNvPr id="22" name="Text 20"/>
          <p:cNvSpPr/>
          <p:nvPr/>
        </p:nvSpPr>
        <p:spPr>
          <a:xfrm>
            <a:off x="804672" y="400507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auditoria — alertas</a:t>
            </a:r>
            <a:endParaRPr lang="en-US" sz="950" dirty="0"/>
          </a:p>
        </p:txBody>
      </p:sp>
      <p:sp>
        <p:nvSpPr>
          <p:cNvPr id="23" name="Shape 21"/>
          <p:cNvSpPr/>
          <p:nvPr/>
        </p:nvSpPr>
        <p:spPr>
          <a:xfrm>
            <a:off x="3429000" y="3611880"/>
            <a:ext cx="2606040" cy="713232"/>
          </a:xfrm>
          <a:prstGeom prst="roundRect">
            <a:avLst>
              <a:gd name="adj" fmla="val 7692"/>
            </a:avLst>
          </a:prstGeom>
          <a:solidFill>
            <a:srgbClr val="14395E"/>
          </a:solidFill>
          <a:ln w="9525">
            <a:solidFill>
              <a:srgbClr val="5BB3C4"/>
            </a:solidFill>
            <a:prstDash val="solid"/>
          </a:ln>
        </p:spPr>
      </p:sp>
      <p:sp>
        <p:nvSpPr>
          <p:cNvPr id="24" name="Text 22"/>
          <p:cNvSpPr/>
          <p:nvPr/>
        </p:nvSpPr>
        <p:spPr>
          <a:xfrm>
            <a:off x="3593592" y="366674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Builder</a:t>
            </a:r>
            <a:endParaRPr lang="en-US" sz="1250" dirty="0"/>
          </a:p>
        </p:txBody>
      </p:sp>
      <p:sp>
        <p:nvSpPr>
          <p:cNvPr id="25" name="Text 23"/>
          <p:cNvSpPr/>
          <p:nvPr/>
        </p:nvSpPr>
        <p:spPr>
          <a:xfrm>
            <a:off x="3593592" y="400507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reportes_service — PDF</a:t>
            </a:r>
            <a:endParaRPr lang="en-US" sz="950" dirty="0"/>
          </a:p>
        </p:txBody>
      </p:sp>
      <p:sp>
        <p:nvSpPr>
          <p:cNvPr id="26" name="Shape 24"/>
          <p:cNvSpPr/>
          <p:nvPr/>
        </p:nvSpPr>
        <p:spPr>
          <a:xfrm>
            <a:off x="6217920" y="3611880"/>
            <a:ext cx="2606040" cy="713232"/>
          </a:xfrm>
          <a:prstGeom prst="roundRect">
            <a:avLst>
              <a:gd name="adj" fmla="val 7692"/>
            </a:avLst>
          </a:prstGeom>
          <a:solidFill>
            <a:srgbClr val="14395E"/>
          </a:solidFill>
          <a:ln w="9525">
            <a:solidFill>
              <a:srgbClr val="5BB3C4"/>
            </a:solidFill>
            <a:prstDash val="solid"/>
          </a:ln>
        </p:spPr>
      </p:sp>
      <p:sp>
        <p:nvSpPr>
          <p:cNvPr id="27" name="Text 25"/>
          <p:cNvSpPr/>
          <p:nvPr/>
        </p:nvSpPr>
        <p:spPr>
          <a:xfrm>
            <a:off x="6382512" y="366674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Template Method</a:t>
            </a:r>
            <a:endParaRPr lang="en-US" sz="1250" dirty="0"/>
          </a:p>
        </p:txBody>
      </p:sp>
      <p:sp>
        <p:nvSpPr>
          <p:cNvPr id="28" name="Text 26"/>
          <p:cNvSpPr/>
          <p:nvPr/>
        </p:nvSpPr>
        <p:spPr>
          <a:xfrm>
            <a:off x="6382512" y="400507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reportes_service — pie</a:t>
            </a:r>
            <a:endParaRPr lang="en-US" sz="950" dirty="0"/>
          </a:p>
        </p:txBody>
      </p:sp>
      <p:sp>
        <p:nvSpPr>
          <p:cNvPr id="29" name="Shape 27"/>
          <p:cNvSpPr/>
          <p:nvPr/>
        </p:nvSpPr>
        <p:spPr>
          <a:xfrm>
            <a:off x="9006840" y="3611880"/>
            <a:ext cx="2606040" cy="713232"/>
          </a:xfrm>
          <a:prstGeom prst="roundRect">
            <a:avLst>
              <a:gd name="adj" fmla="val 7692"/>
            </a:avLst>
          </a:prstGeom>
          <a:solidFill>
            <a:srgbClr val="14395E"/>
          </a:solidFill>
          <a:ln w="9525">
            <a:solidFill>
              <a:srgbClr val="5BB3C4"/>
            </a:solidFill>
            <a:prstDash val="solid"/>
          </a:ln>
        </p:spPr>
      </p:sp>
      <p:sp>
        <p:nvSpPr>
          <p:cNvPr id="30" name="Text 28"/>
          <p:cNvSpPr/>
          <p:nvPr/>
        </p:nvSpPr>
        <p:spPr>
          <a:xfrm>
            <a:off x="9171432" y="366674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Pipeline</a:t>
            </a:r>
            <a:endParaRPr lang="en-US" sz="1250" dirty="0"/>
          </a:p>
        </p:txBody>
      </p:sp>
      <p:sp>
        <p:nvSpPr>
          <p:cNvPr id="31" name="Text 29"/>
          <p:cNvSpPr/>
          <p:nvPr/>
        </p:nvSpPr>
        <p:spPr>
          <a:xfrm>
            <a:off x="9171432" y="400507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ml_service — TF-IDF + clf</a:t>
            </a:r>
            <a:endParaRPr lang="en-US" sz="950" dirty="0"/>
          </a:p>
        </p:txBody>
      </p:sp>
      <p:sp>
        <p:nvSpPr>
          <p:cNvPr id="32" name="Shape 30"/>
          <p:cNvSpPr/>
          <p:nvPr/>
        </p:nvSpPr>
        <p:spPr>
          <a:xfrm>
            <a:off x="640080" y="4434840"/>
            <a:ext cx="2606040" cy="713232"/>
          </a:xfrm>
          <a:prstGeom prst="roundRect">
            <a:avLst>
              <a:gd name="adj" fmla="val 7692"/>
            </a:avLst>
          </a:prstGeom>
          <a:solidFill>
            <a:srgbClr val="14395E"/>
          </a:solidFill>
          <a:ln w="9525">
            <a:solidFill>
              <a:srgbClr val="5BB3C4"/>
            </a:solidFill>
            <a:prstDash val="solid"/>
          </a:ln>
        </p:spPr>
      </p:sp>
      <p:sp>
        <p:nvSpPr>
          <p:cNvPr id="33" name="Text 31"/>
          <p:cNvSpPr/>
          <p:nvPr/>
        </p:nvSpPr>
        <p:spPr>
          <a:xfrm>
            <a:off x="804672" y="448970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Memento</a:t>
            </a:r>
            <a:endParaRPr lang="en-US" sz="1250" dirty="0"/>
          </a:p>
        </p:txBody>
      </p:sp>
      <p:sp>
        <p:nvSpPr>
          <p:cNvPr id="34" name="Text 32"/>
          <p:cNvSpPr/>
          <p:nvPr/>
        </p:nvSpPr>
        <p:spPr>
          <a:xfrm>
            <a:off x="804672" y="482803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ml_service — modelo en BD</a:t>
            </a:r>
            <a:endParaRPr lang="en-US" sz="950" dirty="0"/>
          </a:p>
        </p:txBody>
      </p:sp>
      <p:sp>
        <p:nvSpPr>
          <p:cNvPr id="35" name="Shape 33"/>
          <p:cNvSpPr/>
          <p:nvPr/>
        </p:nvSpPr>
        <p:spPr>
          <a:xfrm>
            <a:off x="3429000" y="4434840"/>
            <a:ext cx="2606040" cy="713232"/>
          </a:xfrm>
          <a:prstGeom prst="roundRect">
            <a:avLst>
              <a:gd name="adj" fmla="val 7692"/>
            </a:avLst>
          </a:prstGeom>
          <a:solidFill>
            <a:srgbClr val="14395E"/>
          </a:solidFill>
          <a:ln w="9525">
            <a:solidFill>
              <a:srgbClr val="5BB3C4"/>
            </a:solidFill>
            <a:prstDash val="solid"/>
          </a:ln>
        </p:spPr>
      </p:sp>
      <p:sp>
        <p:nvSpPr>
          <p:cNvPr id="36" name="Text 34"/>
          <p:cNvSpPr/>
          <p:nvPr/>
        </p:nvSpPr>
        <p:spPr>
          <a:xfrm>
            <a:off x="3593592" y="448970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Inyección de dependencias</a:t>
            </a:r>
            <a:endParaRPr lang="en-US" sz="1250" dirty="0"/>
          </a:p>
        </p:txBody>
      </p:sp>
      <p:sp>
        <p:nvSpPr>
          <p:cNvPr id="37" name="Text 35"/>
          <p:cNvSpPr/>
          <p:nvPr/>
        </p:nvSpPr>
        <p:spPr>
          <a:xfrm>
            <a:off x="3593592" y="482803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dependencies · database</a:t>
            </a:r>
            <a:endParaRPr lang="en-US" sz="950" dirty="0"/>
          </a:p>
        </p:txBody>
      </p:sp>
      <p:sp>
        <p:nvSpPr>
          <p:cNvPr id="38" name="Shape 36"/>
          <p:cNvSpPr/>
          <p:nvPr/>
        </p:nvSpPr>
        <p:spPr>
          <a:xfrm>
            <a:off x="6217920" y="4434840"/>
            <a:ext cx="2606040" cy="713232"/>
          </a:xfrm>
          <a:prstGeom prst="roundRect">
            <a:avLst>
              <a:gd name="adj" fmla="val 7692"/>
            </a:avLst>
          </a:prstGeom>
          <a:solidFill>
            <a:srgbClr val="14395E"/>
          </a:solidFill>
          <a:ln w="9525">
            <a:solidFill>
              <a:srgbClr val="5BB3C4"/>
            </a:solidFill>
            <a:prstDash val="solid"/>
          </a:ln>
        </p:spPr>
      </p:sp>
      <p:sp>
        <p:nvSpPr>
          <p:cNvPr id="39" name="Text 37"/>
          <p:cNvSpPr/>
          <p:nvPr/>
        </p:nvSpPr>
        <p:spPr>
          <a:xfrm>
            <a:off x="6382512" y="448970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Guard / Protected Route</a:t>
            </a:r>
            <a:endParaRPr lang="en-US" sz="1250" dirty="0"/>
          </a:p>
        </p:txBody>
      </p:sp>
      <p:sp>
        <p:nvSpPr>
          <p:cNvPr id="40" name="Text 38"/>
          <p:cNvSpPr/>
          <p:nvPr/>
        </p:nvSpPr>
        <p:spPr>
          <a:xfrm>
            <a:off x="6382512" y="482803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dependencies · App.js</a:t>
            </a:r>
            <a:endParaRPr lang="en-US" sz="950" dirty="0"/>
          </a:p>
        </p:txBody>
      </p:sp>
      <p:sp>
        <p:nvSpPr>
          <p:cNvPr id="41" name="Shape 39"/>
          <p:cNvSpPr/>
          <p:nvPr/>
        </p:nvSpPr>
        <p:spPr>
          <a:xfrm>
            <a:off x="9006840" y="4434840"/>
            <a:ext cx="2606040" cy="713232"/>
          </a:xfrm>
          <a:prstGeom prst="roundRect">
            <a:avLst>
              <a:gd name="adj" fmla="val 7692"/>
            </a:avLst>
          </a:prstGeom>
          <a:solidFill>
            <a:srgbClr val="14395E"/>
          </a:solidFill>
          <a:ln w="9525">
            <a:solidFill>
              <a:srgbClr val="5BB3C4"/>
            </a:solidFill>
            <a:prstDash val="solid"/>
          </a:ln>
        </p:spPr>
      </p:sp>
      <p:sp>
        <p:nvSpPr>
          <p:cNvPr id="42" name="Text 40"/>
          <p:cNvSpPr/>
          <p:nvPr/>
        </p:nvSpPr>
        <p:spPr>
          <a:xfrm>
            <a:off x="9171432" y="448970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Interceptor</a:t>
            </a:r>
            <a:endParaRPr lang="en-US" sz="1250" dirty="0"/>
          </a:p>
        </p:txBody>
      </p:sp>
      <p:sp>
        <p:nvSpPr>
          <p:cNvPr id="43" name="Text 41"/>
          <p:cNvSpPr/>
          <p:nvPr/>
        </p:nvSpPr>
        <p:spPr>
          <a:xfrm>
            <a:off x="9171432" y="482803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api.js — JWT y 401</a:t>
            </a:r>
            <a:endParaRPr lang="en-US" sz="950" dirty="0"/>
          </a:p>
        </p:txBody>
      </p:sp>
      <p:sp>
        <p:nvSpPr>
          <p:cNvPr id="44" name="Shape 42"/>
          <p:cNvSpPr/>
          <p:nvPr/>
        </p:nvSpPr>
        <p:spPr>
          <a:xfrm>
            <a:off x="640080" y="5257800"/>
            <a:ext cx="2606040" cy="713232"/>
          </a:xfrm>
          <a:prstGeom prst="roundRect">
            <a:avLst>
              <a:gd name="adj" fmla="val 7692"/>
            </a:avLst>
          </a:prstGeom>
          <a:solidFill>
            <a:srgbClr val="14395E"/>
          </a:solidFill>
          <a:ln w="9525">
            <a:solidFill>
              <a:srgbClr val="8FA3B5"/>
            </a:solidFill>
            <a:prstDash val="solid"/>
          </a:ln>
        </p:spPr>
      </p:sp>
      <p:sp>
        <p:nvSpPr>
          <p:cNvPr id="45" name="Text 43"/>
          <p:cNvSpPr/>
          <p:nvPr/>
        </p:nvSpPr>
        <p:spPr>
          <a:xfrm>
            <a:off x="804672" y="531266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Singleton</a:t>
            </a:r>
            <a:endParaRPr lang="en-US" sz="1250" dirty="0"/>
          </a:p>
        </p:txBody>
      </p:sp>
      <p:sp>
        <p:nvSpPr>
          <p:cNvPr id="46" name="Text 44"/>
          <p:cNvSpPr/>
          <p:nvPr/>
        </p:nvSpPr>
        <p:spPr>
          <a:xfrm>
            <a:off x="804672" y="565099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database · api.js</a:t>
            </a:r>
            <a:endParaRPr lang="en-US" sz="950" dirty="0"/>
          </a:p>
        </p:txBody>
      </p:sp>
      <p:sp>
        <p:nvSpPr>
          <p:cNvPr id="47" name="Shape 45"/>
          <p:cNvSpPr/>
          <p:nvPr/>
        </p:nvSpPr>
        <p:spPr>
          <a:xfrm>
            <a:off x="3429000" y="5257800"/>
            <a:ext cx="2606040" cy="713232"/>
          </a:xfrm>
          <a:prstGeom prst="roundRect">
            <a:avLst>
              <a:gd name="adj" fmla="val 7692"/>
            </a:avLst>
          </a:prstGeom>
          <a:solidFill>
            <a:srgbClr val="14395E"/>
          </a:solidFill>
          <a:ln w="9525">
            <a:solidFill>
              <a:srgbClr val="8FA3B5"/>
            </a:solidFill>
            <a:prstDash val="solid"/>
          </a:ln>
        </p:spPr>
      </p:sp>
      <p:sp>
        <p:nvSpPr>
          <p:cNvPr id="48" name="Text 46"/>
          <p:cNvSpPr/>
          <p:nvPr/>
        </p:nvSpPr>
        <p:spPr>
          <a:xfrm>
            <a:off x="3593592" y="531266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Factory</a:t>
            </a:r>
            <a:endParaRPr lang="en-US" sz="1250" dirty="0"/>
          </a:p>
        </p:txBody>
      </p:sp>
      <p:sp>
        <p:nvSpPr>
          <p:cNvPr id="49" name="Text 47"/>
          <p:cNvSpPr/>
          <p:nvPr/>
        </p:nvSpPr>
        <p:spPr>
          <a:xfrm>
            <a:off x="3593592" y="565099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database — sessionmaker</a:t>
            </a:r>
            <a:endParaRPr lang="en-US" sz="950" dirty="0"/>
          </a:p>
        </p:txBody>
      </p:sp>
      <p:sp>
        <p:nvSpPr>
          <p:cNvPr id="50" name="Shape 48"/>
          <p:cNvSpPr/>
          <p:nvPr/>
        </p:nvSpPr>
        <p:spPr>
          <a:xfrm>
            <a:off x="6217920" y="5257800"/>
            <a:ext cx="2606040" cy="713232"/>
          </a:xfrm>
          <a:prstGeom prst="roundRect">
            <a:avLst>
              <a:gd name="adj" fmla="val 7692"/>
            </a:avLst>
          </a:prstGeom>
          <a:solidFill>
            <a:srgbClr val="14395E"/>
          </a:solidFill>
          <a:ln w="9525">
            <a:solidFill>
              <a:srgbClr val="8FA3B5"/>
            </a:solidFill>
            <a:prstDash val="solid"/>
          </a:ln>
        </p:spPr>
      </p:sp>
      <p:sp>
        <p:nvSpPr>
          <p:cNvPr id="51" name="Text 49"/>
          <p:cNvSpPr/>
          <p:nvPr/>
        </p:nvSpPr>
        <p:spPr>
          <a:xfrm>
            <a:off x="6382512" y="531266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Unit of Work</a:t>
            </a:r>
            <a:endParaRPr lang="en-US" sz="1250" dirty="0"/>
          </a:p>
        </p:txBody>
      </p:sp>
      <p:sp>
        <p:nvSpPr>
          <p:cNvPr id="52" name="Text 50"/>
          <p:cNvSpPr/>
          <p:nvPr/>
        </p:nvSpPr>
        <p:spPr>
          <a:xfrm>
            <a:off x="6382512" y="565099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database — Session</a:t>
            </a:r>
            <a:endParaRPr lang="en-US" sz="950" dirty="0"/>
          </a:p>
        </p:txBody>
      </p:sp>
      <p:sp>
        <p:nvSpPr>
          <p:cNvPr id="53" name="Shape 51"/>
          <p:cNvSpPr/>
          <p:nvPr/>
        </p:nvSpPr>
        <p:spPr>
          <a:xfrm>
            <a:off x="9006840" y="5257800"/>
            <a:ext cx="2606040" cy="713232"/>
          </a:xfrm>
          <a:prstGeom prst="roundRect">
            <a:avLst>
              <a:gd name="adj" fmla="val 7692"/>
            </a:avLst>
          </a:prstGeom>
          <a:solidFill>
            <a:srgbClr val="14395E"/>
          </a:solidFill>
          <a:ln w="9525">
            <a:solidFill>
              <a:srgbClr val="8FA3B5"/>
            </a:solidFill>
            <a:prstDash val="solid"/>
          </a:ln>
        </p:spPr>
      </p:sp>
      <p:sp>
        <p:nvSpPr>
          <p:cNvPr id="54" name="Text 52"/>
          <p:cNvSpPr/>
          <p:nvPr/>
        </p:nvSpPr>
        <p:spPr>
          <a:xfrm>
            <a:off x="9171432" y="5312664"/>
            <a:ext cx="2331720" cy="329184"/>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Facade</a:t>
            </a:r>
            <a:endParaRPr lang="en-US" sz="1250" dirty="0"/>
          </a:p>
        </p:txBody>
      </p:sp>
      <p:sp>
        <p:nvSpPr>
          <p:cNvPr id="55" name="Text 53"/>
          <p:cNvSpPr/>
          <p:nvPr/>
        </p:nvSpPr>
        <p:spPr>
          <a:xfrm>
            <a:off x="9171432" y="5650992"/>
            <a:ext cx="2331720" cy="292608"/>
          </a:xfrm>
          <a:prstGeom prst="rect">
            <a:avLst/>
          </a:prstGeom>
          <a:noFill/>
          <a:ln/>
        </p:spPr>
        <p:txBody>
          <a:bodyPr wrap="square" rtlCol="0" anchor="ctr"/>
          <a:lstStyle/>
          <a:p>
            <a:pPr indent="0" marL="0">
              <a:buNone/>
            </a:pPr>
            <a:r>
              <a:rPr lang="en-US" sz="950" dirty="0">
                <a:solidFill>
                  <a:srgbClr val="8FA3B5"/>
                </a:solidFill>
                <a:latin typeface="Consolas" pitchFamily="34" charset="0"/>
                <a:ea typeface="Consolas" pitchFamily="34" charset="-122"/>
                <a:cs typeface="Consolas" pitchFamily="34" charset="-120"/>
              </a:rPr>
              <a:t>services · ia_service</a:t>
            </a:r>
            <a:endParaRPr lang="en-US" sz="950" dirty="0"/>
          </a:p>
        </p:txBody>
      </p:sp>
      <p:sp>
        <p:nvSpPr>
          <p:cNvPr id="56" name="Text 54"/>
          <p:cNvSpPr/>
          <p:nvPr/>
        </p:nvSpPr>
        <p:spPr>
          <a:xfrm>
            <a:off x="640080" y="6053328"/>
            <a:ext cx="10881360" cy="365760"/>
          </a:xfrm>
          <a:prstGeom prst="rect">
            <a:avLst/>
          </a:prstGeom>
          <a:noFill/>
          <a:ln/>
        </p:spPr>
        <p:txBody>
          <a:bodyPr wrap="square" rtlCol="0" anchor="ctr"/>
          <a:lstStyle/>
          <a:p>
            <a:pPr algn="ctr" indent="0" marL="0">
              <a:buNone/>
            </a:pPr>
            <a:r>
              <a:rPr lang="en-US" sz="1200" i="1" dirty="0">
                <a:solidFill>
                  <a:srgbClr val="8FA3B5"/>
                </a:solidFill>
                <a:latin typeface="Calibri" pitchFamily="34" charset="0"/>
                <a:ea typeface="Calibri" pitchFamily="34" charset="-122"/>
                <a:cs typeface="Calibri" pitchFamily="34" charset="-120"/>
              </a:rPr>
              <a:t>Los tres destacados son los que resolvieron los problemas más difíciles. Se desarrollan a continuación.</a:t>
            </a:r>
            <a:endParaRPr lang="en-US" sz="1200" dirty="0"/>
          </a:p>
        </p:txBody>
      </p:sp>
      <p:sp>
        <p:nvSpPr>
          <p:cNvPr id="57" name="Text 55"/>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58" name="Text 5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PATRÓN 1 DE 3 · STRATEGY</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27:00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Dos algoritmos, dos escenarios</a:t>
            </a:r>
            <a:endParaRPr lang="en-US" sz="3200" dirty="0"/>
          </a:p>
        </p:txBody>
      </p:sp>
      <p:sp>
        <p:nvSpPr>
          <p:cNvPr id="5" name="Shape 3"/>
          <p:cNvSpPr/>
          <p:nvPr/>
        </p:nvSpPr>
        <p:spPr>
          <a:xfrm>
            <a:off x="640080" y="1920240"/>
            <a:ext cx="5760720" cy="1965960"/>
          </a:xfrm>
          <a:prstGeom prst="roundRect">
            <a:avLst>
              <a:gd name="adj" fmla="val 3721"/>
            </a:avLst>
          </a:prstGeom>
          <a:solidFill>
            <a:srgbClr val="0B1B2B"/>
          </a:solidFill>
          <a:ln w="12700">
            <a:solidFill>
              <a:srgbClr val="14395E"/>
            </a:solidFill>
            <a:prstDash val="solid"/>
          </a:ln>
        </p:spPr>
      </p:sp>
      <p:sp>
        <p:nvSpPr>
          <p:cNvPr id="6" name="Text 4"/>
          <p:cNvSpPr/>
          <p:nvPr/>
        </p:nvSpPr>
        <p:spPr>
          <a:xfrm>
            <a:off x="896112" y="2066544"/>
            <a:ext cx="5303520" cy="274320"/>
          </a:xfrm>
          <a:prstGeom prst="rect">
            <a:avLst/>
          </a:prstGeom>
          <a:noFill/>
          <a:ln/>
        </p:spPr>
        <p:txBody>
          <a:bodyPr wrap="square" rtlCol="0" anchor="ctr"/>
          <a:lstStyle/>
          <a:p>
            <a:pPr indent="0" marL="0">
              <a:buNone/>
            </a:pPr>
            <a:r>
              <a:rPr lang="en-US" sz="1050" dirty="0">
                <a:solidFill>
                  <a:srgbClr val="5BB3C4"/>
                </a:solidFill>
                <a:latin typeface="Consolas" pitchFamily="34" charset="0"/>
                <a:ea typeface="Consolas" pitchFamily="34" charset="-122"/>
                <a:cs typeface="Consolas" pitchFamily="34" charset="-120"/>
              </a:rPr>
              <a:t>app/services/ml_service.py:726</a:t>
            </a:r>
            <a:endParaRPr lang="en-US" sz="1050" dirty="0"/>
          </a:p>
        </p:txBody>
      </p:sp>
      <p:sp>
        <p:nvSpPr>
          <p:cNvPr id="7" name="Text 5"/>
          <p:cNvSpPr/>
          <p:nvPr/>
        </p:nvSpPr>
        <p:spPr>
          <a:xfrm>
            <a:off x="896112" y="2423160"/>
            <a:ext cx="5303520" cy="1280160"/>
          </a:xfrm>
          <a:prstGeom prst="rect">
            <a:avLst/>
          </a:prstGeom>
          <a:noFill/>
          <a:ln/>
        </p:spPr>
        <p:txBody>
          <a:bodyPr wrap="square" rtlCol="0" anchor="ctr"/>
          <a:lstStyle/>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def _elegir_algoritmo(n_ejemplos: int) -&gt; str:</a:t>
            </a:r>
            <a:endParaRPr lang="en-US" sz="1250" dirty="0"/>
          </a:p>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    if n_ejemplos &gt;= 100:</a:t>
            </a:r>
            <a:endParaRPr lang="en-US" sz="1250" dirty="0"/>
          </a:p>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        return "svm"</a:t>
            </a:r>
            <a:endParaRPr lang="en-US" sz="1250" dirty="0"/>
          </a:p>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    return "naive_bayes"</a:t>
            </a:r>
            <a:endParaRPr lang="en-US" sz="1250" dirty="0"/>
          </a:p>
        </p:txBody>
      </p:sp>
      <p:sp>
        <p:nvSpPr>
          <p:cNvPr id="8" name="Text 6"/>
          <p:cNvSpPr/>
          <p:nvPr/>
        </p:nvSpPr>
        <p:spPr>
          <a:xfrm>
            <a:off x="640080" y="4023360"/>
            <a:ext cx="5760720" cy="914400"/>
          </a:xfrm>
          <a:prstGeom prst="rect">
            <a:avLst/>
          </a:prstGeom>
          <a:noFill/>
          <a:ln/>
        </p:spPr>
        <p:txBody>
          <a:bodyPr wrap="square" rtlCol="0" anchor="ctr"/>
          <a:lstStyle/>
          <a:p>
            <a:pPr indent="0" marL="0">
              <a:buNone/>
            </a:pPr>
            <a:r>
              <a:rPr lang="en-US" sz="1350" dirty="0">
                <a:solidFill>
                  <a:srgbClr val="4A5A68"/>
                </a:solidFill>
                <a:latin typeface="Calibri" pitchFamily="34" charset="0"/>
                <a:ea typeface="Calibri" pitchFamily="34" charset="-122"/>
                <a:cs typeface="Calibri" pitchFamily="34" charset="-120"/>
              </a:rPr>
              <a:t>El clasificador tiene que funcionar el primer día, sin datos propios, y también con cientos de gastos acumulados. Son dos escenarios estadísticos distintos y ningún algoritmo gana en los dos.</a:t>
            </a:r>
            <a:endParaRPr lang="en-US" sz="1350" dirty="0"/>
          </a:p>
        </p:txBody>
      </p:sp>
      <p:sp>
        <p:nvSpPr>
          <p:cNvPr id="9" name="Shape 7"/>
          <p:cNvSpPr/>
          <p:nvPr/>
        </p:nvSpPr>
        <p:spPr>
          <a:xfrm>
            <a:off x="640080" y="4983480"/>
            <a:ext cx="5760720" cy="1188720"/>
          </a:xfrm>
          <a:prstGeom prst="roundRect">
            <a:avLst>
              <a:gd name="adj" fmla="val 6154"/>
            </a:avLst>
          </a:prstGeom>
          <a:solidFill>
            <a:srgbClr val="FFFFFF"/>
          </a:solidFill>
          <a:ln w="12700">
            <a:solidFill>
              <a:srgbClr val="D14D4D"/>
            </a:solidFill>
            <a:prstDash val="solid"/>
          </a:ln>
        </p:spPr>
      </p:sp>
      <p:sp>
        <p:nvSpPr>
          <p:cNvPr id="10" name="Text 8"/>
          <p:cNvSpPr/>
          <p:nvPr/>
        </p:nvSpPr>
        <p:spPr>
          <a:xfrm>
            <a:off x="914400" y="5120640"/>
            <a:ext cx="5212080" cy="274320"/>
          </a:xfrm>
          <a:prstGeom prst="rect">
            <a:avLst/>
          </a:prstGeom>
          <a:noFill/>
          <a:ln/>
        </p:spPr>
        <p:txBody>
          <a:bodyPr wrap="square" rtlCol="0" anchor="ctr"/>
          <a:lstStyle/>
          <a:p>
            <a:pPr indent="0" marL="0">
              <a:buNone/>
            </a:pPr>
            <a:r>
              <a:rPr lang="en-US" sz="1150" b="1" dirty="0">
                <a:solidFill>
                  <a:srgbClr val="D14D4D"/>
                </a:solidFill>
                <a:latin typeface="Calibri" pitchFamily="34" charset="0"/>
                <a:ea typeface="Calibri" pitchFamily="34" charset="-122"/>
                <a:cs typeface="Calibri" pitchFamily="34" charset="-120"/>
              </a:rPr>
              <a:t>Alternativa descartada</a:t>
            </a:r>
            <a:endParaRPr lang="en-US" sz="1150" dirty="0"/>
          </a:p>
        </p:txBody>
      </p:sp>
      <p:sp>
        <p:nvSpPr>
          <p:cNvPr id="11" name="Text 9"/>
          <p:cNvSpPr/>
          <p:nvPr/>
        </p:nvSpPr>
        <p:spPr>
          <a:xfrm>
            <a:off x="914400" y="5394960"/>
            <a:ext cx="5257800" cy="731520"/>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Fijar un solo algoritmo. Medí los dos: con el dataset base gana Naive Bayes, con datos de usuario gana el SVM. Elegir uno era aceptar el peor caso en la mitad de los escenarios.</a:t>
            </a:r>
            <a:endParaRPr lang="en-US" sz="1150" dirty="0"/>
          </a:p>
        </p:txBody>
      </p:sp>
      <p:sp>
        <p:nvSpPr>
          <p:cNvPr id="12" name="Shape 10"/>
          <p:cNvSpPr/>
          <p:nvPr/>
        </p:nvSpPr>
        <p:spPr>
          <a:xfrm>
            <a:off x="6766560" y="1920240"/>
            <a:ext cx="4754880" cy="1874520"/>
          </a:xfrm>
          <a:prstGeom prst="roundRect">
            <a:avLst>
              <a:gd name="adj" fmla="val 4878"/>
            </a:avLst>
          </a:prstGeom>
          <a:solidFill>
            <a:srgbClr val="0D2B45"/>
          </a:solidFill>
          <a:ln/>
        </p:spPr>
      </p:sp>
      <p:sp>
        <p:nvSpPr>
          <p:cNvPr id="13" name="Text 11"/>
          <p:cNvSpPr/>
          <p:nvPr/>
        </p:nvSpPr>
        <p:spPr>
          <a:xfrm>
            <a:off x="7040880" y="2103120"/>
            <a:ext cx="4206240" cy="411480"/>
          </a:xfrm>
          <a:prstGeom prst="rect">
            <a:avLst/>
          </a:prstGeom>
          <a:noFill/>
          <a:ln/>
        </p:spPr>
        <p:txBody>
          <a:bodyPr wrap="square" rtlCol="0" anchor="ctr"/>
          <a:lstStyle/>
          <a:p>
            <a:pPr indent="0" marL="0">
              <a:buNone/>
            </a:pPr>
            <a:r>
              <a:rPr lang="en-US" sz="1800" b="1" dirty="0">
                <a:solidFill>
                  <a:srgbClr val="1C7293"/>
                </a:solidFill>
                <a:latin typeface="Georgia" pitchFamily="34" charset="0"/>
                <a:ea typeface="Georgia" pitchFamily="34" charset="-122"/>
                <a:cs typeface="Georgia" pitchFamily="34" charset="-120"/>
              </a:rPr>
              <a:t>Naive Bayes multinomial</a:t>
            </a:r>
            <a:endParaRPr lang="en-US" sz="1800" dirty="0"/>
          </a:p>
        </p:txBody>
      </p:sp>
      <p:sp>
        <p:nvSpPr>
          <p:cNvPr id="14" name="Text 12"/>
          <p:cNvSpPr/>
          <p:nvPr/>
        </p:nvSpPr>
        <p:spPr>
          <a:xfrm>
            <a:off x="7040880" y="2542032"/>
            <a:ext cx="4206240" cy="320040"/>
          </a:xfrm>
          <a:prstGeom prst="rect">
            <a:avLst/>
          </a:prstGeom>
          <a:noFill/>
          <a:ln/>
        </p:spPr>
        <p:txBody>
          <a:bodyPr wrap="square" rtlCol="0" anchor="ctr"/>
          <a:lstStyle/>
          <a:p>
            <a:pPr indent="0" marL="0">
              <a:buNone/>
            </a:pPr>
            <a:r>
              <a:rPr lang="en-US" sz="1150" dirty="0">
                <a:solidFill>
                  <a:srgbClr val="8FA3B5"/>
                </a:solidFill>
                <a:latin typeface="Consolas" pitchFamily="34" charset="0"/>
                <a:ea typeface="Consolas" pitchFamily="34" charset="-122"/>
                <a:cs typeface="Consolas" pitchFamily="34" charset="-120"/>
              </a:rPr>
              <a:t>&lt; 100 ejemplos propios</a:t>
            </a:r>
            <a:endParaRPr lang="en-US" sz="1150" dirty="0"/>
          </a:p>
        </p:txBody>
      </p:sp>
      <p:sp>
        <p:nvSpPr>
          <p:cNvPr id="15" name="Text 13"/>
          <p:cNvSpPr/>
          <p:nvPr/>
        </p:nvSpPr>
        <p:spPr>
          <a:xfrm>
            <a:off x="7040880" y="2926080"/>
            <a:ext cx="4206240" cy="8686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Asume independencia entre términos: con pocos datos no sobreajusta.</a:t>
            </a:r>
            <a:endParaRPr lang="en-US" sz="1250" dirty="0"/>
          </a:p>
        </p:txBody>
      </p:sp>
      <p:sp>
        <p:nvSpPr>
          <p:cNvPr id="16" name="Shape 14"/>
          <p:cNvSpPr/>
          <p:nvPr/>
        </p:nvSpPr>
        <p:spPr>
          <a:xfrm>
            <a:off x="6766560" y="4023360"/>
            <a:ext cx="4754880" cy="1874520"/>
          </a:xfrm>
          <a:prstGeom prst="roundRect">
            <a:avLst>
              <a:gd name="adj" fmla="val 4878"/>
            </a:avLst>
          </a:prstGeom>
          <a:solidFill>
            <a:srgbClr val="0D2B45"/>
          </a:solidFill>
          <a:ln/>
        </p:spPr>
      </p:sp>
      <p:sp>
        <p:nvSpPr>
          <p:cNvPr id="17" name="Text 15"/>
          <p:cNvSpPr/>
          <p:nvPr/>
        </p:nvSpPr>
        <p:spPr>
          <a:xfrm>
            <a:off x="7040880" y="4206240"/>
            <a:ext cx="4206240" cy="411480"/>
          </a:xfrm>
          <a:prstGeom prst="rect">
            <a:avLst/>
          </a:prstGeom>
          <a:noFill/>
          <a:ln/>
        </p:spPr>
        <p:txBody>
          <a:bodyPr wrap="square" rtlCol="0" anchor="ctr"/>
          <a:lstStyle/>
          <a:p>
            <a:pPr indent="0" marL="0">
              <a:buNone/>
            </a:pPr>
            <a:r>
              <a:rPr lang="en-US" sz="1800" b="1" dirty="0">
                <a:solidFill>
                  <a:srgbClr val="02C39A"/>
                </a:solidFill>
                <a:latin typeface="Georgia" pitchFamily="34" charset="0"/>
                <a:ea typeface="Georgia" pitchFamily="34" charset="-122"/>
                <a:cs typeface="Georgia" pitchFamily="34" charset="-120"/>
              </a:rPr>
              <a:t>LinearSVC</a:t>
            </a:r>
            <a:endParaRPr lang="en-US" sz="1800" dirty="0"/>
          </a:p>
        </p:txBody>
      </p:sp>
      <p:sp>
        <p:nvSpPr>
          <p:cNvPr id="18" name="Text 16"/>
          <p:cNvSpPr/>
          <p:nvPr/>
        </p:nvSpPr>
        <p:spPr>
          <a:xfrm>
            <a:off x="7040880" y="4645152"/>
            <a:ext cx="4206240" cy="320040"/>
          </a:xfrm>
          <a:prstGeom prst="rect">
            <a:avLst/>
          </a:prstGeom>
          <a:noFill/>
          <a:ln/>
        </p:spPr>
        <p:txBody>
          <a:bodyPr wrap="square" rtlCol="0" anchor="ctr"/>
          <a:lstStyle/>
          <a:p>
            <a:pPr indent="0" marL="0">
              <a:buNone/>
            </a:pPr>
            <a:r>
              <a:rPr lang="en-US" sz="1150" dirty="0">
                <a:solidFill>
                  <a:srgbClr val="8FA3B5"/>
                </a:solidFill>
                <a:latin typeface="Consolas" pitchFamily="34" charset="0"/>
                <a:ea typeface="Consolas" pitchFamily="34" charset="-122"/>
                <a:cs typeface="Consolas" pitchFamily="34" charset="-120"/>
              </a:rPr>
              <a:t>≥ 100 ejemplos propios</a:t>
            </a:r>
            <a:endParaRPr lang="en-US" sz="1150" dirty="0"/>
          </a:p>
        </p:txBody>
      </p:sp>
      <p:sp>
        <p:nvSpPr>
          <p:cNvPr id="19" name="Text 17"/>
          <p:cNvSpPr/>
          <p:nvPr/>
        </p:nvSpPr>
        <p:spPr>
          <a:xfrm>
            <a:off x="7040880" y="5029200"/>
            <a:ext cx="4206240" cy="8686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Hiperplano de máximo margen: necesita volumen, pero después supera claramente a Naive Bayes.</a:t>
            </a:r>
            <a:endParaRPr lang="en-US" sz="1250" dirty="0"/>
          </a:p>
        </p:txBody>
      </p:sp>
      <p:sp>
        <p:nvSpPr>
          <p:cNvPr id="20" name="Text 18"/>
          <p:cNvSpPr/>
          <p:nvPr/>
        </p:nvSpPr>
        <p:spPr>
          <a:xfrm>
            <a:off x="6766560" y="5989320"/>
            <a:ext cx="4754880" cy="457200"/>
          </a:xfrm>
          <a:prstGeom prst="rect">
            <a:avLst/>
          </a:prstGeom>
          <a:noFill/>
          <a:ln/>
        </p:spPr>
        <p:txBody>
          <a:bodyPr wrap="square" rtlCol="0" anchor="ctr"/>
          <a:lstStyle/>
          <a:p>
            <a:pPr algn="ctr" indent="0" marL="0">
              <a:buNone/>
            </a:pPr>
            <a:r>
              <a:rPr lang="en-US" sz="1150" i="1" dirty="0">
                <a:solidFill>
                  <a:srgbClr val="1C7293"/>
                </a:solidFill>
                <a:latin typeface="Calibri" pitchFamily="34" charset="0"/>
                <a:ea typeface="Calibri" pitchFamily="34" charset="-122"/>
                <a:cs typeface="Calibri" pitchFamily="34" charset="-120"/>
              </a:rPr>
              <a:t>El resto del código no sabe cuál se usó:</a:t>
            </a:r>
            <a:endParaRPr lang="en-US" sz="1150" dirty="0"/>
          </a:p>
          <a:p>
            <a:pPr algn="ctr" indent="0" marL="0">
              <a:buNone/>
            </a:pPr>
            <a:r>
              <a:rPr lang="en-US" sz="1150" i="1" dirty="0">
                <a:solidFill>
                  <a:srgbClr val="1C7293"/>
                </a:solidFill>
                <a:latin typeface="Calibri" pitchFamily="34" charset="0"/>
                <a:ea typeface="Calibri" pitchFamily="34" charset="-122"/>
                <a:cs typeface="Calibri" pitchFamily="34" charset="-120"/>
              </a:rPr>
              <a:t>misma interfaz, familia intercambiable.</a:t>
            </a:r>
            <a:endParaRPr lang="en-US" sz="1150" dirty="0"/>
          </a:p>
        </p:txBody>
      </p:sp>
      <p:sp>
        <p:nvSpPr>
          <p:cNvPr id="21" name="Text 19"/>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2" name="Text 20"/>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PATRÓN 2 DE 3 · ADAPTER</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28:15</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Nueve bancos, un modelo interno</a:t>
            </a:r>
            <a:endParaRPr lang="en-US" sz="3200" dirty="0"/>
          </a:p>
        </p:txBody>
      </p:sp>
      <p:sp>
        <p:nvSpPr>
          <p:cNvPr id="5" name="Text 3"/>
          <p:cNvSpPr/>
          <p:nvPr/>
        </p:nvSpPr>
        <p:spPr>
          <a:xfrm>
            <a:off x="640080" y="1783080"/>
            <a:ext cx="10881360" cy="365760"/>
          </a:xfrm>
          <a:prstGeom prst="rect">
            <a:avLst/>
          </a:prstGeom>
          <a:noFill/>
          <a:ln/>
        </p:spPr>
        <p:txBody>
          <a:bodyPr wrap="square" rtlCol="0" anchor="ctr"/>
          <a:lstStyle/>
          <a:p>
            <a:pPr indent="0" marL="0">
              <a:buNone/>
            </a:pPr>
            <a:r>
              <a:rPr lang="en-US" sz="1400" dirty="0">
                <a:solidFill>
                  <a:srgbClr val="5BB3C4"/>
                </a:solidFill>
                <a:latin typeface="Calibri" pitchFamily="34" charset="0"/>
                <a:ea typeface="Calibri" pitchFamily="34" charset="-122"/>
                <a:cs typeface="Calibri" pitchFamily="34" charset="-120"/>
              </a:rPr>
              <a:t>Galicia · Santander · BBVA · Macro · Nación · Brubank · ICBC · Mercado Pago · Naranja X</a:t>
            </a:r>
            <a:endParaRPr lang="en-US" sz="1400" dirty="0"/>
          </a:p>
        </p:txBody>
      </p:sp>
      <p:sp>
        <p:nvSpPr>
          <p:cNvPr id="6" name="Shape 4"/>
          <p:cNvSpPr/>
          <p:nvPr/>
        </p:nvSpPr>
        <p:spPr>
          <a:xfrm>
            <a:off x="640080" y="2331720"/>
            <a:ext cx="3931920" cy="2286000"/>
          </a:xfrm>
          <a:prstGeom prst="roundRect">
            <a:avLst>
              <a:gd name="adj" fmla="val 3200"/>
            </a:avLst>
          </a:prstGeom>
          <a:solidFill>
            <a:srgbClr val="14395E"/>
          </a:solidFill>
          <a:ln w="12700">
            <a:solidFill>
              <a:srgbClr val="D14D4D"/>
            </a:solidFill>
            <a:prstDash val="solid"/>
          </a:ln>
        </p:spPr>
      </p:sp>
      <p:sp>
        <p:nvSpPr>
          <p:cNvPr id="7" name="Text 5"/>
          <p:cNvSpPr/>
          <p:nvPr/>
        </p:nvSpPr>
        <p:spPr>
          <a:xfrm>
            <a:off x="914400" y="2487168"/>
            <a:ext cx="3383280" cy="320040"/>
          </a:xfrm>
          <a:prstGeom prst="rect">
            <a:avLst/>
          </a:prstGeom>
          <a:noFill/>
          <a:ln/>
        </p:spPr>
        <p:txBody>
          <a:bodyPr wrap="square" rtlCol="0" anchor="ctr"/>
          <a:lstStyle/>
          <a:p>
            <a:pPr indent="0" marL="0">
              <a:buNone/>
            </a:pPr>
            <a:r>
              <a:rPr lang="en-US" sz="1150" b="1" spc="200" kern="0" dirty="0">
                <a:solidFill>
                  <a:srgbClr val="D14D4D"/>
                </a:solidFill>
                <a:latin typeface="Calibri" pitchFamily="34" charset="0"/>
                <a:ea typeface="Calibri" pitchFamily="34" charset="-122"/>
                <a:cs typeface="Calibri" pitchFamily="34" charset="-120"/>
              </a:rPr>
              <a:t>CAOS EXTERNO</a:t>
            </a:r>
            <a:endParaRPr lang="en-US" sz="1150" dirty="0"/>
          </a:p>
        </p:txBody>
      </p:sp>
      <p:sp>
        <p:nvSpPr>
          <p:cNvPr id="8" name="Text 6"/>
          <p:cNvSpPr/>
          <p:nvPr/>
        </p:nvSpPr>
        <p:spPr>
          <a:xfrm>
            <a:off x="914400" y="2834640"/>
            <a:ext cx="3383280" cy="1691640"/>
          </a:xfrm>
          <a:prstGeom prst="rect">
            <a:avLst/>
          </a:prstGeom>
          <a:noFill/>
          <a:ln/>
        </p:spPr>
        <p:txBody>
          <a:bodyPr wrap="square" rtlCol="0" anchor="ctr"/>
          <a:lstStyle/>
          <a:p>
            <a:pPr indent="0" marL="0">
              <a:buNone/>
            </a:pPr>
            <a:r>
              <a:rPr lang="en-US" sz="1200" dirty="0">
                <a:solidFill>
                  <a:srgbClr val="CADCFC"/>
                </a:solidFill>
                <a:latin typeface="Consolas" pitchFamily="34" charset="0"/>
                <a:ea typeface="Consolas" pitchFamily="34" charset="-122"/>
                <a:cs typeface="Consolas" pitchFamily="34" charset="-120"/>
              </a:rPr>
              <a:t>"Fecha"</a:t>
            </a: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"Fecha Mov."</a:t>
            </a: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"Fecha de Operación"</a:t>
            </a: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"F. Mov"</a:t>
            </a:r>
            <a:endParaRPr lang="en-US" sz="1200" dirty="0"/>
          </a:p>
          <a:p>
            <a:pPr indent="0" marL="0">
              <a:buNone/>
            </a:pP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débito/crédito separados</a:t>
            </a: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 o ·</a:t>
            </a:r>
            <a:endParaRPr lang="en-US" sz="1200" dirty="0"/>
          </a:p>
          <a:p>
            <a:pPr indent="0" marL="0">
              <a:buNone/>
            </a:pPr>
            <a:r>
              <a:rPr lang="en-US" sz="1200" dirty="0">
                <a:solidFill>
                  <a:srgbClr val="CADCFC"/>
                </a:solidFill>
                <a:latin typeface="Consolas" pitchFamily="34" charset="0"/>
                <a:ea typeface="Consolas" pitchFamily="34" charset="-122"/>
                <a:cs typeface="Consolas" pitchFamily="34" charset="-120"/>
              </a:rPr>
              <a:t>importe único con signo</a:t>
            </a:r>
            <a:endParaRPr lang="en-US" sz="1200" dirty="0"/>
          </a:p>
        </p:txBody>
      </p:sp>
      <p:sp>
        <p:nvSpPr>
          <p:cNvPr id="9" name="Text 7"/>
          <p:cNvSpPr/>
          <p:nvPr/>
        </p:nvSpPr>
        <p:spPr>
          <a:xfrm>
            <a:off x="4663440" y="3154680"/>
            <a:ext cx="731520" cy="640080"/>
          </a:xfrm>
          <a:prstGeom prst="rect">
            <a:avLst/>
          </a:prstGeom>
          <a:noFill/>
          <a:ln/>
        </p:spPr>
        <p:txBody>
          <a:bodyPr wrap="square"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a:t>
            </a:r>
            <a:endParaRPr lang="en-US" sz="3200" dirty="0"/>
          </a:p>
        </p:txBody>
      </p:sp>
      <p:sp>
        <p:nvSpPr>
          <p:cNvPr id="10" name="Shape 8"/>
          <p:cNvSpPr/>
          <p:nvPr/>
        </p:nvSpPr>
        <p:spPr>
          <a:xfrm>
            <a:off x="5486400" y="2331720"/>
            <a:ext cx="2926080" cy="2286000"/>
          </a:xfrm>
          <a:prstGeom prst="roundRect">
            <a:avLst>
              <a:gd name="adj" fmla="val 3200"/>
            </a:avLst>
          </a:prstGeom>
          <a:solidFill>
            <a:srgbClr val="02C39A"/>
          </a:solidFill>
          <a:ln/>
        </p:spPr>
      </p:sp>
      <p:sp>
        <p:nvSpPr>
          <p:cNvPr id="11" name="Text 9"/>
          <p:cNvSpPr/>
          <p:nvPr/>
        </p:nvSpPr>
        <p:spPr>
          <a:xfrm>
            <a:off x="5760720" y="2487168"/>
            <a:ext cx="2377440" cy="320040"/>
          </a:xfrm>
          <a:prstGeom prst="rect">
            <a:avLst/>
          </a:prstGeom>
          <a:noFill/>
          <a:ln/>
        </p:spPr>
        <p:txBody>
          <a:bodyPr wrap="square" rtlCol="0" anchor="ctr"/>
          <a:lstStyle/>
          <a:p>
            <a:pPr indent="0" marL="0">
              <a:buNone/>
            </a:pPr>
            <a:r>
              <a:rPr lang="en-US" sz="1150" b="1" spc="200" kern="0" dirty="0">
                <a:solidFill>
                  <a:srgbClr val="0D2B45"/>
                </a:solidFill>
                <a:latin typeface="Calibri" pitchFamily="34" charset="0"/>
                <a:ea typeface="Calibri" pitchFamily="34" charset="-122"/>
                <a:cs typeface="Calibri" pitchFamily="34" charset="-120"/>
              </a:rPr>
              <a:t>ADAPTER</a:t>
            </a:r>
            <a:endParaRPr lang="en-US" sz="1150" dirty="0"/>
          </a:p>
        </p:txBody>
      </p:sp>
      <p:sp>
        <p:nvSpPr>
          <p:cNvPr id="12" name="Text 10"/>
          <p:cNvSpPr/>
          <p:nvPr/>
        </p:nvSpPr>
        <p:spPr>
          <a:xfrm>
            <a:off x="5760720" y="2926080"/>
            <a:ext cx="2377440" cy="1463040"/>
          </a:xfrm>
          <a:prstGeom prst="rect">
            <a:avLst/>
          </a:prstGeom>
          <a:noFill/>
          <a:ln/>
        </p:spPr>
        <p:txBody>
          <a:bodyPr wrap="square" rtlCol="0" anchor="ctr"/>
          <a:lstStyle/>
          <a:p>
            <a:pPr indent="0" marL="0">
              <a:buNone/>
            </a:pPr>
            <a:r>
              <a:rPr lang="en-US" sz="1600" b="1" dirty="0">
                <a:solidFill>
                  <a:srgbClr val="0D2B45"/>
                </a:solidFill>
                <a:latin typeface="Georgia" pitchFamily="34" charset="0"/>
                <a:ea typeface="Georgia" pitchFamily="34" charset="-122"/>
                <a:cs typeface="Georgia" pitchFamily="34" charset="-120"/>
              </a:rPr>
              <a:t>Diccionario de</a:t>
            </a:r>
            <a:endParaRPr lang="en-US" sz="1600" dirty="0"/>
          </a:p>
          <a:p>
            <a:pPr indent="0" marL="0">
              <a:buNone/>
            </a:pPr>
            <a:r>
              <a:rPr lang="en-US" sz="1600" b="1" dirty="0">
                <a:solidFill>
                  <a:srgbClr val="0D2B45"/>
                </a:solidFill>
                <a:latin typeface="Georgia" pitchFamily="34" charset="0"/>
                <a:ea typeface="Georgia" pitchFamily="34" charset="-122"/>
                <a:cs typeface="Georgia" pitchFamily="34" charset="-120"/>
              </a:rPr>
              <a:t>sinónimos</a:t>
            </a:r>
            <a:endParaRPr lang="en-US" sz="1600" dirty="0"/>
          </a:p>
          <a:p>
            <a:pPr indent="0" marL="0">
              <a:buNone/>
            </a:pPr>
            <a:r>
              <a:rPr lang="en-US" sz="1600" b="1" dirty="0">
                <a:solidFill>
                  <a:srgbClr val="0D2B45"/>
                </a:solidFill>
                <a:latin typeface="Georgia" pitchFamily="34" charset="0"/>
                <a:ea typeface="Georgia" pitchFamily="34" charset="-122"/>
                <a:cs typeface="Georgia" pitchFamily="34" charset="-120"/>
              </a:rPr>
              <a:t>+</a:t>
            </a:r>
            <a:endParaRPr lang="en-US" sz="1600" dirty="0"/>
          </a:p>
          <a:p>
            <a:pPr indent="0" marL="0">
              <a:buNone/>
            </a:pPr>
            <a:r>
              <a:rPr lang="en-US" sz="1600" b="1" dirty="0">
                <a:solidFill>
                  <a:srgbClr val="0D2B45"/>
                </a:solidFill>
                <a:latin typeface="Georgia" pitchFamily="34" charset="0"/>
                <a:ea typeface="Georgia" pitchFamily="34" charset="-122"/>
                <a:cs typeface="Georgia" pitchFamily="34" charset="-120"/>
              </a:rPr>
              <a:t>heurísticas</a:t>
            </a:r>
            <a:endParaRPr lang="en-US" sz="1600" dirty="0"/>
          </a:p>
          <a:p>
            <a:pPr indent="0" marL="0">
              <a:buNone/>
            </a:pPr>
            <a:r>
              <a:rPr lang="en-US" sz="1600" b="1" dirty="0">
                <a:solidFill>
                  <a:srgbClr val="0D2B45"/>
                </a:solidFill>
                <a:latin typeface="Georgia" pitchFamily="34" charset="0"/>
                <a:ea typeface="Georgia" pitchFamily="34" charset="-122"/>
                <a:cs typeface="Georgia" pitchFamily="34" charset="-120"/>
              </a:rPr>
              <a:t>locales</a:t>
            </a:r>
            <a:endParaRPr lang="en-US" sz="1600" dirty="0"/>
          </a:p>
        </p:txBody>
      </p:sp>
      <p:sp>
        <p:nvSpPr>
          <p:cNvPr id="13" name="Text 11"/>
          <p:cNvSpPr/>
          <p:nvPr/>
        </p:nvSpPr>
        <p:spPr>
          <a:xfrm>
            <a:off x="8503920" y="3154680"/>
            <a:ext cx="731520" cy="640080"/>
          </a:xfrm>
          <a:prstGeom prst="rect">
            <a:avLst/>
          </a:prstGeom>
          <a:noFill/>
          <a:ln/>
        </p:spPr>
        <p:txBody>
          <a:bodyPr wrap="square"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a:t>
            </a:r>
            <a:endParaRPr lang="en-US" sz="3200" dirty="0"/>
          </a:p>
        </p:txBody>
      </p:sp>
      <p:sp>
        <p:nvSpPr>
          <p:cNvPr id="14" name="Shape 12"/>
          <p:cNvSpPr/>
          <p:nvPr/>
        </p:nvSpPr>
        <p:spPr>
          <a:xfrm>
            <a:off x="9326880" y="2331720"/>
            <a:ext cx="2194560" cy="2286000"/>
          </a:xfrm>
          <a:prstGeom prst="roundRect">
            <a:avLst>
              <a:gd name="adj" fmla="val 3333"/>
            </a:avLst>
          </a:prstGeom>
          <a:solidFill>
            <a:srgbClr val="14395E"/>
          </a:solidFill>
          <a:ln w="12700">
            <a:solidFill>
              <a:srgbClr val="02C39A"/>
            </a:solidFill>
            <a:prstDash val="solid"/>
          </a:ln>
        </p:spPr>
      </p:sp>
      <p:sp>
        <p:nvSpPr>
          <p:cNvPr id="15" name="Text 13"/>
          <p:cNvSpPr/>
          <p:nvPr/>
        </p:nvSpPr>
        <p:spPr>
          <a:xfrm>
            <a:off x="9509760" y="2487168"/>
            <a:ext cx="1920240" cy="32004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MODELO ÚNICO</a:t>
            </a:r>
            <a:endParaRPr lang="en-US" sz="1050" dirty="0"/>
          </a:p>
        </p:txBody>
      </p:sp>
      <p:sp>
        <p:nvSpPr>
          <p:cNvPr id="16" name="Text 14"/>
          <p:cNvSpPr/>
          <p:nvPr/>
        </p:nvSpPr>
        <p:spPr>
          <a:xfrm>
            <a:off x="9509760" y="2971800"/>
            <a:ext cx="1920240" cy="1371600"/>
          </a:xfrm>
          <a:prstGeom prst="rect">
            <a:avLst/>
          </a:prstGeom>
          <a:noFill/>
          <a:ln/>
        </p:spPr>
        <p:txBody>
          <a:bodyPr wrap="square" rtlCol="0" anchor="ctr"/>
          <a:lstStyle/>
          <a:p>
            <a:pPr indent="0" marL="0">
              <a:buNone/>
            </a:pPr>
            <a:r>
              <a:rPr lang="en-US" sz="1400" dirty="0">
                <a:solidFill>
                  <a:srgbClr val="CADCFC"/>
                </a:solidFill>
                <a:latin typeface="Consolas" pitchFamily="34" charset="0"/>
                <a:ea typeface="Consolas" pitchFamily="34" charset="-122"/>
                <a:cs typeface="Consolas" pitchFamily="34" charset="-120"/>
              </a:rPr>
              <a:t>fecha</a:t>
            </a:r>
            <a:endParaRPr lang="en-US" sz="1400" dirty="0"/>
          </a:p>
          <a:p>
            <a:pPr indent="0" marL="0">
              <a:buNone/>
            </a:pPr>
            <a:r>
              <a:rPr lang="en-US" sz="1400" dirty="0">
                <a:solidFill>
                  <a:srgbClr val="CADCFC"/>
                </a:solidFill>
                <a:latin typeface="Consolas" pitchFamily="34" charset="0"/>
                <a:ea typeface="Consolas" pitchFamily="34" charset="-122"/>
                <a:cs typeface="Consolas" pitchFamily="34" charset="-120"/>
              </a:rPr>
              <a:t>descripción</a:t>
            </a:r>
            <a:endParaRPr lang="en-US" sz="1400" dirty="0"/>
          </a:p>
          <a:p>
            <a:pPr indent="0" marL="0">
              <a:buNone/>
            </a:pPr>
            <a:r>
              <a:rPr lang="en-US" sz="1400" dirty="0">
                <a:solidFill>
                  <a:srgbClr val="CADCFC"/>
                </a:solidFill>
                <a:latin typeface="Consolas" pitchFamily="34" charset="0"/>
                <a:ea typeface="Consolas" pitchFamily="34" charset="-122"/>
                <a:cs typeface="Consolas" pitchFamily="34" charset="-120"/>
              </a:rPr>
              <a:t>monto</a:t>
            </a:r>
            <a:endParaRPr lang="en-US" sz="1400" dirty="0"/>
          </a:p>
          <a:p>
            <a:pPr indent="0" marL="0">
              <a:buNone/>
            </a:pPr>
            <a:r>
              <a:rPr lang="en-US" sz="1400" dirty="0">
                <a:solidFill>
                  <a:srgbClr val="CADCFC"/>
                </a:solidFill>
                <a:latin typeface="Consolas" pitchFamily="34" charset="0"/>
                <a:ea typeface="Consolas" pitchFamily="34" charset="-122"/>
                <a:cs typeface="Consolas" pitchFamily="34" charset="-120"/>
              </a:rPr>
              <a:t>tipo</a:t>
            </a:r>
            <a:endParaRPr lang="en-US" sz="1400" dirty="0"/>
          </a:p>
        </p:txBody>
      </p:sp>
      <p:sp>
        <p:nvSpPr>
          <p:cNvPr id="17" name="Shape 15"/>
          <p:cNvSpPr/>
          <p:nvPr/>
        </p:nvSpPr>
        <p:spPr>
          <a:xfrm>
            <a:off x="640080" y="4846320"/>
            <a:ext cx="5349240" cy="1371600"/>
          </a:xfrm>
          <a:prstGeom prst="roundRect">
            <a:avLst>
              <a:gd name="adj" fmla="val 5333"/>
            </a:avLst>
          </a:prstGeom>
          <a:solidFill>
            <a:srgbClr val="14395E"/>
          </a:solidFill>
          <a:ln w="12700">
            <a:solidFill>
              <a:srgbClr val="02C39A"/>
            </a:solidFill>
            <a:prstDash val="solid"/>
          </a:ln>
        </p:spPr>
      </p:sp>
      <p:sp>
        <p:nvSpPr>
          <p:cNvPr id="18" name="Text 16"/>
          <p:cNvSpPr/>
          <p:nvPr/>
        </p:nvSpPr>
        <p:spPr>
          <a:xfrm>
            <a:off x="914400" y="4983480"/>
            <a:ext cx="4846320" cy="292608"/>
          </a:xfrm>
          <a:prstGeom prst="rect">
            <a:avLst/>
          </a:prstGeom>
          <a:noFill/>
          <a:ln/>
        </p:spPr>
        <p:txBody>
          <a:bodyPr wrap="square" rtlCol="0" anchor="ctr"/>
          <a:lstStyle/>
          <a:p>
            <a:pPr indent="0" marL="0">
              <a:buNone/>
            </a:pPr>
            <a:r>
              <a:rPr lang="en-US" sz="1150" b="1" dirty="0">
                <a:solidFill>
                  <a:srgbClr val="02C39A"/>
                </a:solidFill>
                <a:latin typeface="Calibri" pitchFamily="34" charset="0"/>
                <a:ea typeface="Calibri" pitchFamily="34" charset="-122"/>
                <a:cs typeface="Calibri" pitchFamily="34" charset="-120"/>
              </a:rPr>
              <a:t>Por qué así</a:t>
            </a:r>
            <a:endParaRPr lang="en-US" sz="1150" dirty="0"/>
          </a:p>
        </p:txBody>
      </p:sp>
      <p:sp>
        <p:nvSpPr>
          <p:cNvPr id="19" name="Text 17"/>
          <p:cNvSpPr/>
          <p:nvPr/>
        </p:nvSpPr>
        <p:spPr>
          <a:xfrm>
            <a:off x="914400" y="5285232"/>
            <a:ext cx="4846320" cy="8229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El mapeo es declarativo: agregar un décimo banco es agregar un sinónimo a una lista, sin tocar una línea de lógica.</a:t>
            </a:r>
            <a:endParaRPr lang="en-US" sz="1250" dirty="0"/>
          </a:p>
        </p:txBody>
      </p:sp>
      <p:sp>
        <p:nvSpPr>
          <p:cNvPr id="20" name="Shape 18"/>
          <p:cNvSpPr/>
          <p:nvPr/>
        </p:nvSpPr>
        <p:spPr>
          <a:xfrm>
            <a:off x="6172200" y="4846320"/>
            <a:ext cx="5349240" cy="1371600"/>
          </a:xfrm>
          <a:prstGeom prst="roundRect">
            <a:avLst>
              <a:gd name="adj" fmla="val 5333"/>
            </a:avLst>
          </a:prstGeom>
          <a:solidFill>
            <a:srgbClr val="14395E"/>
          </a:solidFill>
          <a:ln w="12700">
            <a:solidFill>
              <a:srgbClr val="D14D4D"/>
            </a:solidFill>
            <a:prstDash val="solid"/>
          </a:ln>
        </p:spPr>
      </p:sp>
      <p:sp>
        <p:nvSpPr>
          <p:cNvPr id="21" name="Text 19"/>
          <p:cNvSpPr/>
          <p:nvPr/>
        </p:nvSpPr>
        <p:spPr>
          <a:xfrm>
            <a:off x="6446520" y="4983480"/>
            <a:ext cx="4846320" cy="292608"/>
          </a:xfrm>
          <a:prstGeom prst="rect">
            <a:avLst/>
          </a:prstGeom>
          <a:noFill/>
          <a:ln/>
        </p:spPr>
        <p:txBody>
          <a:bodyPr wrap="square" rtlCol="0" anchor="ctr"/>
          <a:lstStyle/>
          <a:p>
            <a:pPr indent="0" marL="0">
              <a:buNone/>
            </a:pPr>
            <a:r>
              <a:rPr lang="en-US" sz="1150" b="1" dirty="0">
                <a:solidFill>
                  <a:srgbClr val="D14D4D"/>
                </a:solidFill>
                <a:latin typeface="Calibri" pitchFamily="34" charset="0"/>
                <a:ea typeface="Calibri" pitchFamily="34" charset="-122"/>
                <a:cs typeface="Calibri" pitchFamily="34" charset="-120"/>
              </a:rPr>
              <a:t>Alternativas descartadas</a:t>
            </a:r>
            <a:endParaRPr lang="en-US" sz="1150" dirty="0"/>
          </a:p>
        </p:txBody>
      </p:sp>
      <p:sp>
        <p:nvSpPr>
          <p:cNvPr id="22" name="Text 20"/>
          <p:cNvSpPr/>
          <p:nvPr/>
        </p:nvSpPr>
        <p:spPr>
          <a:xfrm>
            <a:off x="6446520" y="5285232"/>
            <a:ext cx="4846320" cy="8229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Un parser por banco: no escala, y los bancos cambian sus exportaciones sin avisar. Que el usuario mapee a mano: elimina el valor de la funcionalidad.</a:t>
            </a:r>
            <a:endParaRPr lang="en-US" sz="1250" dirty="0"/>
          </a:p>
        </p:txBody>
      </p:sp>
      <p:sp>
        <p:nvSpPr>
          <p:cNvPr id="23" name="Text 2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4" name="Text 2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PATRÓN 3 DE 3 · CACHE-ASIDE + CHAIN OF RESPONSIBILITY</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29:00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Clasificar es una cadena de tres eslabones</a:t>
            </a:r>
            <a:endParaRPr lang="en-US" sz="3200" dirty="0"/>
          </a:p>
        </p:txBody>
      </p:sp>
      <p:sp>
        <p:nvSpPr>
          <p:cNvPr id="5" name="Shape 3"/>
          <p:cNvSpPr/>
          <p:nvPr/>
        </p:nvSpPr>
        <p:spPr>
          <a:xfrm>
            <a:off x="640080" y="2011680"/>
            <a:ext cx="7863840" cy="1170432"/>
          </a:xfrm>
          <a:prstGeom prst="roundRect">
            <a:avLst>
              <a:gd name="adj" fmla="val 625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6" name="Shape 4"/>
          <p:cNvSpPr/>
          <p:nvPr/>
        </p:nvSpPr>
        <p:spPr>
          <a:xfrm>
            <a:off x="640080" y="2011680"/>
            <a:ext cx="137160" cy="1170432"/>
          </a:xfrm>
          <a:prstGeom prst="roundRect">
            <a:avLst>
              <a:gd name="adj" fmla="val 26667"/>
            </a:avLst>
          </a:prstGeom>
          <a:solidFill>
            <a:srgbClr val="02C39A"/>
          </a:solidFill>
          <a:ln/>
        </p:spPr>
      </p:sp>
      <p:sp>
        <p:nvSpPr>
          <p:cNvPr id="7" name="Shape 5"/>
          <p:cNvSpPr/>
          <p:nvPr/>
        </p:nvSpPr>
        <p:spPr>
          <a:xfrm>
            <a:off x="914400" y="2322576"/>
            <a:ext cx="548640" cy="548640"/>
          </a:xfrm>
          <a:prstGeom prst="roundRect">
            <a:avLst>
              <a:gd name="adj" fmla="val 50000"/>
            </a:avLst>
          </a:prstGeom>
          <a:solidFill>
            <a:srgbClr val="02C39A"/>
          </a:solidFill>
          <a:ln/>
        </p:spPr>
      </p:sp>
      <p:sp>
        <p:nvSpPr>
          <p:cNvPr id="8" name="Text 6"/>
          <p:cNvSpPr/>
          <p:nvPr/>
        </p:nvSpPr>
        <p:spPr>
          <a:xfrm>
            <a:off x="914400" y="2322576"/>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645920" y="2176272"/>
            <a:ext cx="4023360" cy="384048"/>
          </a:xfrm>
          <a:prstGeom prst="rect">
            <a:avLst/>
          </a:prstGeom>
          <a:noFill/>
          <a:ln/>
        </p:spPr>
        <p:txBody>
          <a:bodyPr wrap="square" rtlCol="0" anchor="ctr"/>
          <a:lstStyle/>
          <a:p>
            <a:pPr indent="0" marL="0">
              <a:buNone/>
            </a:pPr>
            <a:r>
              <a:rPr lang="en-US" sz="1600" b="1" dirty="0">
                <a:solidFill>
                  <a:srgbClr val="16222E"/>
                </a:solidFill>
                <a:latin typeface="Georgia" pitchFamily="34" charset="0"/>
                <a:ea typeface="Georgia" pitchFamily="34" charset="-122"/>
                <a:cs typeface="Georgia" pitchFamily="34" charset="-120"/>
              </a:rPr>
              <a:t>¿Ya lo corrigió el usuario?</a:t>
            </a:r>
            <a:endParaRPr lang="en-US" sz="1600" dirty="0"/>
          </a:p>
        </p:txBody>
      </p:sp>
      <p:sp>
        <p:nvSpPr>
          <p:cNvPr id="10" name="Text 8"/>
          <p:cNvSpPr/>
          <p:nvPr/>
        </p:nvSpPr>
        <p:spPr>
          <a:xfrm>
            <a:off x="1645920" y="2578608"/>
            <a:ext cx="4663440" cy="5486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Devolver su corrección con confianza 1.0.</a:t>
            </a:r>
            <a:endParaRPr lang="en-US" sz="1200" dirty="0"/>
          </a:p>
          <a:p>
            <a:pPr indent="0" marL="0">
              <a:buNone/>
            </a:pPr>
            <a:r>
              <a:rPr lang="en-US" sz="1200" dirty="0">
                <a:solidFill>
                  <a:srgbClr val="4A5A68"/>
                </a:solidFill>
                <a:latin typeface="Calibri" pitchFamily="34" charset="0"/>
                <a:ea typeface="Calibri" pitchFamily="34" charset="-122"/>
                <a:cs typeface="Calibri" pitchFamily="34" charset="-120"/>
              </a:rPr>
              <a:t>Es dato real: no hay nada que predecir.</a:t>
            </a:r>
            <a:endParaRPr lang="en-US" sz="1200" dirty="0"/>
          </a:p>
        </p:txBody>
      </p:sp>
      <p:sp>
        <p:nvSpPr>
          <p:cNvPr id="11" name="Shape 9"/>
          <p:cNvSpPr/>
          <p:nvPr/>
        </p:nvSpPr>
        <p:spPr>
          <a:xfrm>
            <a:off x="6492240" y="2395728"/>
            <a:ext cx="1828800" cy="402336"/>
          </a:xfrm>
          <a:prstGeom prst="roundRect">
            <a:avLst>
              <a:gd name="adj" fmla="val 22727"/>
            </a:avLst>
          </a:prstGeom>
          <a:solidFill>
            <a:srgbClr val="02C39A"/>
          </a:solidFill>
          <a:ln/>
        </p:spPr>
      </p:sp>
      <p:sp>
        <p:nvSpPr>
          <p:cNvPr id="12" name="Text 10"/>
          <p:cNvSpPr/>
          <p:nvPr/>
        </p:nvSpPr>
        <p:spPr>
          <a:xfrm>
            <a:off x="6492240" y="2395728"/>
            <a:ext cx="1828800" cy="402336"/>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Cache-Aside</a:t>
            </a:r>
            <a:endParaRPr lang="en-US" sz="1050" dirty="0"/>
          </a:p>
        </p:txBody>
      </p:sp>
      <p:sp>
        <p:nvSpPr>
          <p:cNvPr id="13" name="Text 11"/>
          <p:cNvSpPr/>
          <p:nvPr/>
        </p:nvSpPr>
        <p:spPr>
          <a:xfrm>
            <a:off x="1051560" y="3182112"/>
            <a:ext cx="274320" cy="201168"/>
          </a:xfrm>
          <a:prstGeom prst="rect">
            <a:avLst/>
          </a:prstGeom>
          <a:noFill/>
          <a:ln/>
        </p:spPr>
        <p:txBody>
          <a:bodyPr wrap="square" rtlCol="0" anchor="ctr"/>
          <a:lstStyle/>
          <a:p>
            <a:pPr indent="0" marL="0">
              <a:buNone/>
            </a:pPr>
            <a:r>
              <a:rPr lang="en-US" sz="1400" dirty="0">
                <a:solidFill>
                  <a:srgbClr val="8FA3B5"/>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640080" y="3383280"/>
            <a:ext cx="7863840" cy="1170432"/>
          </a:xfrm>
          <a:prstGeom prst="roundRect">
            <a:avLst>
              <a:gd name="adj" fmla="val 625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5" name="Shape 13"/>
          <p:cNvSpPr/>
          <p:nvPr/>
        </p:nvSpPr>
        <p:spPr>
          <a:xfrm>
            <a:off x="640080" y="3383280"/>
            <a:ext cx="137160" cy="1170432"/>
          </a:xfrm>
          <a:prstGeom prst="roundRect">
            <a:avLst>
              <a:gd name="adj" fmla="val 26667"/>
            </a:avLst>
          </a:prstGeom>
          <a:solidFill>
            <a:srgbClr val="1C7293"/>
          </a:solidFill>
          <a:ln/>
        </p:spPr>
      </p:sp>
      <p:sp>
        <p:nvSpPr>
          <p:cNvPr id="16" name="Shape 14"/>
          <p:cNvSpPr/>
          <p:nvPr/>
        </p:nvSpPr>
        <p:spPr>
          <a:xfrm>
            <a:off x="914400" y="3694176"/>
            <a:ext cx="548640" cy="548640"/>
          </a:xfrm>
          <a:prstGeom prst="roundRect">
            <a:avLst>
              <a:gd name="adj" fmla="val 50000"/>
            </a:avLst>
          </a:prstGeom>
          <a:solidFill>
            <a:srgbClr val="1C7293"/>
          </a:solidFill>
          <a:ln/>
        </p:spPr>
      </p:sp>
      <p:sp>
        <p:nvSpPr>
          <p:cNvPr id="17" name="Text 15"/>
          <p:cNvSpPr/>
          <p:nvPr/>
        </p:nvSpPr>
        <p:spPr>
          <a:xfrm>
            <a:off x="914400" y="3694176"/>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8" name="Text 16"/>
          <p:cNvSpPr/>
          <p:nvPr/>
        </p:nvSpPr>
        <p:spPr>
          <a:xfrm>
            <a:off x="1645920" y="3547872"/>
            <a:ext cx="4023360" cy="384048"/>
          </a:xfrm>
          <a:prstGeom prst="rect">
            <a:avLst/>
          </a:prstGeom>
          <a:noFill/>
          <a:ln/>
        </p:spPr>
        <p:txBody>
          <a:bodyPr wrap="square" rtlCol="0" anchor="ctr"/>
          <a:lstStyle/>
          <a:p>
            <a:pPr indent="0" marL="0">
              <a:buNone/>
            </a:pPr>
            <a:r>
              <a:rPr lang="en-US" sz="1600" b="1" dirty="0">
                <a:solidFill>
                  <a:srgbClr val="16222E"/>
                </a:solidFill>
                <a:latin typeface="Georgia" pitchFamily="34" charset="0"/>
                <a:ea typeface="Georgia" pitchFamily="34" charset="-122"/>
                <a:cs typeface="Georgia" pitchFamily="34" charset="-120"/>
              </a:rPr>
              <a:t>Clasificador ML local</a:t>
            </a:r>
            <a:endParaRPr lang="en-US" sz="1600" dirty="0"/>
          </a:p>
        </p:txBody>
      </p:sp>
      <p:sp>
        <p:nvSpPr>
          <p:cNvPr id="19" name="Text 17"/>
          <p:cNvSpPr/>
          <p:nvPr/>
        </p:nvSpPr>
        <p:spPr>
          <a:xfrm>
            <a:off x="1645920" y="3950208"/>
            <a:ext cx="4663440" cy="5486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TF-IDF + Naive Bayes o SVM, según el</a:t>
            </a:r>
            <a:endParaRPr lang="en-US" sz="1200" dirty="0"/>
          </a:p>
          <a:p>
            <a:pPr indent="0" marL="0">
              <a:buNone/>
            </a:pPr>
            <a:r>
              <a:rPr lang="en-US" sz="1200" dirty="0">
                <a:solidFill>
                  <a:srgbClr val="4A5A68"/>
                </a:solidFill>
                <a:latin typeface="Calibri" pitchFamily="34" charset="0"/>
                <a:ea typeface="Calibri" pitchFamily="34" charset="-122"/>
                <a:cs typeface="Calibri" pitchFamily="34" charset="-120"/>
              </a:rPr>
              <a:t>volumen de ejemplos del usuario.</a:t>
            </a:r>
            <a:endParaRPr lang="en-US" sz="1200" dirty="0"/>
          </a:p>
        </p:txBody>
      </p:sp>
      <p:sp>
        <p:nvSpPr>
          <p:cNvPr id="20" name="Shape 18"/>
          <p:cNvSpPr/>
          <p:nvPr/>
        </p:nvSpPr>
        <p:spPr>
          <a:xfrm>
            <a:off x="6492240" y="3767328"/>
            <a:ext cx="1828800" cy="402336"/>
          </a:xfrm>
          <a:prstGeom prst="roundRect">
            <a:avLst>
              <a:gd name="adj" fmla="val 22727"/>
            </a:avLst>
          </a:prstGeom>
          <a:solidFill>
            <a:srgbClr val="1C7293"/>
          </a:solidFill>
          <a:ln/>
        </p:spPr>
      </p:sp>
      <p:sp>
        <p:nvSpPr>
          <p:cNvPr id="21" name="Text 19"/>
          <p:cNvSpPr/>
          <p:nvPr/>
        </p:nvSpPr>
        <p:spPr>
          <a:xfrm>
            <a:off x="6492240" y="3767328"/>
            <a:ext cx="1828800" cy="402336"/>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p>
        </p:txBody>
      </p:sp>
      <p:sp>
        <p:nvSpPr>
          <p:cNvPr id="22" name="Text 20"/>
          <p:cNvSpPr/>
          <p:nvPr/>
        </p:nvSpPr>
        <p:spPr>
          <a:xfrm>
            <a:off x="1051560" y="4553712"/>
            <a:ext cx="274320" cy="201168"/>
          </a:xfrm>
          <a:prstGeom prst="rect">
            <a:avLst/>
          </a:prstGeom>
          <a:noFill/>
          <a:ln/>
        </p:spPr>
        <p:txBody>
          <a:bodyPr wrap="square" rtlCol="0" anchor="ctr"/>
          <a:lstStyle/>
          <a:p>
            <a:pPr indent="0" marL="0">
              <a:buNone/>
            </a:pPr>
            <a:r>
              <a:rPr lang="en-US" sz="1400" dirty="0">
                <a:solidFill>
                  <a:srgbClr val="8FA3B5"/>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40080" y="4754880"/>
            <a:ext cx="7863840" cy="1170432"/>
          </a:xfrm>
          <a:prstGeom prst="roundRect">
            <a:avLst>
              <a:gd name="adj" fmla="val 625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4" name="Shape 22"/>
          <p:cNvSpPr/>
          <p:nvPr/>
        </p:nvSpPr>
        <p:spPr>
          <a:xfrm>
            <a:off x="640080" y="4754880"/>
            <a:ext cx="137160" cy="1170432"/>
          </a:xfrm>
          <a:prstGeom prst="roundRect">
            <a:avLst>
              <a:gd name="adj" fmla="val 26667"/>
            </a:avLst>
          </a:prstGeom>
          <a:solidFill>
            <a:srgbClr val="E0A82E"/>
          </a:solidFill>
          <a:ln/>
        </p:spPr>
      </p:sp>
      <p:sp>
        <p:nvSpPr>
          <p:cNvPr id="25" name="Shape 23"/>
          <p:cNvSpPr/>
          <p:nvPr/>
        </p:nvSpPr>
        <p:spPr>
          <a:xfrm>
            <a:off x="914400" y="5065776"/>
            <a:ext cx="548640" cy="548640"/>
          </a:xfrm>
          <a:prstGeom prst="roundRect">
            <a:avLst>
              <a:gd name="adj" fmla="val 50000"/>
            </a:avLst>
          </a:prstGeom>
          <a:solidFill>
            <a:srgbClr val="E0A82E"/>
          </a:solidFill>
          <a:ln/>
        </p:spPr>
      </p:sp>
      <p:sp>
        <p:nvSpPr>
          <p:cNvPr id="26" name="Text 24"/>
          <p:cNvSpPr/>
          <p:nvPr/>
        </p:nvSpPr>
        <p:spPr>
          <a:xfrm>
            <a:off x="914400" y="5065776"/>
            <a:ext cx="54864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7" name="Text 25"/>
          <p:cNvSpPr/>
          <p:nvPr/>
        </p:nvSpPr>
        <p:spPr>
          <a:xfrm>
            <a:off x="1645920" y="4919472"/>
            <a:ext cx="4023360" cy="384048"/>
          </a:xfrm>
          <a:prstGeom prst="rect">
            <a:avLst/>
          </a:prstGeom>
          <a:noFill/>
          <a:ln/>
        </p:spPr>
        <p:txBody>
          <a:bodyPr wrap="square" rtlCol="0" anchor="ctr"/>
          <a:lstStyle/>
          <a:p>
            <a:pPr indent="0" marL="0">
              <a:buNone/>
            </a:pPr>
            <a:r>
              <a:rPr lang="en-US" sz="1600" b="1" dirty="0">
                <a:solidFill>
                  <a:srgbClr val="16222E"/>
                </a:solidFill>
                <a:latin typeface="Georgia" pitchFamily="34" charset="0"/>
                <a:ea typeface="Georgia" pitchFamily="34" charset="-122"/>
                <a:cs typeface="Georgia" pitchFamily="34" charset="-120"/>
              </a:rPr>
              <a:t>¿Confianza bajo el umbral?</a:t>
            </a:r>
            <a:endParaRPr lang="en-US" sz="1600" dirty="0"/>
          </a:p>
        </p:txBody>
      </p:sp>
      <p:sp>
        <p:nvSpPr>
          <p:cNvPr id="28" name="Text 26"/>
          <p:cNvSpPr/>
          <p:nvPr/>
        </p:nvSpPr>
        <p:spPr>
          <a:xfrm>
            <a:off x="1645920" y="5321808"/>
            <a:ext cx="4663440" cy="548640"/>
          </a:xfrm>
          <a:prstGeom prst="rect">
            <a:avLst/>
          </a:prstGeom>
          <a:noFill/>
          <a:ln/>
        </p:spPr>
        <p:txBody>
          <a:bodyPr wrap="square" rtlCol="0" anchor="ctr"/>
          <a:lstStyle/>
          <a:p>
            <a:pPr indent="0" marL="0">
              <a:buNone/>
            </a:pPr>
            <a:r>
              <a:rPr lang="en-US" sz="1200" dirty="0">
                <a:solidFill>
                  <a:srgbClr val="4A5A68"/>
                </a:solidFill>
                <a:latin typeface="Calibri" pitchFamily="34" charset="0"/>
                <a:ea typeface="Calibri" pitchFamily="34" charset="-122"/>
                <a:cs typeface="Calibri" pitchFamily="34" charset="-120"/>
              </a:rPr>
              <a:t>Devolver 'Otros' y marcar para revisión</a:t>
            </a:r>
            <a:endParaRPr lang="en-US" sz="1200" dirty="0"/>
          </a:p>
          <a:p>
            <a:pPr indent="0" marL="0">
              <a:buNone/>
            </a:pPr>
            <a:r>
              <a:rPr lang="en-US" sz="1200" dirty="0">
                <a:solidFill>
                  <a:srgbClr val="4A5A68"/>
                </a:solidFill>
                <a:latin typeface="Calibri" pitchFamily="34" charset="0"/>
                <a:ea typeface="Calibri" pitchFamily="34" charset="-122"/>
                <a:cs typeface="Calibri" pitchFamily="34" charset="-120"/>
              </a:rPr>
              <a:t>manual. El modelo dice que no sabe.</a:t>
            </a:r>
            <a:endParaRPr lang="en-US" sz="1200" dirty="0"/>
          </a:p>
        </p:txBody>
      </p:sp>
      <p:sp>
        <p:nvSpPr>
          <p:cNvPr id="29" name="Shape 27"/>
          <p:cNvSpPr/>
          <p:nvPr/>
        </p:nvSpPr>
        <p:spPr>
          <a:xfrm>
            <a:off x="6492240" y="5138928"/>
            <a:ext cx="1828800" cy="402336"/>
          </a:xfrm>
          <a:prstGeom prst="roundRect">
            <a:avLst>
              <a:gd name="adj" fmla="val 22727"/>
            </a:avLst>
          </a:prstGeom>
          <a:solidFill>
            <a:srgbClr val="E0A82E"/>
          </a:solidFill>
          <a:ln/>
        </p:spPr>
      </p:sp>
      <p:sp>
        <p:nvSpPr>
          <p:cNvPr id="30" name="Text 28"/>
          <p:cNvSpPr/>
          <p:nvPr/>
        </p:nvSpPr>
        <p:spPr>
          <a:xfrm>
            <a:off x="6492240" y="5138928"/>
            <a:ext cx="1828800" cy="402336"/>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Política de diseño</a:t>
            </a:r>
            <a:endParaRPr lang="en-US" sz="1050" dirty="0"/>
          </a:p>
        </p:txBody>
      </p:sp>
      <p:sp>
        <p:nvSpPr>
          <p:cNvPr id="31" name="Shape 29"/>
          <p:cNvSpPr/>
          <p:nvPr/>
        </p:nvSpPr>
        <p:spPr>
          <a:xfrm>
            <a:off x="8778240" y="2011680"/>
            <a:ext cx="2743200" cy="3913632"/>
          </a:xfrm>
          <a:prstGeom prst="roundRect">
            <a:avLst>
              <a:gd name="adj" fmla="val 3333"/>
            </a:avLst>
          </a:prstGeom>
          <a:solidFill>
            <a:srgbClr val="0D2B45"/>
          </a:solidFill>
          <a:ln/>
        </p:spPr>
      </p:sp>
      <p:sp>
        <p:nvSpPr>
          <p:cNvPr id="32" name="Text 30"/>
          <p:cNvSpPr/>
          <p:nvPr/>
        </p:nvSpPr>
        <p:spPr>
          <a:xfrm>
            <a:off x="9006840" y="2212848"/>
            <a:ext cx="2286000" cy="320040"/>
          </a:xfrm>
          <a:prstGeom prst="rect">
            <a:avLst/>
          </a:prstGeom>
          <a:noFill/>
          <a:ln/>
        </p:spPr>
        <p:txBody>
          <a:bodyPr wrap="square"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POR QUÉ</a:t>
            </a:r>
            <a:endParaRPr lang="en-US" sz="1150" dirty="0"/>
          </a:p>
        </p:txBody>
      </p:sp>
      <p:sp>
        <p:nvSpPr>
          <p:cNvPr id="33" name="Text 31"/>
          <p:cNvSpPr/>
          <p:nvPr/>
        </p:nvSpPr>
        <p:spPr>
          <a:xfrm>
            <a:off x="9006840" y="2606040"/>
            <a:ext cx="2286000" cy="13716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Si el usuario ya me dijo que «Adobe Photoshop» es Software, volver a equivocarme en esa misma descripción es inaceptable.</a:t>
            </a:r>
            <a:endParaRPr lang="en-US" sz="1200" dirty="0"/>
          </a:p>
        </p:txBody>
      </p:sp>
      <p:sp>
        <p:nvSpPr>
          <p:cNvPr id="34" name="Text 32"/>
          <p:cNvSpPr/>
          <p:nvPr/>
        </p:nvSpPr>
        <p:spPr>
          <a:xfrm>
            <a:off x="9006840" y="4114800"/>
            <a:ext cx="2286000" cy="12801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Y cuando el modelo duda, lo dice. Prefiero un sistema que diga «no sé» a uno que invente una categoría.</a:t>
            </a:r>
            <a:endParaRPr lang="en-US" sz="1200" dirty="0"/>
          </a:p>
        </p:txBody>
      </p:sp>
      <p:sp>
        <p:nvSpPr>
          <p:cNvPr id="35" name="Text 33"/>
          <p:cNvSpPr/>
          <p:nvPr/>
        </p:nvSpPr>
        <p:spPr>
          <a:xfrm>
            <a:off x="9006840" y="5532120"/>
            <a:ext cx="2286000" cy="274320"/>
          </a:xfrm>
          <a:prstGeom prst="rect">
            <a:avLst/>
          </a:prstGeom>
          <a:noFill/>
          <a:ln/>
        </p:spPr>
        <p:txBody>
          <a:bodyPr wrap="square" rtlCol="0" anchor="ctr"/>
          <a:lstStyle/>
          <a:p>
            <a:pPr indent="0" marL="0">
              <a:buNone/>
            </a:pPr>
            <a:r>
              <a:rPr lang="en-US" sz="1000" dirty="0">
                <a:solidFill>
                  <a:srgbClr val="5BB3C4"/>
                </a:solidFill>
                <a:latin typeface="Consolas" pitchFamily="34" charset="0"/>
                <a:ea typeface="Consolas" pitchFamily="34" charset="-122"/>
                <a:cs typeface="Consolas" pitchFamily="34" charset="-120"/>
              </a:rPr>
              <a:t>ia_service.py:409</a:t>
            </a:r>
            <a:endParaRPr lang="en-US" sz="1000" dirty="0"/>
          </a:p>
        </p:txBody>
      </p:sp>
      <p:sp>
        <p:nvSpPr>
          <p:cNvPr id="36" name="Text 34"/>
          <p:cNvSpPr/>
          <p:nvPr/>
        </p:nvSpPr>
        <p:spPr>
          <a:xfrm>
            <a:off x="640080" y="6035040"/>
            <a:ext cx="7863840" cy="365760"/>
          </a:xfrm>
          <a:prstGeom prst="rect">
            <a:avLst/>
          </a:prstGeom>
          <a:noFill/>
          <a:ln/>
        </p:spPr>
        <p:txBody>
          <a:bodyPr wrap="square"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La comparación usa una forma canónica: sin tildes, sin mayúsculas y sin espacios de más.</a:t>
            </a:r>
            <a:endParaRPr lang="en-US" sz="1200" dirty="0"/>
          </a:p>
        </p:txBody>
      </p:sp>
      <p:sp>
        <p:nvSpPr>
          <p:cNvPr id="37" name="Text 35"/>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8" name="Text 3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SEGURIDAD</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30:00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Control de acceso</a:t>
            </a:r>
            <a:endParaRPr lang="en-US" sz="3200" dirty="0"/>
          </a:p>
        </p:txBody>
      </p:sp>
      <p:sp>
        <p:nvSpPr>
          <p:cNvPr id="5" name="Shape 3"/>
          <p:cNvSpPr/>
          <p:nvPr/>
        </p:nvSpPr>
        <p:spPr>
          <a:xfrm>
            <a:off x="640080" y="1920240"/>
            <a:ext cx="3474720" cy="2926080"/>
          </a:xfrm>
          <a:prstGeom prst="roundRect">
            <a:avLst>
              <a:gd name="adj" fmla="val 3125"/>
            </a:avLst>
          </a:prstGeom>
          <a:solidFill>
            <a:srgbClr val="14395E"/>
          </a:solidFill>
          <a:ln w="12700">
            <a:solidFill>
              <a:srgbClr val="1C7293"/>
            </a:solidFill>
            <a:prstDash val="solid"/>
          </a:ln>
        </p:spPr>
      </p:sp>
      <p:sp>
        <p:nvSpPr>
          <p:cNvPr id="6" name="Text 4"/>
          <p:cNvSpPr/>
          <p:nvPr/>
        </p:nvSpPr>
        <p:spPr>
          <a:xfrm>
            <a:off x="914400" y="2121408"/>
            <a:ext cx="2926080" cy="45720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bcrypt</a:t>
            </a:r>
            <a:endParaRPr lang="en-US" sz="1700" dirty="0"/>
          </a:p>
        </p:txBody>
      </p:sp>
      <p:sp>
        <p:nvSpPr>
          <p:cNvPr id="7" name="Text 5"/>
          <p:cNvSpPr/>
          <p:nvPr/>
        </p:nvSpPr>
        <p:spPr>
          <a:xfrm>
            <a:off x="914400" y="2633472"/>
            <a:ext cx="2926080" cy="13716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Las contraseñas nunca se guardan en texto plano. Función de derivación de clave adaptable en costo, con valor único por usuario.</a:t>
            </a:r>
            <a:endParaRPr lang="en-US" sz="1250" dirty="0"/>
          </a:p>
        </p:txBody>
      </p:sp>
      <p:sp>
        <p:nvSpPr>
          <p:cNvPr id="8" name="Text 6"/>
          <p:cNvSpPr/>
          <p:nvPr/>
        </p:nvSpPr>
        <p:spPr>
          <a:xfrm>
            <a:off x="914400" y="4069080"/>
            <a:ext cx="2926080" cy="6858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Ni ante una filtración completa de la base se recuperarían las originales.</a:t>
            </a:r>
            <a:endParaRPr lang="en-US" sz="1100" dirty="0"/>
          </a:p>
        </p:txBody>
      </p:sp>
      <p:sp>
        <p:nvSpPr>
          <p:cNvPr id="9" name="Shape 7"/>
          <p:cNvSpPr/>
          <p:nvPr/>
        </p:nvSpPr>
        <p:spPr>
          <a:xfrm>
            <a:off x="4343400" y="1920240"/>
            <a:ext cx="3474720" cy="2926080"/>
          </a:xfrm>
          <a:prstGeom prst="roundRect">
            <a:avLst>
              <a:gd name="adj" fmla="val 3125"/>
            </a:avLst>
          </a:prstGeom>
          <a:solidFill>
            <a:srgbClr val="14395E"/>
          </a:solidFill>
          <a:ln w="12700">
            <a:solidFill>
              <a:srgbClr val="1C7293"/>
            </a:solidFill>
            <a:prstDash val="solid"/>
          </a:ln>
        </p:spPr>
      </p:sp>
      <p:sp>
        <p:nvSpPr>
          <p:cNvPr id="10" name="Text 8"/>
          <p:cNvSpPr/>
          <p:nvPr/>
        </p:nvSpPr>
        <p:spPr>
          <a:xfrm>
            <a:off x="4617720" y="2121408"/>
            <a:ext cx="2926080" cy="45720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JWT · HMAC-SHA256</a:t>
            </a:r>
            <a:endParaRPr lang="en-US" sz="1700" dirty="0"/>
          </a:p>
        </p:txBody>
      </p:sp>
      <p:sp>
        <p:nvSpPr>
          <p:cNvPr id="11" name="Text 9"/>
          <p:cNvSpPr/>
          <p:nvPr/>
        </p:nvSpPr>
        <p:spPr>
          <a:xfrm>
            <a:off x="4617720" y="2633472"/>
            <a:ext cx="2926080" cy="13716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Token firmado con vigencia de siete días. La clave de firma vive en una variable de entorno, fuera del código fuente.</a:t>
            </a:r>
            <a:endParaRPr lang="en-US" sz="1250" dirty="0"/>
          </a:p>
        </p:txBody>
      </p:sp>
      <p:sp>
        <p:nvSpPr>
          <p:cNvPr id="12" name="Text 10"/>
          <p:cNvSpPr/>
          <p:nvPr/>
        </p:nvSpPr>
        <p:spPr>
          <a:xfrm>
            <a:off x="4617720" y="4069080"/>
            <a:ext cx="2926080" cy="6858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Cada petición viaja con el token en el encabezado de autorización.</a:t>
            </a:r>
            <a:endParaRPr lang="en-US" sz="1100" dirty="0"/>
          </a:p>
        </p:txBody>
      </p:sp>
      <p:sp>
        <p:nvSpPr>
          <p:cNvPr id="13" name="Shape 11"/>
          <p:cNvSpPr/>
          <p:nvPr/>
        </p:nvSpPr>
        <p:spPr>
          <a:xfrm>
            <a:off x="8046720" y="1920240"/>
            <a:ext cx="3474720" cy="2926080"/>
          </a:xfrm>
          <a:prstGeom prst="roundRect">
            <a:avLst>
              <a:gd name="adj" fmla="val 3125"/>
            </a:avLst>
          </a:prstGeom>
          <a:solidFill>
            <a:srgbClr val="14395E"/>
          </a:solidFill>
          <a:ln w="12700">
            <a:solidFill>
              <a:srgbClr val="1C7293"/>
            </a:solidFill>
            <a:prstDash val="solid"/>
          </a:ln>
        </p:spPr>
      </p:sp>
      <p:sp>
        <p:nvSpPr>
          <p:cNvPr id="14" name="Text 12"/>
          <p:cNvSpPr/>
          <p:nvPr/>
        </p:nvSpPr>
        <p:spPr>
          <a:xfrm>
            <a:off x="8321040" y="2121408"/>
            <a:ext cx="2926080" cy="45720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Aislamiento por usuario</a:t>
            </a:r>
            <a:endParaRPr lang="en-US" sz="1700" dirty="0"/>
          </a:p>
        </p:txBody>
      </p:sp>
      <p:sp>
        <p:nvSpPr>
          <p:cNvPr id="15" name="Text 13"/>
          <p:cNvSpPr/>
          <p:nvPr/>
        </p:nvSpPr>
        <p:spPr>
          <a:xfrm>
            <a:off x="8321040" y="2633472"/>
            <a:ext cx="2926080" cy="13716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Todas las consultas se filtran por el identificador obtenido del token.</a:t>
            </a:r>
            <a:endParaRPr lang="en-US" sz="1250" dirty="0"/>
          </a:p>
        </p:txBody>
      </p:sp>
      <p:sp>
        <p:nvSpPr>
          <p:cNvPr id="16" name="Text 14"/>
          <p:cNvSpPr/>
          <p:nvPr/>
        </p:nvSpPr>
        <p:spPr>
          <a:xfrm>
            <a:off x="8321040" y="4069080"/>
            <a:ext cx="2926080" cy="685800"/>
          </a:xfrm>
          <a:prstGeom prst="rect">
            <a:avLst/>
          </a:prstGeom>
          <a:noFill/>
          <a:ln/>
        </p:spPr>
        <p:txBody>
          <a:bodyPr wrap="square"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La separación entre cuentas se garantiza en cada operación, no en la interfaz.</a:t>
            </a:r>
            <a:endParaRPr lang="en-US" sz="1100" dirty="0"/>
          </a:p>
        </p:txBody>
      </p:sp>
      <p:sp>
        <p:nvSpPr>
          <p:cNvPr id="17" name="Shape 15"/>
          <p:cNvSpPr/>
          <p:nvPr/>
        </p:nvSpPr>
        <p:spPr>
          <a:xfrm>
            <a:off x="640080" y="5120640"/>
            <a:ext cx="10881360" cy="1143000"/>
          </a:xfrm>
          <a:prstGeom prst="roundRect">
            <a:avLst>
              <a:gd name="adj" fmla="val 8000"/>
            </a:avLst>
          </a:prstGeom>
          <a:solidFill>
            <a:srgbClr val="02C39A"/>
          </a:solidFill>
          <a:ln/>
        </p:spPr>
      </p:sp>
      <p:sp>
        <p:nvSpPr>
          <p:cNvPr id="18" name="Text 16"/>
          <p:cNvSpPr/>
          <p:nvPr/>
        </p:nvSpPr>
        <p:spPr>
          <a:xfrm>
            <a:off x="914400" y="5212080"/>
            <a:ext cx="10332720" cy="502920"/>
          </a:xfrm>
          <a:prstGeom prst="rect">
            <a:avLst/>
          </a:prstGeom>
          <a:noFill/>
          <a:ln/>
        </p:spPr>
        <p:txBody>
          <a:bodyPr wrap="square" rtlCol="0" anchor="ctr"/>
          <a:lstStyle/>
          <a:p>
            <a:pPr indent="0" marL="0">
              <a:buNone/>
            </a:pPr>
            <a:r>
              <a:rPr lang="en-US" sz="1900" b="1" dirty="0">
                <a:solidFill>
                  <a:srgbClr val="0D2B45"/>
                </a:solidFill>
                <a:latin typeface="Georgia" pitchFamily="34" charset="0"/>
                <a:ea typeface="Georgia" pitchFamily="34" charset="-122"/>
                <a:cs typeface="Georgia" pitchFamily="34" charset="-120"/>
              </a:rPr>
              <a:t>El identificador del usuario se obtiene siempre del token, nunca del cuerpo de la petición.</a:t>
            </a:r>
            <a:endParaRPr lang="en-US" sz="1900" dirty="0"/>
          </a:p>
        </p:txBody>
      </p:sp>
      <p:sp>
        <p:nvSpPr>
          <p:cNvPr id="19" name="Text 17"/>
          <p:cNvSpPr/>
          <p:nvPr/>
        </p:nvSpPr>
        <p:spPr>
          <a:xfrm>
            <a:off x="914400" y="5715000"/>
            <a:ext cx="10332720" cy="411480"/>
          </a:xfrm>
          <a:prstGeom prst="rect">
            <a:avLst/>
          </a:prstGeom>
          <a:noFill/>
          <a:ln/>
        </p:spPr>
        <p:txBody>
          <a:bodyPr wrap="square" rtlCol="0" anchor="ctr"/>
          <a:lstStyle/>
          <a:p>
            <a:pPr indent="0" marL="0">
              <a:buNone/>
            </a:pPr>
            <a:r>
              <a:rPr lang="en-US" sz="1300" dirty="0">
                <a:solidFill>
                  <a:srgbClr val="14395E"/>
                </a:solidFill>
                <a:latin typeface="Calibri" pitchFamily="34" charset="0"/>
                <a:ea typeface="Calibri" pitchFamily="34" charset="-122"/>
                <a:cs typeface="Calibri" pitchFamily="34" charset="-120"/>
              </a:rPr>
              <a:t>Principio transversal del diseño: un cliente no puede manipular a quién pertenecen los datos.</a:t>
            </a:r>
            <a:endParaRPr lang="en-US" sz="1300" dirty="0"/>
          </a:p>
        </p:txBody>
      </p:sp>
      <p:sp>
        <p:nvSpPr>
          <p:cNvPr id="20" name="Text 18"/>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1" name="Text 19"/>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DECISIÓN DE DISEÑO CENTRAL</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31:00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Soberanía de los datos</a:t>
            </a:r>
            <a:endParaRPr lang="en-US" sz="3200" dirty="0"/>
          </a:p>
        </p:txBody>
      </p:sp>
      <p:sp>
        <p:nvSpPr>
          <p:cNvPr id="5" name="Text 3"/>
          <p:cNvSpPr/>
          <p:nvPr/>
        </p:nvSpPr>
        <p:spPr>
          <a:xfrm>
            <a:off x="640080" y="1874520"/>
            <a:ext cx="6766560" cy="68580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La descripción de un gasto puede revelar clientes, proveedores y hábitos de consumo. Es información financiera sensible.</a:t>
            </a:r>
            <a:endParaRPr lang="en-US" sz="1500" dirty="0"/>
          </a:p>
        </p:txBody>
      </p:sp>
      <p:sp>
        <p:nvSpPr>
          <p:cNvPr id="6" name="Shape 4"/>
          <p:cNvSpPr/>
          <p:nvPr/>
        </p:nvSpPr>
        <p:spPr>
          <a:xfrm>
            <a:off x="640080" y="2743200"/>
            <a:ext cx="6766560" cy="960120"/>
          </a:xfrm>
          <a:prstGeom prst="roundRect">
            <a:avLst>
              <a:gd name="adj" fmla="val 7619"/>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7" name="Shape 5"/>
          <p:cNvSpPr/>
          <p:nvPr/>
        </p:nvSpPr>
        <p:spPr>
          <a:xfrm>
            <a:off x="640080" y="2743200"/>
            <a:ext cx="137160" cy="960120"/>
          </a:xfrm>
          <a:prstGeom prst="roundRect">
            <a:avLst>
              <a:gd name="adj" fmla="val 26667"/>
            </a:avLst>
          </a:prstGeom>
          <a:solidFill>
            <a:srgbClr val="2E9E5B"/>
          </a:solidFill>
          <a:ln/>
        </p:spPr>
      </p:sp>
      <p:sp>
        <p:nvSpPr>
          <p:cNvPr id="8" name="Text 6"/>
          <p:cNvSpPr/>
          <p:nvPr/>
        </p:nvSpPr>
        <p:spPr>
          <a:xfrm>
            <a:off x="960120" y="2862072"/>
            <a:ext cx="4206240" cy="365760"/>
          </a:xfrm>
          <a:prstGeom prst="rect">
            <a:avLst/>
          </a:prstGeom>
          <a:noFill/>
          <a:ln/>
        </p:spPr>
        <p:txBody>
          <a:bodyPr wrap="square" rtlCol="0" anchor="ctr"/>
          <a:lstStyle/>
          <a:p>
            <a:pPr indent="0" marL="0">
              <a:buNone/>
            </a:pPr>
            <a:r>
              <a:rPr lang="en-US" sz="1500" b="1" dirty="0">
                <a:solidFill>
                  <a:srgbClr val="16222E"/>
                </a:solidFill>
                <a:latin typeface="Georgia" pitchFamily="34" charset="0"/>
                <a:ea typeface="Georgia" pitchFamily="34" charset="-122"/>
                <a:cs typeface="Georgia" pitchFamily="34" charset="-120"/>
              </a:rPr>
              <a:t>Clasificación de gastos</a:t>
            </a:r>
            <a:endParaRPr lang="en-US" sz="1500" dirty="0"/>
          </a:p>
        </p:txBody>
      </p:sp>
      <p:sp>
        <p:nvSpPr>
          <p:cNvPr id="9" name="Text 7"/>
          <p:cNvSpPr/>
          <p:nvPr/>
        </p:nvSpPr>
        <p:spPr>
          <a:xfrm>
            <a:off x="960120" y="3246120"/>
            <a:ext cx="5029200" cy="38404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Entrenamiento y ejecución dentro del mismo entorno donde vive la base.</a:t>
            </a:r>
            <a:endParaRPr lang="en-US" sz="1150" dirty="0"/>
          </a:p>
        </p:txBody>
      </p:sp>
      <p:sp>
        <p:nvSpPr>
          <p:cNvPr id="10" name="Shape 8"/>
          <p:cNvSpPr/>
          <p:nvPr/>
        </p:nvSpPr>
        <p:spPr>
          <a:xfrm>
            <a:off x="5486400" y="2999232"/>
            <a:ext cx="1737360" cy="438912"/>
          </a:xfrm>
          <a:prstGeom prst="roundRect">
            <a:avLst>
              <a:gd name="adj" fmla="val 20833"/>
            </a:avLst>
          </a:prstGeom>
          <a:solidFill>
            <a:srgbClr val="2E9E5B"/>
          </a:solidFill>
          <a:ln/>
        </p:spPr>
      </p:sp>
      <p:sp>
        <p:nvSpPr>
          <p:cNvPr id="11" name="Text 9"/>
          <p:cNvSpPr/>
          <p:nvPr/>
        </p:nvSpPr>
        <p:spPr>
          <a:xfrm>
            <a:off x="5486400" y="2999232"/>
            <a:ext cx="1737360" cy="43891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100 % LOCAL</a:t>
            </a:r>
            <a:endParaRPr lang="en-US" sz="950" dirty="0"/>
          </a:p>
        </p:txBody>
      </p:sp>
      <p:sp>
        <p:nvSpPr>
          <p:cNvPr id="12" name="Shape 10"/>
          <p:cNvSpPr/>
          <p:nvPr/>
        </p:nvSpPr>
        <p:spPr>
          <a:xfrm>
            <a:off x="640080" y="3886200"/>
            <a:ext cx="6766560" cy="960120"/>
          </a:xfrm>
          <a:prstGeom prst="roundRect">
            <a:avLst>
              <a:gd name="adj" fmla="val 7619"/>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3" name="Shape 11"/>
          <p:cNvSpPr/>
          <p:nvPr/>
        </p:nvSpPr>
        <p:spPr>
          <a:xfrm>
            <a:off x="640080" y="3886200"/>
            <a:ext cx="137160" cy="960120"/>
          </a:xfrm>
          <a:prstGeom prst="roundRect">
            <a:avLst>
              <a:gd name="adj" fmla="val 26667"/>
            </a:avLst>
          </a:prstGeom>
          <a:solidFill>
            <a:srgbClr val="2E9E5B"/>
          </a:solidFill>
          <a:ln/>
        </p:spPr>
      </p:sp>
      <p:sp>
        <p:nvSpPr>
          <p:cNvPr id="14" name="Text 12"/>
          <p:cNvSpPr/>
          <p:nvPr/>
        </p:nvSpPr>
        <p:spPr>
          <a:xfrm>
            <a:off x="960120" y="4005072"/>
            <a:ext cx="4206240" cy="365760"/>
          </a:xfrm>
          <a:prstGeom prst="rect">
            <a:avLst/>
          </a:prstGeom>
          <a:noFill/>
          <a:ln/>
        </p:spPr>
        <p:txBody>
          <a:bodyPr wrap="square" rtlCol="0" anchor="ctr"/>
          <a:lstStyle/>
          <a:p>
            <a:pPr indent="0" marL="0">
              <a:buNone/>
            </a:pPr>
            <a:r>
              <a:rPr lang="en-US" sz="1500" b="1" dirty="0">
                <a:solidFill>
                  <a:srgbClr val="16222E"/>
                </a:solidFill>
                <a:latin typeface="Georgia" pitchFamily="34" charset="0"/>
                <a:ea typeface="Georgia" pitchFamily="34" charset="-122"/>
                <a:cs typeface="Georgia" pitchFamily="34" charset="-120"/>
              </a:rPr>
              <a:t>Detección de formato de archivos</a:t>
            </a:r>
            <a:endParaRPr lang="en-US" sz="1500" dirty="0"/>
          </a:p>
        </p:txBody>
      </p:sp>
      <p:sp>
        <p:nvSpPr>
          <p:cNvPr id="15" name="Text 13"/>
          <p:cNvSpPr/>
          <p:nvPr/>
        </p:nvSpPr>
        <p:spPr>
          <a:xfrm>
            <a:off x="960120" y="4389120"/>
            <a:ext cx="5029200" cy="38404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Heurísticas sobre un diccionario de sinónimos relevado a mano.</a:t>
            </a:r>
            <a:endParaRPr lang="en-US" sz="1150" dirty="0"/>
          </a:p>
        </p:txBody>
      </p:sp>
      <p:sp>
        <p:nvSpPr>
          <p:cNvPr id="16" name="Shape 14"/>
          <p:cNvSpPr/>
          <p:nvPr/>
        </p:nvSpPr>
        <p:spPr>
          <a:xfrm>
            <a:off x="5486400" y="4142232"/>
            <a:ext cx="1737360" cy="438912"/>
          </a:xfrm>
          <a:prstGeom prst="roundRect">
            <a:avLst>
              <a:gd name="adj" fmla="val 20833"/>
            </a:avLst>
          </a:prstGeom>
          <a:solidFill>
            <a:srgbClr val="2E9E5B"/>
          </a:solidFill>
          <a:ln/>
        </p:spPr>
      </p:sp>
      <p:sp>
        <p:nvSpPr>
          <p:cNvPr id="17" name="Text 15"/>
          <p:cNvSpPr/>
          <p:nvPr/>
        </p:nvSpPr>
        <p:spPr>
          <a:xfrm>
            <a:off x="5486400" y="4142232"/>
            <a:ext cx="1737360" cy="43891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100 % LOCAL</a:t>
            </a:r>
            <a:endParaRPr lang="en-US" sz="950" dirty="0"/>
          </a:p>
        </p:txBody>
      </p:sp>
      <p:sp>
        <p:nvSpPr>
          <p:cNvPr id="18" name="Shape 16"/>
          <p:cNvSpPr/>
          <p:nvPr/>
        </p:nvSpPr>
        <p:spPr>
          <a:xfrm>
            <a:off x="640080" y="5029200"/>
            <a:ext cx="6766560" cy="960120"/>
          </a:xfrm>
          <a:prstGeom prst="roundRect">
            <a:avLst>
              <a:gd name="adj" fmla="val 7619"/>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9" name="Shape 17"/>
          <p:cNvSpPr/>
          <p:nvPr/>
        </p:nvSpPr>
        <p:spPr>
          <a:xfrm>
            <a:off x="640080" y="5029200"/>
            <a:ext cx="137160" cy="960120"/>
          </a:xfrm>
          <a:prstGeom prst="roundRect">
            <a:avLst>
              <a:gd name="adj" fmla="val 26667"/>
            </a:avLst>
          </a:prstGeom>
          <a:solidFill>
            <a:srgbClr val="E0A82E"/>
          </a:solidFill>
          <a:ln/>
        </p:spPr>
      </p:sp>
      <p:sp>
        <p:nvSpPr>
          <p:cNvPr id="20" name="Text 18"/>
          <p:cNvSpPr/>
          <p:nvPr/>
        </p:nvSpPr>
        <p:spPr>
          <a:xfrm>
            <a:off x="960120" y="5148072"/>
            <a:ext cx="4206240" cy="365760"/>
          </a:xfrm>
          <a:prstGeom prst="rect">
            <a:avLst/>
          </a:prstGeom>
          <a:noFill/>
          <a:ln/>
        </p:spPr>
        <p:txBody>
          <a:bodyPr wrap="square" rtlCol="0" anchor="ctr"/>
          <a:lstStyle/>
          <a:p>
            <a:pPr indent="0" marL="0">
              <a:buNone/>
            </a:pPr>
            <a:r>
              <a:rPr lang="en-US" sz="1500" b="1" dirty="0">
                <a:solidFill>
                  <a:srgbClr val="16222E"/>
                </a:solidFill>
                <a:latin typeface="Georgia" pitchFamily="34" charset="0"/>
                <a:ea typeface="Georgia" pitchFamily="34" charset="-122"/>
                <a:cs typeface="Georgia" pitchFamily="34" charset="-120"/>
              </a:rPr>
              <a:t>Resumen mensual en lenguaje natural</a:t>
            </a:r>
            <a:endParaRPr lang="en-US" sz="1500" dirty="0"/>
          </a:p>
        </p:txBody>
      </p:sp>
      <p:sp>
        <p:nvSpPr>
          <p:cNvPr id="21" name="Text 19"/>
          <p:cNvSpPr/>
          <p:nvPr/>
        </p:nvSpPr>
        <p:spPr>
          <a:xfrm>
            <a:off x="960120" y="5532120"/>
            <a:ext cx="5029200" cy="38404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Solo totales numéricos agregados. Nunca texto libre ni datos identificables.</a:t>
            </a:r>
            <a:endParaRPr lang="en-US" sz="1150" dirty="0"/>
          </a:p>
        </p:txBody>
      </p:sp>
      <p:sp>
        <p:nvSpPr>
          <p:cNvPr id="22" name="Shape 20"/>
          <p:cNvSpPr/>
          <p:nvPr/>
        </p:nvSpPr>
        <p:spPr>
          <a:xfrm>
            <a:off x="5486400" y="5285232"/>
            <a:ext cx="1737360" cy="438912"/>
          </a:xfrm>
          <a:prstGeom prst="roundRect">
            <a:avLst>
              <a:gd name="adj" fmla="val 20833"/>
            </a:avLst>
          </a:prstGeom>
          <a:solidFill>
            <a:srgbClr val="E0A82E"/>
          </a:solidFill>
          <a:ln/>
        </p:spPr>
      </p:sp>
      <p:sp>
        <p:nvSpPr>
          <p:cNvPr id="23" name="Text 21"/>
          <p:cNvSpPr/>
          <p:nvPr/>
        </p:nvSpPr>
        <p:spPr>
          <a:xfrm>
            <a:off x="5486400" y="5285232"/>
            <a:ext cx="1737360" cy="438912"/>
          </a:xfrm>
          <a:prstGeom prst="rect">
            <a:avLst/>
          </a:prstGeom>
          <a:noFill/>
          <a:ln/>
        </p:spPr>
        <p:txBody>
          <a:bodyPr wrap="square" rtlCol="0" anchor="ctr"/>
          <a:lstStyle/>
          <a:p>
            <a:pPr algn="ctr" indent="0" marL="0">
              <a:buNone/>
            </a:pPr>
            <a:r>
              <a:rPr lang="en-US" sz="950" b="1" dirty="0">
                <a:solidFill>
                  <a:srgbClr val="0D2B45"/>
                </a:solidFill>
                <a:latin typeface="Calibri" pitchFamily="34" charset="0"/>
                <a:ea typeface="Calibri" pitchFamily="34" charset="-122"/>
                <a:cs typeface="Calibri" pitchFamily="34" charset="-120"/>
              </a:rPr>
              <a:t>ÚNICO SERVICIO EXTERNO</a:t>
            </a:r>
            <a:endParaRPr lang="en-US" sz="950" dirty="0"/>
          </a:p>
        </p:txBody>
      </p:sp>
      <p:sp>
        <p:nvSpPr>
          <p:cNvPr id="24" name="Shape 22"/>
          <p:cNvSpPr/>
          <p:nvPr/>
        </p:nvSpPr>
        <p:spPr>
          <a:xfrm>
            <a:off x="7726680" y="1874520"/>
            <a:ext cx="3794760" cy="4251960"/>
          </a:xfrm>
          <a:prstGeom prst="roundRect">
            <a:avLst>
              <a:gd name="adj" fmla="val 2892"/>
            </a:avLst>
          </a:prstGeom>
          <a:solidFill>
            <a:srgbClr val="02C39A"/>
          </a:solidFill>
          <a:ln/>
        </p:spPr>
      </p:sp>
      <p:sp>
        <p:nvSpPr>
          <p:cNvPr id="25" name="Text 23"/>
          <p:cNvSpPr/>
          <p:nvPr/>
        </p:nvSpPr>
        <p:spPr>
          <a:xfrm>
            <a:off x="8001000" y="2194560"/>
            <a:ext cx="3291840" cy="1188720"/>
          </a:xfrm>
          <a:prstGeom prst="rect">
            <a:avLst/>
          </a:prstGeom>
          <a:noFill/>
          <a:ln/>
        </p:spPr>
        <p:txBody>
          <a:bodyPr wrap="square" rtlCol="0" anchor="ctr"/>
          <a:lstStyle/>
          <a:p>
            <a:pPr indent="0" marL="0">
              <a:buNone/>
            </a:pPr>
            <a:r>
              <a:rPr lang="en-US" sz="2800" b="1" dirty="0">
                <a:solidFill>
                  <a:srgbClr val="0D2B45"/>
                </a:solidFill>
                <a:latin typeface="Georgia" pitchFamily="34" charset="0"/>
                <a:ea typeface="Georgia" pitchFamily="34" charset="-122"/>
                <a:cs typeface="Georgia" pitchFamily="34" charset="-120"/>
              </a:rPr>
              <a:t>Auditable</a:t>
            </a:r>
            <a:endParaRPr lang="en-US" sz="2800" dirty="0"/>
          </a:p>
          <a:p>
            <a:pPr indent="0" marL="0">
              <a:buNone/>
            </a:pPr>
            <a:r>
              <a:rPr lang="en-US" sz="2800" b="1" dirty="0">
                <a:solidFill>
                  <a:srgbClr val="0D2B45"/>
                </a:solidFill>
                <a:latin typeface="Georgia" pitchFamily="34" charset="0"/>
                <a:ea typeface="Georgia" pitchFamily="34" charset="-122"/>
                <a:cs typeface="Georgia" pitchFamily="34" charset="-120"/>
              </a:rPr>
              <a:t>en un punto</a:t>
            </a:r>
            <a:endParaRPr lang="en-US" sz="2800" dirty="0"/>
          </a:p>
        </p:txBody>
      </p:sp>
      <p:sp>
        <p:nvSpPr>
          <p:cNvPr id="26" name="Text 24"/>
          <p:cNvSpPr/>
          <p:nvPr/>
        </p:nvSpPr>
        <p:spPr>
          <a:xfrm>
            <a:off x="8001000" y="3520440"/>
            <a:ext cx="3291840" cy="1737360"/>
          </a:xfrm>
          <a:prstGeom prst="rect">
            <a:avLst/>
          </a:prstGeom>
          <a:noFill/>
          <a:ln/>
        </p:spPr>
        <p:txBody>
          <a:bodyPr wrap="square" rtlCol="0" anchor="ctr"/>
          <a:lstStyle/>
          <a:p>
            <a:pPr indent="0" marL="0">
              <a:buNone/>
            </a:pPr>
            <a:r>
              <a:rPr lang="en-US" sz="1450" dirty="0">
                <a:solidFill>
                  <a:srgbClr val="0D2B45"/>
                </a:solidFill>
                <a:latin typeface="Calibri" pitchFamily="34" charset="0"/>
                <a:ea typeface="Calibri" pitchFamily="34" charset="-122"/>
                <a:cs typeface="Calibri" pitchFamily="34" charset="-120"/>
              </a:rPr>
              <a:t>Verificar la política de privacidad de este sistema se reduce a inspeccionar el único lugar del código donde se invoca al servicio externo.</a:t>
            </a:r>
            <a:endParaRPr lang="en-US" sz="1450" dirty="0"/>
          </a:p>
        </p:txBody>
      </p:sp>
      <p:sp>
        <p:nvSpPr>
          <p:cNvPr id="27" name="Text 25"/>
          <p:cNvSpPr/>
          <p:nvPr/>
        </p:nvSpPr>
        <p:spPr>
          <a:xfrm>
            <a:off x="8001000" y="5257800"/>
            <a:ext cx="3291840" cy="731520"/>
          </a:xfrm>
          <a:prstGeom prst="rect">
            <a:avLst/>
          </a:prstGeom>
          <a:noFill/>
          <a:ln/>
        </p:spPr>
        <p:txBody>
          <a:bodyPr wrap="square" rtlCol="0" anchor="ctr"/>
          <a:lstStyle/>
          <a:p>
            <a:pPr indent="0" marL="0">
              <a:buNone/>
            </a:pPr>
            <a:r>
              <a:rPr lang="en-US" sz="1150" i="1" dirty="0">
                <a:solidFill>
                  <a:srgbClr val="14395E"/>
                </a:solidFill>
                <a:latin typeface="Calibri" pitchFamily="34" charset="0"/>
                <a:ea typeface="Calibri" pitchFamily="34" charset="-122"/>
                <a:cs typeface="Calibri" pitchFamily="34" charset="-120"/>
              </a:rPr>
              <a:t>Y si esa clave no está configurada, el resumen usa un fallback local: la aplicación funciona igual.</a:t>
            </a:r>
            <a:endParaRPr lang="en-US" sz="1150" dirty="0"/>
          </a:p>
        </p:txBody>
      </p:sp>
      <p:sp>
        <p:nvSpPr>
          <p:cNvPr id="28" name="Text 26"/>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9" name="Text 2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E0A82E"/>
                </a:solidFill>
                <a:latin typeface="Calibri" pitchFamily="34" charset="0"/>
                <a:ea typeface="Calibri" pitchFamily="34" charset="-122"/>
                <a:cs typeface="Calibri" pitchFamily="34" charset="-120"/>
              </a:rPr>
              <a:t>LO QUE MÁS COSTÓ</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5 · 32:00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No fue entrenar el modelo: fue medir la confianza</a:t>
            </a:r>
            <a:endParaRPr lang="en-US" sz="2900" dirty="0"/>
          </a:p>
        </p:txBody>
      </p:sp>
      <p:sp>
        <p:nvSpPr>
          <p:cNvPr id="5" name="Shape 3"/>
          <p:cNvSpPr/>
          <p:nvPr/>
        </p:nvSpPr>
        <p:spPr>
          <a:xfrm>
            <a:off x="640080" y="1920240"/>
            <a:ext cx="5349240" cy="1920240"/>
          </a:xfrm>
          <a:prstGeom prst="roundRect">
            <a:avLst>
              <a:gd name="adj" fmla="val 4762"/>
            </a:avLst>
          </a:prstGeom>
          <a:solidFill>
            <a:srgbClr val="14395E"/>
          </a:solidFill>
          <a:ln w="19050">
            <a:solidFill>
              <a:srgbClr val="D14D4D"/>
            </a:solidFill>
            <a:prstDash val="solid"/>
          </a:ln>
        </p:spPr>
      </p:sp>
      <p:sp>
        <p:nvSpPr>
          <p:cNvPr id="6" name="Text 4"/>
          <p:cNvSpPr/>
          <p:nvPr/>
        </p:nvSpPr>
        <p:spPr>
          <a:xfrm>
            <a:off x="914400" y="2084832"/>
            <a:ext cx="4846320" cy="320040"/>
          </a:xfrm>
          <a:prstGeom prst="rect">
            <a:avLst/>
          </a:prstGeom>
          <a:noFill/>
          <a:ln/>
        </p:spPr>
        <p:txBody>
          <a:bodyPr wrap="square" rtlCol="0" anchor="ctr"/>
          <a:lstStyle/>
          <a:p>
            <a:pPr indent="0" marL="0">
              <a:buNone/>
            </a:pPr>
            <a:r>
              <a:rPr lang="en-US" sz="1150" b="1" spc="100" kern="0" dirty="0">
                <a:solidFill>
                  <a:srgbClr val="D14D4D"/>
                </a:solidFill>
                <a:latin typeface="Calibri" pitchFamily="34" charset="0"/>
                <a:ea typeface="Calibri" pitchFamily="34" charset="-122"/>
                <a:cs typeface="Calibri" pitchFamily="34" charset="-120"/>
              </a:rPr>
              <a:t>INTENTO 1 · softmax sobre decision_function()</a:t>
            </a:r>
            <a:endParaRPr lang="en-US" sz="1150" dirty="0"/>
          </a:p>
        </p:txBody>
      </p:sp>
      <p:sp>
        <p:nvSpPr>
          <p:cNvPr id="7" name="Text 5"/>
          <p:cNvSpPr/>
          <p:nvPr/>
        </p:nvSpPr>
        <p:spPr>
          <a:xfrm>
            <a:off x="914400" y="2468880"/>
            <a:ext cx="484632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LinearSVC no devuelve probabilidades: devuelve distancias al hiperplano. Con 12 clases, softmax reparte la densidad entre todas y hasta los aciertos claros quedaban en ~0,20.</a:t>
            </a:r>
            <a:endParaRPr lang="en-US" sz="1300" dirty="0"/>
          </a:p>
        </p:txBody>
      </p:sp>
      <p:sp>
        <p:nvSpPr>
          <p:cNvPr id="8" name="Text 6"/>
          <p:cNvSpPr/>
          <p:nvPr/>
        </p:nvSpPr>
        <p:spPr>
          <a:xfrm>
            <a:off x="914400" y="3520440"/>
            <a:ext cx="4846320" cy="274320"/>
          </a:xfrm>
          <a:prstGeom prst="rect">
            <a:avLst/>
          </a:prstGeom>
          <a:noFill/>
          <a:ln/>
        </p:spPr>
        <p:txBody>
          <a:bodyPr wrap="square" rtlCol="0" anchor="ctr"/>
          <a:lstStyle/>
          <a:p>
            <a:pPr indent="0" marL="0">
              <a:buNone/>
            </a:pPr>
            <a:r>
              <a:rPr lang="en-US" sz="1200" b="1" dirty="0">
                <a:solidFill>
                  <a:srgbClr val="D14D4D"/>
                </a:solidFill>
                <a:latin typeface="Calibri" pitchFamily="34" charset="0"/>
                <a:ea typeface="Calibri" pitchFamily="34" charset="-122"/>
                <a:cs typeface="Calibri" pitchFamily="34" charset="-120"/>
              </a:rPr>
              <a:t>✕  El sistema mandaba todo a revisión manual.</a:t>
            </a:r>
            <a:endParaRPr lang="en-US" sz="1200" dirty="0"/>
          </a:p>
        </p:txBody>
      </p:sp>
      <p:sp>
        <p:nvSpPr>
          <p:cNvPr id="9" name="Shape 7"/>
          <p:cNvSpPr/>
          <p:nvPr/>
        </p:nvSpPr>
        <p:spPr>
          <a:xfrm>
            <a:off x="6172200" y="1920240"/>
            <a:ext cx="5349240" cy="1920240"/>
          </a:xfrm>
          <a:prstGeom prst="roundRect">
            <a:avLst>
              <a:gd name="adj" fmla="val 4762"/>
            </a:avLst>
          </a:prstGeom>
          <a:solidFill>
            <a:srgbClr val="14395E"/>
          </a:solidFill>
          <a:ln w="19050">
            <a:solidFill>
              <a:srgbClr val="02C39A"/>
            </a:solidFill>
            <a:prstDash val="solid"/>
          </a:ln>
        </p:spPr>
      </p:sp>
      <p:sp>
        <p:nvSpPr>
          <p:cNvPr id="10" name="Text 8"/>
          <p:cNvSpPr/>
          <p:nvPr/>
        </p:nvSpPr>
        <p:spPr>
          <a:xfrm>
            <a:off x="6446520" y="2084832"/>
            <a:ext cx="484632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INTENTO 2 · brecha entre las dos mejores clases</a:t>
            </a:r>
            <a:endParaRPr lang="en-US" sz="1150" dirty="0"/>
          </a:p>
        </p:txBody>
      </p:sp>
      <p:sp>
        <p:nvSpPr>
          <p:cNvPr id="11" name="Text 9"/>
          <p:cNvSpPr/>
          <p:nvPr/>
        </p:nvSpPr>
        <p:spPr>
          <a:xfrm>
            <a:off x="6446520" y="2468880"/>
            <a:ext cx="4846320" cy="11887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Cambiar la pregunta: en vez de «¿qué probabilidad tiene esta clase?», «¿cuánto le saca la primera a la segunda?». Vale 0 ante un empate y crece cuando hay una dominante.</a:t>
            </a:r>
            <a:endParaRPr lang="en-US" sz="1300" dirty="0"/>
          </a:p>
        </p:txBody>
      </p:sp>
      <p:sp>
        <p:nvSpPr>
          <p:cNvPr id="12" name="Text 10"/>
          <p:cNvSpPr/>
          <p:nvPr/>
        </p:nvSpPr>
        <p:spPr>
          <a:xfrm>
            <a:off x="6446520" y="3520440"/>
            <a:ext cx="484632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  El umbral de revisión manual empezó a funcionar.</a:t>
            </a:r>
            <a:endParaRPr lang="en-US" sz="1200" dirty="0"/>
          </a:p>
        </p:txBody>
      </p:sp>
      <p:sp>
        <p:nvSpPr>
          <p:cNvPr id="13" name="Shape 11"/>
          <p:cNvSpPr/>
          <p:nvPr/>
        </p:nvSpPr>
        <p:spPr>
          <a:xfrm>
            <a:off x="640080" y="4069080"/>
            <a:ext cx="10881360" cy="1371600"/>
          </a:xfrm>
          <a:prstGeom prst="roundRect">
            <a:avLst>
              <a:gd name="adj" fmla="val 5333"/>
            </a:avLst>
          </a:prstGeom>
          <a:solidFill>
            <a:srgbClr val="0B1B2B"/>
          </a:solidFill>
          <a:ln w="12700">
            <a:solidFill>
              <a:srgbClr val="14395E"/>
            </a:solidFill>
            <a:prstDash val="solid"/>
          </a:ln>
        </p:spPr>
      </p:sp>
      <p:sp>
        <p:nvSpPr>
          <p:cNvPr id="14" name="Text 12"/>
          <p:cNvSpPr/>
          <p:nvPr/>
        </p:nvSpPr>
        <p:spPr>
          <a:xfrm>
            <a:off x="896112" y="4215384"/>
            <a:ext cx="10424160" cy="274320"/>
          </a:xfrm>
          <a:prstGeom prst="rect">
            <a:avLst/>
          </a:prstGeom>
          <a:noFill/>
          <a:ln/>
        </p:spPr>
        <p:txBody>
          <a:bodyPr wrap="square" rtlCol="0" anchor="ctr"/>
          <a:lstStyle/>
          <a:p>
            <a:pPr indent="0" marL="0">
              <a:buNone/>
            </a:pPr>
            <a:r>
              <a:rPr lang="en-US" sz="1050" dirty="0">
                <a:solidFill>
                  <a:srgbClr val="5BB3C4"/>
                </a:solidFill>
                <a:latin typeface="Consolas" pitchFamily="34" charset="0"/>
                <a:ea typeface="Consolas" pitchFamily="34" charset="-122"/>
                <a:cs typeface="Consolas" pitchFamily="34" charset="-120"/>
              </a:rPr>
              <a:t>app/services/ml_service.py:830  ·  _confianza_svm()</a:t>
            </a:r>
            <a:endParaRPr lang="en-US" sz="1050" dirty="0"/>
          </a:p>
        </p:txBody>
      </p:sp>
      <p:sp>
        <p:nvSpPr>
          <p:cNvPr id="15" name="Text 13"/>
          <p:cNvSpPr/>
          <p:nvPr/>
        </p:nvSpPr>
        <p:spPr>
          <a:xfrm>
            <a:off x="896112" y="4572000"/>
            <a:ext cx="10424160" cy="685800"/>
          </a:xfrm>
          <a:prstGeom prst="rect">
            <a:avLst/>
          </a:prstGeom>
          <a:noFill/>
          <a:ln/>
        </p:spPr>
        <p:txBody>
          <a:bodyPr wrap="square" rtlCol="0" anchor="ctr"/>
          <a:lstStyle/>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brecha    = scores[top1] - scores[top2]</a:t>
            </a:r>
            <a:endParaRPr lang="en-US" sz="1250" dirty="0"/>
          </a:p>
          <a:p>
            <a:pPr indent="0" marL="0">
              <a:lnSpc>
                <a:spcPct val="125000"/>
              </a:lnSpc>
              <a:buNone/>
            </a:pPr>
            <a:r>
              <a:rPr lang="en-US" sz="1250" dirty="0">
                <a:solidFill>
                  <a:srgbClr val="CADCFC"/>
                </a:solidFill>
                <a:latin typeface="Consolas" pitchFamily="34" charset="0"/>
                <a:ea typeface="Consolas" pitchFamily="34" charset="-122"/>
                <a:cs typeface="Consolas" pitchFamily="34" charset="-120"/>
              </a:rPr>
              <a:t>confianza = 1 - exp(-brecha)        # monótona y acotada en [0, 1)</a:t>
            </a:r>
            <a:endParaRPr lang="en-US" sz="1250" dirty="0"/>
          </a:p>
        </p:txBody>
      </p:sp>
      <p:sp>
        <p:nvSpPr>
          <p:cNvPr id="16" name="Text 14"/>
          <p:cNvSpPr/>
          <p:nvPr/>
        </p:nvSpPr>
        <p:spPr>
          <a:xfrm>
            <a:off x="640080" y="5669280"/>
            <a:ext cx="10881360" cy="457200"/>
          </a:xfrm>
          <a:prstGeom prst="rect">
            <a:avLst/>
          </a:prstGeom>
          <a:noFill/>
          <a:ln/>
        </p:spPr>
        <p:txBody>
          <a:bodyPr wrap="square" rtlCol="0" anchor="ctr"/>
          <a:lstStyle/>
          <a:p>
            <a:pPr algn="ctr" indent="0" marL="0">
              <a:buNone/>
            </a:pPr>
            <a:r>
              <a:rPr lang="en-US" sz="1400" i="1" dirty="0">
                <a:solidFill>
                  <a:srgbClr val="5BB3C4"/>
                </a:solidFill>
                <a:latin typeface="Calibri" pitchFamily="34" charset="0"/>
                <a:ea typeface="Calibri" pitchFamily="34" charset="-122"/>
                <a:cs typeface="Calibri" pitchFamily="34" charset="-120"/>
              </a:rPr>
              <a:t>Este cambio de enfoque es lo que permitió que el sistema supiera cuándo no sabe.</a:t>
            </a:r>
            <a:endParaRPr lang="en-US" sz="1400" dirty="0"/>
          </a:p>
        </p:txBody>
      </p:sp>
      <p:sp>
        <p:nvSpPr>
          <p:cNvPr id="17" name="Text 15"/>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8" name="Text 1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VALIDACIÓN DEL DISEÑO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5 · 32:45</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Un riesgo previsto que efectivamente ocurrió</a:t>
            </a:r>
            <a:endParaRPr lang="en-US" sz="3200" dirty="0"/>
          </a:p>
        </p:txBody>
      </p:sp>
      <p:sp>
        <p:nvSpPr>
          <p:cNvPr id="5" name="Shape 3"/>
          <p:cNvSpPr/>
          <p:nvPr/>
        </p:nvSpPr>
        <p:spPr>
          <a:xfrm>
            <a:off x="640080" y="1965960"/>
            <a:ext cx="10881360" cy="868680"/>
          </a:xfrm>
          <a:prstGeom prst="roundRect">
            <a:avLst>
              <a:gd name="adj" fmla="val 10526"/>
            </a:avLst>
          </a:prstGeom>
          <a:solidFill>
            <a:srgbClr val="0D2B45"/>
          </a:solidFill>
          <a:ln/>
        </p:spPr>
      </p:sp>
      <p:sp>
        <p:nvSpPr>
          <p:cNvPr id="6" name="Text 4"/>
          <p:cNvSpPr/>
          <p:nvPr/>
        </p:nvSpPr>
        <p:spPr>
          <a:xfrm>
            <a:off x="914400" y="1965960"/>
            <a:ext cx="10332720" cy="86868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R2 · «El organismo recaudador actualiza la escala del régimen durante o después del desarrollo»</a:t>
            </a:r>
            <a:endParaRPr lang="en-US" sz="1500" dirty="0"/>
          </a:p>
        </p:txBody>
      </p:sp>
      <p:sp>
        <p:nvSpPr>
          <p:cNvPr id="7" name="Shape 5"/>
          <p:cNvSpPr/>
          <p:nvPr/>
        </p:nvSpPr>
        <p:spPr>
          <a:xfrm>
            <a:off x="640080" y="3063240"/>
            <a:ext cx="3474720" cy="2377440"/>
          </a:xfrm>
          <a:prstGeom prst="roundRect">
            <a:avLst>
              <a:gd name="adj" fmla="val 307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8" name="Shape 6"/>
          <p:cNvSpPr/>
          <p:nvPr/>
        </p:nvSpPr>
        <p:spPr>
          <a:xfrm>
            <a:off x="640080" y="3063240"/>
            <a:ext cx="137160" cy="2377440"/>
          </a:xfrm>
          <a:prstGeom prst="roundRect">
            <a:avLst>
              <a:gd name="adj" fmla="val 26667"/>
            </a:avLst>
          </a:prstGeom>
          <a:solidFill>
            <a:srgbClr val="E0A82E"/>
          </a:solidFill>
          <a:ln/>
        </p:spPr>
      </p:sp>
      <p:sp>
        <p:nvSpPr>
          <p:cNvPr id="9" name="Text 7"/>
          <p:cNvSpPr/>
          <p:nvPr/>
        </p:nvSpPr>
        <p:spPr>
          <a:xfrm>
            <a:off x="960120" y="3291840"/>
            <a:ext cx="2926080" cy="411480"/>
          </a:xfrm>
          <a:prstGeom prst="rect">
            <a:avLst/>
          </a:prstGeom>
          <a:noFill/>
          <a:ln/>
        </p:spPr>
        <p:txBody>
          <a:bodyPr wrap="square" rtlCol="0" anchor="ctr"/>
          <a:lstStyle/>
          <a:p>
            <a:pPr indent="0" marL="0">
              <a:buNone/>
            </a:pPr>
            <a:r>
              <a:rPr lang="en-US" sz="1800" b="1" dirty="0">
                <a:solidFill>
                  <a:srgbClr val="16222E"/>
                </a:solidFill>
                <a:latin typeface="Georgia" pitchFamily="34" charset="0"/>
                <a:ea typeface="Georgia" pitchFamily="34" charset="-122"/>
                <a:cs typeface="Georgia" pitchFamily="34" charset="-120"/>
              </a:rPr>
              <a:t>Qué pasó</a:t>
            </a:r>
            <a:endParaRPr lang="en-US" sz="1800" dirty="0"/>
          </a:p>
        </p:txBody>
      </p:sp>
      <p:sp>
        <p:nvSpPr>
          <p:cNvPr id="10" name="Text 8"/>
          <p:cNvSpPr/>
          <p:nvPr/>
        </p:nvSpPr>
        <p:spPr>
          <a:xfrm>
            <a:off x="960120" y="3794760"/>
            <a:ext cx="2971800" cy="1463040"/>
          </a:xfrm>
          <a:prstGeom prst="rect">
            <a:avLst/>
          </a:prstGeom>
          <a:noFill/>
          <a:ln/>
        </p:spPr>
        <p:txBody>
          <a:bodyPr wrap="square" rtlCol="0" anchor="ctr"/>
          <a:lstStyle/>
          <a:p>
            <a:pPr indent="0" marL="0">
              <a:buNone/>
            </a:pPr>
            <a:r>
              <a:rPr lang="en-US" sz="1300" dirty="0">
                <a:solidFill>
                  <a:srgbClr val="4A5A68"/>
                </a:solidFill>
                <a:latin typeface="Calibri" pitchFamily="34" charset="0"/>
                <a:ea typeface="Calibri" pitchFamily="34" charset="-122"/>
                <a:cs typeface="Calibri" pitchFamily="34" charset="-120"/>
              </a:rPr>
              <a:t>El 1/8/2026 se publicó una escala nueva, con un ajuste del 16,8 % sobre los topes de facturación y las cuotas mensuales de las once categorías.</a:t>
            </a:r>
            <a:endParaRPr lang="en-US" sz="1300" dirty="0"/>
          </a:p>
        </p:txBody>
      </p:sp>
      <p:sp>
        <p:nvSpPr>
          <p:cNvPr id="11" name="Shape 9"/>
          <p:cNvSpPr/>
          <p:nvPr/>
        </p:nvSpPr>
        <p:spPr>
          <a:xfrm>
            <a:off x="4343400" y="3063240"/>
            <a:ext cx="3474720" cy="2377440"/>
          </a:xfrm>
          <a:prstGeom prst="roundRect">
            <a:avLst>
              <a:gd name="adj" fmla="val 307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2" name="Shape 10"/>
          <p:cNvSpPr/>
          <p:nvPr/>
        </p:nvSpPr>
        <p:spPr>
          <a:xfrm>
            <a:off x="4343400" y="3063240"/>
            <a:ext cx="137160" cy="2377440"/>
          </a:xfrm>
          <a:prstGeom prst="roundRect">
            <a:avLst>
              <a:gd name="adj" fmla="val 26667"/>
            </a:avLst>
          </a:prstGeom>
          <a:solidFill>
            <a:srgbClr val="1C7293"/>
          </a:solidFill>
          <a:ln/>
        </p:spPr>
      </p:sp>
      <p:sp>
        <p:nvSpPr>
          <p:cNvPr id="13" name="Text 11"/>
          <p:cNvSpPr/>
          <p:nvPr/>
        </p:nvSpPr>
        <p:spPr>
          <a:xfrm>
            <a:off x="4663440" y="3291840"/>
            <a:ext cx="2926080" cy="411480"/>
          </a:xfrm>
          <a:prstGeom prst="rect">
            <a:avLst/>
          </a:prstGeom>
          <a:noFill/>
          <a:ln/>
        </p:spPr>
        <p:txBody>
          <a:bodyPr wrap="square" rtlCol="0" anchor="ctr"/>
          <a:lstStyle/>
          <a:p>
            <a:pPr indent="0" marL="0">
              <a:buNone/>
            </a:pPr>
            <a:r>
              <a:rPr lang="en-US" sz="1800" b="1" dirty="0">
                <a:solidFill>
                  <a:srgbClr val="16222E"/>
                </a:solidFill>
                <a:latin typeface="Georgia" pitchFamily="34" charset="0"/>
                <a:ea typeface="Georgia" pitchFamily="34" charset="-122"/>
                <a:cs typeface="Georgia" pitchFamily="34" charset="-120"/>
              </a:rPr>
              <a:t>Qué hice</a:t>
            </a:r>
            <a:endParaRPr lang="en-US" sz="1800" dirty="0"/>
          </a:p>
        </p:txBody>
      </p:sp>
      <p:sp>
        <p:nvSpPr>
          <p:cNvPr id="14" name="Text 12"/>
          <p:cNvSpPr/>
          <p:nvPr/>
        </p:nvSpPr>
        <p:spPr>
          <a:xfrm>
            <a:off x="4663440" y="3794760"/>
            <a:ext cx="2971800" cy="1463040"/>
          </a:xfrm>
          <a:prstGeom prst="rect">
            <a:avLst/>
          </a:prstGeom>
          <a:noFill/>
          <a:ln/>
        </p:spPr>
        <p:txBody>
          <a:bodyPr wrap="square" rtlCol="0" anchor="ctr"/>
          <a:lstStyle/>
          <a:p>
            <a:pPr indent="0" marL="0">
              <a:buNone/>
            </a:pPr>
            <a:r>
              <a:rPr lang="en-US" sz="1300" dirty="0">
                <a:solidFill>
                  <a:srgbClr val="4A5A68"/>
                </a:solidFill>
                <a:latin typeface="Calibri" pitchFamily="34" charset="0"/>
                <a:ea typeface="Calibri" pitchFamily="34" charset="-122"/>
                <a:cs typeface="Calibri" pitchFamily="34" charset="-120"/>
              </a:rPr>
              <a:t>Cargar los valores nuevos en el catálogo de escalas del proyecto. Cada escala publicada se conserva como una constante fechada.</a:t>
            </a:r>
            <a:endParaRPr lang="en-US" sz="1300" dirty="0"/>
          </a:p>
        </p:txBody>
      </p:sp>
      <p:sp>
        <p:nvSpPr>
          <p:cNvPr id="15" name="Shape 13"/>
          <p:cNvSpPr/>
          <p:nvPr/>
        </p:nvSpPr>
        <p:spPr>
          <a:xfrm>
            <a:off x="8046720" y="3063240"/>
            <a:ext cx="3474720" cy="2377440"/>
          </a:xfrm>
          <a:prstGeom prst="roundRect">
            <a:avLst>
              <a:gd name="adj" fmla="val 3077"/>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6" name="Shape 14"/>
          <p:cNvSpPr/>
          <p:nvPr/>
        </p:nvSpPr>
        <p:spPr>
          <a:xfrm>
            <a:off x="8046720" y="3063240"/>
            <a:ext cx="137160" cy="2377440"/>
          </a:xfrm>
          <a:prstGeom prst="roundRect">
            <a:avLst>
              <a:gd name="adj" fmla="val 26667"/>
            </a:avLst>
          </a:prstGeom>
          <a:solidFill>
            <a:srgbClr val="2E9E5B"/>
          </a:solidFill>
          <a:ln/>
        </p:spPr>
      </p:sp>
      <p:sp>
        <p:nvSpPr>
          <p:cNvPr id="17" name="Text 15"/>
          <p:cNvSpPr/>
          <p:nvPr/>
        </p:nvSpPr>
        <p:spPr>
          <a:xfrm>
            <a:off x="8366760" y="3291840"/>
            <a:ext cx="2926080" cy="411480"/>
          </a:xfrm>
          <a:prstGeom prst="rect">
            <a:avLst/>
          </a:prstGeom>
          <a:noFill/>
          <a:ln/>
        </p:spPr>
        <p:txBody>
          <a:bodyPr wrap="square" rtlCol="0" anchor="ctr"/>
          <a:lstStyle/>
          <a:p>
            <a:pPr indent="0" marL="0">
              <a:buNone/>
            </a:pPr>
            <a:r>
              <a:rPr lang="en-US" sz="1800" b="1" dirty="0">
                <a:solidFill>
                  <a:srgbClr val="16222E"/>
                </a:solidFill>
                <a:latin typeface="Georgia" pitchFamily="34" charset="0"/>
                <a:ea typeface="Georgia" pitchFamily="34" charset="-122"/>
                <a:cs typeface="Georgia" pitchFamily="34" charset="-120"/>
              </a:rPr>
              <a:t>Qué NO hice</a:t>
            </a:r>
            <a:endParaRPr lang="en-US" sz="1800" dirty="0"/>
          </a:p>
        </p:txBody>
      </p:sp>
      <p:sp>
        <p:nvSpPr>
          <p:cNvPr id="18" name="Text 16"/>
          <p:cNvSpPr/>
          <p:nvPr/>
        </p:nvSpPr>
        <p:spPr>
          <a:xfrm>
            <a:off x="8366760" y="3794760"/>
            <a:ext cx="2971800" cy="1463040"/>
          </a:xfrm>
          <a:prstGeom prst="rect">
            <a:avLst/>
          </a:prstGeom>
          <a:noFill/>
          <a:ln/>
        </p:spPr>
        <p:txBody>
          <a:bodyPr wrap="square" rtlCol="0" anchor="ctr"/>
          <a:lstStyle/>
          <a:p>
            <a:pPr indent="0" marL="0">
              <a:buNone/>
            </a:pPr>
            <a:r>
              <a:rPr lang="en-US" sz="1300" dirty="0">
                <a:solidFill>
                  <a:srgbClr val="4A5A68"/>
                </a:solidFill>
                <a:latin typeface="Calibri" pitchFamily="34" charset="0"/>
                <a:ea typeface="Calibri" pitchFamily="34" charset="-122"/>
                <a:cs typeface="Calibri" pitchFamily="34" charset="-120"/>
              </a:rPr>
              <a:t>Tocar una sola línea de código de la aplicación. La acción preventiva definida en la matriz de riesgos funcionó.</a:t>
            </a:r>
            <a:endParaRPr lang="en-US" sz="1300" dirty="0"/>
          </a:p>
        </p:txBody>
      </p:sp>
      <p:sp>
        <p:nvSpPr>
          <p:cNvPr id="19" name="Shape 17"/>
          <p:cNvSpPr/>
          <p:nvPr/>
        </p:nvSpPr>
        <p:spPr>
          <a:xfrm>
            <a:off x="640080" y="5669280"/>
            <a:ext cx="10881360" cy="777240"/>
          </a:xfrm>
          <a:prstGeom prst="roundRect">
            <a:avLst>
              <a:gd name="adj" fmla="val 11765"/>
            </a:avLst>
          </a:prstGeom>
          <a:solidFill>
            <a:srgbClr val="02C39A"/>
          </a:solidFill>
          <a:ln/>
        </p:spPr>
      </p:sp>
      <p:sp>
        <p:nvSpPr>
          <p:cNvPr id="20" name="Text 18"/>
          <p:cNvSpPr/>
          <p:nvPr/>
        </p:nvSpPr>
        <p:spPr>
          <a:xfrm>
            <a:off x="914400" y="5669280"/>
            <a:ext cx="10332720" cy="777240"/>
          </a:xfrm>
          <a:prstGeom prst="rect">
            <a:avLst/>
          </a:prstGeom>
          <a:noFill/>
          <a:ln/>
        </p:spPr>
        <p:txBody>
          <a:bodyPr wrap="square" rtlCol="0" anchor="ctr"/>
          <a:lstStyle/>
          <a:p>
            <a:pPr indent="0" marL="0">
              <a:buNone/>
            </a:pPr>
            <a:r>
              <a:rPr lang="en-US" sz="1350" b="1" dirty="0">
                <a:solidFill>
                  <a:srgbClr val="0D2B45"/>
                </a:solidFill>
                <a:latin typeface="Calibri" pitchFamily="34" charset="0"/>
                <a:ea typeface="Calibri" pitchFamily="34" charset="-122"/>
                <a:cs typeface="Calibri" pitchFamily="34" charset="-120"/>
              </a:rPr>
              <a:t>Lo que cambia por afuera del sistema no debería obligar a tocar el sistema. El mismo principio aplica al modelo de lenguaje: su nombre se lee de una variable de entorno.</a:t>
            </a:r>
            <a:endParaRPr lang="en-US" sz="1350" dirty="0"/>
          </a:p>
        </p:txBody>
      </p:sp>
      <p:sp>
        <p:nvSpPr>
          <p:cNvPr id="21" name="Text 19"/>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2" name="Text 20"/>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RESULTADOS MEDIDOS</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6 · 33:00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Desempeño del clasificador</a:t>
            </a:r>
            <a:endParaRPr lang="en-US" sz="3200" dirty="0"/>
          </a:p>
        </p:txBody>
      </p:sp>
      <p:pic>
        <p:nvPicPr>
          <p:cNvPr id="5" name="Image 0" descr="/Users/marcosjoaquin/proyecto-tfg/docs/metricas_f1_por_categoria.png">    </p:cNvPr>
          <p:cNvPicPr>
            <a:picLocks noChangeAspect="1"/>
          </p:cNvPicPr>
          <p:nvPr/>
        </p:nvPicPr>
        <p:blipFill>
          <a:blip r:embed="rId1"/>
          <a:stretch>
            <a:fillRect/>
          </a:stretch>
        </p:blipFill>
        <p:spPr>
          <a:xfrm>
            <a:off x="685800" y="1965960"/>
            <a:ext cx="6199632" cy="4480560"/>
          </a:xfrm>
          <a:prstGeom prst="rect">
            <a:avLst/>
          </a:prstGeom>
        </p:spPr>
      </p:pic>
      <p:sp>
        <p:nvSpPr>
          <p:cNvPr id="6" name="Shape 3"/>
          <p:cNvSpPr/>
          <p:nvPr/>
        </p:nvSpPr>
        <p:spPr>
          <a:xfrm>
            <a:off x="7315200" y="1965960"/>
            <a:ext cx="4251960" cy="4480560"/>
          </a:xfrm>
          <a:prstGeom prst="roundRect">
            <a:avLst>
              <a:gd name="adj" fmla="val 2151"/>
            </a:avLst>
          </a:prstGeom>
          <a:solidFill>
            <a:srgbClr val="0D2B45"/>
          </a:solidFill>
          <a:ln/>
        </p:spPr>
      </p:sp>
      <p:sp>
        <p:nvSpPr>
          <p:cNvPr id="7" name="Text 4"/>
          <p:cNvSpPr/>
          <p:nvPr/>
        </p:nvSpPr>
        <p:spPr>
          <a:xfrm>
            <a:off x="7543800" y="2148840"/>
            <a:ext cx="3840480" cy="914400"/>
          </a:xfrm>
          <a:prstGeom prst="rect">
            <a:avLst/>
          </a:prstGeom>
          <a:noFill/>
          <a:ln/>
        </p:spPr>
        <p:txBody>
          <a:bodyPr wrap="square" rtlCol="0" anchor="ctr"/>
          <a:lstStyle/>
          <a:p>
            <a:pPr indent="0" marL="0">
              <a:buNone/>
            </a:pPr>
            <a:r>
              <a:rPr lang="en-US" sz="5200" b="1" dirty="0">
                <a:solidFill>
                  <a:srgbClr val="02C39A"/>
                </a:solidFill>
                <a:latin typeface="Georgia" pitchFamily="34" charset="0"/>
                <a:ea typeface="Georgia" pitchFamily="34" charset="-122"/>
                <a:cs typeface="Georgia" pitchFamily="34" charset="-120"/>
              </a:rPr>
              <a:t>76 %</a:t>
            </a:r>
            <a:endParaRPr lang="en-US" sz="5200" dirty="0"/>
          </a:p>
        </p:txBody>
      </p:sp>
      <p:sp>
        <p:nvSpPr>
          <p:cNvPr id="8" name="Text 5"/>
          <p:cNvSpPr/>
          <p:nvPr/>
        </p:nvSpPr>
        <p:spPr>
          <a:xfrm>
            <a:off x="7589520" y="3063240"/>
            <a:ext cx="3749040" cy="365760"/>
          </a:xfrm>
          <a:prstGeom prst="rect">
            <a:avLst/>
          </a:prstGeom>
          <a:noFill/>
          <a:ln/>
        </p:spPr>
        <p:txBody>
          <a:bodyPr wrap="square"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exactitud global  ·  meta: 70 %</a:t>
            </a:r>
            <a:endParaRPr lang="en-US" sz="1350" dirty="0"/>
          </a:p>
        </p:txBody>
      </p:sp>
      <p:sp>
        <p:nvSpPr>
          <p:cNvPr id="9" name="Text 6"/>
          <p:cNvSpPr/>
          <p:nvPr/>
        </p:nvSpPr>
        <p:spPr>
          <a:xfrm>
            <a:off x="7589520" y="3456432"/>
            <a:ext cx="3749040" cy="64008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Validación cruzada de 5 particiones sobre 600 ejemplos balanceados (50 por categoría).</a:t>
            </a:r>
            <a:endParaRPr lang="en-US" sz="1150" dirty="0"/>
          </a:p>
        </p:txBody>
      </p:sp>
      <p:sp>
        <p:nvSpPr>
          <p:cNvPr id="10" name="Shape 7"/>
          <p:cNvSpPr/>
          <p:nvPr/>
        </p:nvSpPr>
        <p:spPr>
          <a:xfrm>
            <a:off x="7589520" y="4114800"/>
            <a:ext cx="3657600" cy="0"/>
          </a:xfrm>
          <a:prstGeom prst="line">
            <a:avLst/>
          </a:prstGeom>
          <a:noFill/>
          <a:ln w="12700">
            <a:solidFill>
              <a:srgbClr val="1C7293"/>
            </a:solidFill>
            <a:prstDash val="solid"/>
          </a:ln>
        </p:spPr>
      </p:sp>
      <p:sp>
        <p:nvSpPr>
          <p:cNvPr id="11" name="Text 8"/>
          <p:cNvSpPr/>
          <p:nvPr/>
        </p:nvSpPr>
        <p:spPr>
          <a:xfrm>
            <a:off x="7589520" y="4224528"/>
            <a:ext cx="3749040" cy="292608"/>
          </a:xfrm>
          <a:prstGeom prst="rect">
            <a:avLst/>
          </a:prstGeom>
          <a:noFill/>
          <a:ln/>
        </p:spPr>
        <p:txBody>
          <a:bodyPr wrap="square" rtlCol="0" anchor="ctr"/>
          <a:lstStyle/>
          <a:p>
            <a:pPr indent="0" marL="0">
              <a:buNone/>
            </a:pPr>
            <a:r>
              <a:rPr lang="en-US" sz="1100" b="1" spc="150" kern="0" dirty="0">
                <a:solidFill>
                  <a:srgbClr val="5BB3C4"/>
                </a:solidFill>
                <a:latin typeface="Calibri" pitchFamily="34" charset="0"/>
                <a:ea typeface="Calibri" pitchFamily="34" charset="-122"/>
                <a:cs typeface="Calibri" pitchFamily="34" charset="-120"/>
              </a:rPr>
              <a:t>MEJORES</a:t>
            </a:r>
            <a:endParaRPr lang="en-US" sz="1100" dirty="0"/>
          </a:p>
        </p:txBody>
      </p:sp>
      <p:sp>
        <p:nvSpPr>
          <p:cNvPr id="12" name="Text 9"/>
          <p:cNvSpPr/>
          <p:nvPr/>
        </p:nvSpPr>
        <p:spPr>
          <a:xfrm>
            <a:off x="7589520" y="4526280"/>
            <a:ext cx="3749040" cy="8686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Monotributo   F1 0,96</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Impuestos   F1 0,91</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Transporte   F1 0,88</a:t>
            </a:r>
            <a:endParaRPr lang="en-US" sz="1300" dirty="0"/>
          </a:p>
        </p:txBody>
      </p:sp>
      <p:sp>
        <p:nvSpPr>
          <p:cNvPr id="13" name="Text 10"/>
          <p:cNvSpPr/>
          <p:nvPr/>
        </p:nvSpPr>
        <p:spPr>
          <a:xfrm>
            <a:off x="7589520" y="5440680"/>
            <a:ext cx="3749040" cy="292608"/>
          </a:xfrm>
          <a:prstGeom prst="rect">
            <a:avLst/>
          </a:prstGeom>
          <a:noFill/>
          <a:ln/>
        </p:spPr>
        <p:txBody>
          <a:bodyPr wrap="square" rtlCol="0" anchor="ctr"/>
          <a:lstStyle/>
          <a:p>
            <a:pPr indent="0" marL="0">
              <a:buNone/>
            </a:pPr>
            <a:r>
              <a:rPr lang="en-US" sz="1100" b="1" spc="150" kern="0" dirty="0">
                <a:solidFill>
                  <a:srgbClr val="E0A82E"/>
                </a:solidFill>
                <a:latin typeface="Calibri" pitchFamily="34" charset="0"/>
                <a:ea typeface="Calibri" pitchFamily="34" charset="-122"/>
                <a:cs typeface="Calibri" pitchFamily="34" charset="-120"/>
              </a:rPr>
              <a:t>A MEJORAR</a:t>
            </a:r>
            <a:endParaRPr lang="en-US" sz="1100" dirty="0"/>
          </a:p>
        </p:txBody>
      </p:sp>
      <p:sp>
        <p:nvSpPr>
          <p:cNvPr id="14" name="Text 11"/>
          <p:cNvSpPr/>
          <p:nvPr/>
        </p:nvSpPr>
        <p:spPr>
          <a:xfrm>
            <a:off x="7589520" y="5742432"/>
            <a:ext cx="3749040" cy="6400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Marketing   F1 0,58</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Servicios   F1 0,63</a:t>
            </a:r>
            <a:endParaRPr lang="en-US" sz="1300" dirty="0"/>
          </a:p>
        </p:txBody>
      </p:sp>
      <p:sp>
        <p:nvSpPr>
          <p:cNvPr id="15" name="Text 12"/>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RESULTADOS MEDIDOS</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8FA3B5"/>
                </a:solidFill>
                <a:latin typeface="Calibri" pitchFamily="34" charset="0"/>
                <a:ea typeface="Calibri" pitchFamily="34" charset="-122"/>
                <a:cs typeface="Calibri" pitchFamily="34" charset="-120"/>
              </a:rPr>
              <a:t>Bloque 6 · 33:30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Dónde se confunde, y por qué</a:t>
            </a:r>
            <a:endParaRPr lang="en-US" sz="3200" dirty="0"/>
          </a:p>
        </p:txBody>
      </p:sp>
      <p:pic>
        <p:nvPicPr>
          <p:cNvPr id="5" name="Image 0" descr="/Users/marcosjoaquin/proyecto-tfg/docs/metricas_matriz_confusion.png">    </p:cNvPr>
          <p:cNvPicPr>
            <a:picLocks noChangeAspect="1"/>
          </p:cNvPicPr>
          <p:nvPr/>
        </p:nvPicPr>
        <p:blipFill>
          <a:blip r:embed="rId1"/>
          <a:stretch>
            <a:fillRect/>
          </a:stretch>
        </p:blipFill>
        <p:spPr>
          <a:xfrm>
            <a:off x="640080" y="1828800"/>
            <a:ext cx="5303520" cy="4572000"/>
          </a:xfrm>
          <a:prstGeom prst="rect">
            <a:avLst/>
          </a:prstGeom>
        </p:spPr>
      </p:pic>
      <p:sp>
        <p:nvSpPr>
          <p:cNvPr id="6" name="Shape 3"/>
          <p:cNvSpPr/>
          <p:nvPr/>
        </p:nvSpPr>
        <p:spPr>
          <a:xfrm>
            <a:off x="6355080" y="1874520"/>
            <a:ext cx="5212080" cy="4526280"/>
          </a:xfrm>
          <a:prstGeom prst="roundRect">
            <a:avLst>
              <a:gd name="adj" fmla="val 2020"/>
            </a:avLst>
          </a:prstGeom>
          <a:solidFill>
            <a:srgbClr val="FFFFFF"/>
          </a:solidFill>
          <a:ln w="12700">
            <a:solidFill>
              <a:srgbClr val="DCE4EC"/>
            </a:solidFill>
            <a:prstDash val="solid"/>
          </a:ln>
        </p:spPr>
      </p:sp>
      <p:sp>
        <p:nvSpPr>
          <p:cNvPr id="7" name="Text 4"/>
          <p:cNvSpPr/>
          <p:nvPr/>
        </p:nvSpPr>
        <p:spPr>
          <a:xfrm>
            <a:off x="6583680" y="2057400"/>
            <a:ext cx="4754880" cy="457200"/>
          </a:xfrm>
          <a:prstGeom prst="rect">
            <a:avLst/>
          </a:prstGeom>
          <a:noFill/>
          <a:ln/>
        </p:spPr>
        <p:txBody>
          <a:bodyPr wrap="square" rtlCol="0" anchor="ctr"/>
          <a:lstStyle/>
          <a:p>
            <a:pPr indent="0" marL="0">
              <a:buNone/>
            </a:pPr>
            <a:r>
              <a:rPr lang="en-US" sz="1800" b="1" dirty="0">
                <a:solidFill>
                  <a:srgbClr val="16222E"/>
                </a:solidFill>
                <a:latin typeface="Georgia" pitchFamily="34" charset="0"/>
                <a:ea typeface="Georgia" pitchFamily="34" charset="-122"/>
                <a:cs typeface="Georgia" pitchFamily="34" charset="-120"/>
              </a:rPr>
              <a:t>Cómo leerla</a:t>
            </a:r>
            <a:endParaRPr lang="en-US" sz="1800" dirty="0"/>
          </a:p>
        </p:txBody>
      </p:sp>
      <p:sp>
        <p:nvSpPr>
          <p:cNvPr id="8" name="Shape 5"/>
          <p:cNvSpPr/>
          <p:nvPr/>
        </p:nvSpPr>
        <p:spPr>
          <a:xfrm>
            <a:off x="6583680" y="2743200"/>
            <a:ext cx="128016" cy="713232"/>
          </a:xfrm>
          <a:prstGeom prst="roundRect">
            <a:avLst>
              <a:gd name="adj" fmla="val 28571"/>
            </a:avLst>
          </a:prstGeom>
          <a:solidFill>
            <a:srgbClr val="02C39A"/>
          </a:solidFill>
          <a:ln/>
        </p:spPr>
      </p:sp>
      <p:sp>
        <p:nvSpPr>
          <p:cNvPr id="9" name="Text 6"/>
          <p:cNvSpPr/>
          <p:nvPr/>
        </p:nvSpPr>
        <p:spPr>
          <a:xfrm>
            <a:off x="6858000" y="2697480"/>
            <a:ext cx="4480560" cy="841248"/>
          </a:xfrm>
          <a:prstGeom prst="rect">
            <a:avLst/>
          </a:prstGeom>
          <a:noFill/>
          <a:ln/>
        </p:spPr>
        <p:txBody>
          <a:bodyPr wrap="square" rtlCol="0" anchor="ctr"/>
          <a:lstStyle/>
          <a:p>
            <a:pPr indent="0" marL="0">
              <a:buNone/>
            </a:pPr>
            <a:r>
              <a:rPr lang="en-US" sz="1250" dirty="0">
                <a:solidFill>
                  <a:srgbClr val="3A4A58"/>
                </a:solidFill>
                <a:latin typeface="Calibri" pitchFamily="34" charset="0"/>
                <a:ea typeface="Calibri" pitchFamily="34" charset="-122"/>
                <a:cs typeface="Calibri" pitchFamily="34" charset="-120"/>
              </a:rPr>
              <a:t>La diagonal son los aciertos: concentra la mayoría de los casos.</a:t>
            </a:r>
            <a:endParaRPr lang="en-US" sz="1250" dirty="0"/>
          </a:p>
        </p:txBody>
      </p:sp>
      <p:sp>
        <p:nvSpPr>
          <p:cNvPr id="10" name="Shape 7"/>
          <p:cNvSpPr/>
          <p:nvPr/>
        </p:nvSpPr>
        <p:spPr>
          <a:xfrm>
            <a:off x="6583680" y="3657600"/>
            <a:ext cx="128016" cy="713232"/>
          </a:xfrm>
          <a:prstGeom prst="roundRect">
            <a:avLst>
              <a:gd name="adj" fmla="val 28571"/>
            </a:avLst>
          </a:prstGeom>
          <a:solidFill>
            <a:srgbClr val="02C39A"/>
          </a:solidFill>
          <a:ln/>
        </p:spPr>
      </p:sp>
      <p:sp>
        <p:nvSpPr>
          <p:cNvPr id="11" name="Text 8"/>
          <p:cNvSpPr/>
          <p:nvPr/>
        </p:nvSpPr>
        <p:spPr>
          <a:xfrm>
            <a:off x="6858000" y="3611880"/>
            <a:ext cx="4480560" cy="841248"/>
          </a:xfrm>
          <a:prstGeom prst="rect">
            <a:avLst/>
          </a:prstGeom>
          <a:noFill/>
          <a:ln/>
        </p:spPr>
        <p:txBody>
          <a:bodyPr wrap="square" rtlCol="0" anchor="ctr"/>
          <a:lstStyle/>
          <a:p>
            <a:pPr indent="0" marL="0">
              <a:buNone/>
            </a:pPr>
            <a:r>
              <a:rPr lang="en-US" sz="1250" dirty="0">
                <a:solidFill>
                  <a:srgbClr val="3A4A58"/>
                </a:solidFill>
                <a:latin typeface="Calibri" pitchFamily="34" charset="0"/>
                <a:ea typeface="Calibri" pitchFamily="34" charset="-122"/>
                <a:cs typeface="Calibri" pitchFamily="34" charset="-120"/>
              </a:rPr>
              <a:t>Las confusiones son coherentes: las categorías que se solapan comparten vocabulario.</a:t>
            </a:r>
            <a:endParaRPr lang="en-US" sz="1250" dirty="0"/>
          </a:p>
        </p:txBody>
      </p:sp>
      <p:sp>
        <p:nvSpPr>
          <p:cNvPr id="12" name="Shape 9"/>
          <p:cNvSpPr/>
          <p:nvPr/>
        </p:nvSpPr>
        <p:spPr>
          <a:xfrm>
            <a:off x="6583680" y="4572000"/>
            <a:ext cx="128016" cy="713232"/>
          </a:xfrm>
          <a:prstGeom prst="roundRect">
            <a:avLst>
              <a:gd name="adj" fmla="val 28571"/>
            </a:avLst>
          </a:prstGeom>
          <a:solidFill>
            <a:srgbClr val="02C39A"/>
          </a:solidFill>
          <a:ln/>
        </p:spPr>
      </p:sp>
      <p:sp>
        <p:nvSpPr>
          <p:cNvPr id="13" name="Text 10"/>
          <p:cNvSpPr/>
          <p:nvPr/>
        </p:nvSpPr>
        <p:spPr>
          <a:xfrm>
            <a:off x="6858000" y="4526280"/>
            <a:ext cx="4480560" cy="841248"/>
          </a:xfrm>
          <a:prstGeom prst="rect">
            <a:avLst/>
          </a:prstGeom>
          <a:noFill/>
          <a:ln/>
        </p:spPr>
        <p:txBody>
          <a:bodyPr wrap="square" rtlCol="0" anchor="ctr"/>
          <a:lstStyle/>
          <a:p>
            <a:pPr indent="0" marL="0">
              <a:buNone/>
            </a:pPr>
            <a:r>
              <a:rPr lang="en-US" sz="1250" dirty="0">
                <a:solidFill>
                  <a:srgbClr val="3A4A58"/>
                </a:solidFill>
                <a:latin typeface="Calibri" pitchFamily="34" charset="0"/>
                <a:ea typeface="Calibri" pitchFamily="34" charset="-122"/>
                <a:cs typeface="Calibri" pitchFamily="34" charset="-120"/>
              </a:rPr>
              <a:t>«Diseño de logo» puede ser Marketing o Servicios. Honestamente, una persona también dudaría.</a:t>
            </a:r>
            <a:endParaRPr lang="en-US" sz="1250" dirty="0"/>
          </a:p>
        </p:txBody>
      </p:sp>
      <p:sp>
        <p:nvSpPr>
          <p:cNvPr id="14" name="Shape 11"/>
          <p:cNvSpPr/>
          <p:nvPr/>
        </p:nvSpPr>
        <p:spPr>
          <a:xfrm>
            <a:off x="6583680" y="5486400"/>
            <a:ext cx="128016" cy="713232"/>
          </a:xfrm>
          <a:prstGeom prst="roundRect">
            <a:avLst>
              <a:gd name="adj" fmla="val 28571"/>
            </a:avLst>
          </a:prstGeom>
          <a:solidFill>
            <a:srgbClr val="02C39A"/>
          </a:solidFill>
          <a:ln/>
        </p:spPr>
      </p:sp>
      <p:sp>
        <p:nvSpPr>
          <p:cNvPr id="15" name="Text 12"/>
          <p:cNvSpPr/>
          <p:nvPr/>
        </p:nvSpPr>
        <p:spPr>
          <a:xfrm>
            <a:off x="6858000" y="5440680"/>
            <a:ext cx="4480560" cy="841248"/>
          </a:xfrm>
          <a:prstGeom prst="rect">
            <a:avLst/>
          </a:prstGeom>
          <a:noFill/>
          <a:ln/>
        </p:spPr>
        <p:txBody>
          <a:bodyPr wrap="square" rtlCol="0" anchor="ctr"/>
          <a:lstStyle/>
          <a:p>
            <a:pPr indent="0" marL="0">
              <a:buNone/>
            </a:pPr>
            <a:r>
              <a:rPr lang="en-US" sz="1250" dirty="0">
                <a:solidFill>
                  <a:srgbClr val="3A4A58"/>
                </a:solidFill>
                <a:latin typeface="Calibri" pitchFamily="34" charset="0"/>
                <a:ea typeface="Calibri" pitchFamily="34" charset="-122"/>
                <a:cs typeface="Calibri" pitchFamily="34" charset="-120"/>
              </a:rPr>
              <a:t>Por eso el umbral de revisión manual no es un parche: es parte del diseño.</a:t>
            </a:r>
            <a:endParaRPr lang="en-US" sz="1250" dirty="0"/>
          </a:p>
        </p:txBody>
      </p:sp>
      <p:sp>
        <p:nvSpPr>
          <p:cNvPr id="16" name="Text 13"/>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7" name="Text 1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TRABAJO FUTURO</a:t>
            </a:r>
            <a:endParaRPr lang="en-US" sz="1300" dirty="0"/>
          </a:p>
        </p:txBody>
      </p:sp>
      <p:sp>
        <p:nvSpPr>
          <p:cNvPr id="3" name="Text 1"/>
          <p:cNvSpPr/>
          <p:nvPr/>
        </p:nvSpPr>
        <p:spPr>
          <a:xfrm>
            <a:off x="8595360" y="502920"/>
            <a:ext cx="2926080" cy="320040"/>
          </a:xfrm>
          <a:prstGeom prst="rect">
            <a:avLst/>
          </a:prstGeom>
          <a:noFill/>
          <a:ln/>
        </p:spPr>
        <p:txBody>
          <a:bodyPr wrap="square" rtlCol="0" anchor="ctr"/>
          <a:lstStyle/>
          <a:p>
            <a:pPr algn="r" indent="0" marL="0">
              <a:buNone/>
            </a:pPr>
            <a:r>
              <a:rPr lang="en-US" sz="1050" i="1" dirty="0">
                <a:solidFill>
                  <a:srgbClr val="5BB3C4"/>
                </a:solidFill>
                <a:latin typeface="Calibri" pitchFamily="34" charset="0"/>
                <a:ea typeface="Calibri" pitchFamily="34" charset="-122"/>
                <a:cs typeface="Calibri" pitchFamily="34" charset="-120"/>
              </a:rPr>
              <a:t>Bloque 6 · 34:00</a:t>
            </a:r>
            <a:endParaRPr lang="en-US" sz="1050" dirty="0"/>
          </a:p>
        </p:txBody>
      </p:sp>
      <p:sp>
        <p:nvSpPr>
          <p:cNvPr id="4" name="Text 2"/>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Tres líneas de continuidad</a:t>
            </a:r>
            <a:endParaRPr lang="en-US" sz="3200" dirty="0"/>
          </a:p>
        </p:txBody>
      </p:sp>
      <p:sp>
        <p:nvSpPr>
          <p:cNvPr id="5" name="Shape 3"/>
          <p:cNvSpPr/>
          <p:nvPr/>
        </p:nvSpPr>
        <p:spPr>
          <a:xfrm>
            <a:off x="640080" y="2103120"/>
            <a:ext cx="3474720" cy="2743200"/>
          </a:xfrm>
          <a:prstGeom prst="roundRect">
            <a:avLst>
              <a:gd name="adj" fmla="val 3333"/>
            </a:avLst>
          </a:prstGeom>
          <a:solidFill>
            <a:srgbClr val="14395E"/>
          </a:solidFill>
          <a:ln w="12700">
            <a:solidFill>
              <a:srgbClr val="1C7293"/>
            </a:solidFill>
            <a:prstDash val="solid"/>
          </a:ln>
        </p:spPr>
      </p:sp>
      <p:sp>
        <p:nvSpPr>
          <p:cNvPr id="6" name="Shape 4"/>
          <p:cNvSpPr/>
          <p:nvPr/>
        </p:nvSpPr>
        <p:spPr>
          <a:xfrm>
            <a:off x="914400" y="2377440"/>
            <a:ext cx="548640" cy="548640"/>
          </a:xfrm>
          <a:prstGeom prst="roundRect">
            <a:avLst>
              <a:gd name="adj" fmla="val 50000"/>
            </a:avLst>
          </a:prstGeom>
          <a:solidFill>
            <a:srgbClr val="02C39A"/>
          </a:solidFill>
          <a:ln/>
        </p:spPr>
      </p:sp>
      <p:sp>
        <p:nvSpPr>
          <p:cNvPr id="7" name="Text 5"/>
          <p:cNvSpPr/>
          <p:nvPr/>
        </p:nvSpPr>
        <p:spPr>
          <a:xfrm>
            <a:off x="914400" y="2377440"/>
            <a:ext cx="548640" cy="548640"/>
          </a:xfrm>
          <a:prstGeom prst="rect">
            <a:avLst/>
          </a:prstGeom>
          <a:noFill/>
          <a:ln/>
        </p:spPr>
        <p:txBody>
          <a:bodyPr wrap="square" rtlCol="0" anchor="ctr"/>
          <a:lstStyle/>
          <a:p>
            <a:pPr algn="ctr" indent="0" marL="0">
              <a:buNone/>
            </a:pPr>
            <a:r>
              <a:rPr lang="en-US" sz="2200" b="1" dirty="0">
                <a:solidFill>
                  <a:srgbClr val="0D2B45"/>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914400" y="3063240"/>
            <a:ext cx="2926080" cy="73152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Facturación electrónica</a:t>
            </a:r>
            <a:endParaRPr lang="en-US" sz="1700" dirty="0"/>
          </a:p>
        </p:txBody>
      </p:sp>
      <p:sp>
        <p:nvSpPr>
          <p:cNvPr id="9" name="Text 7"/>
          <p:cNvSpPr/>
          <p:nvPr/>
        </p:nvSpPr>
        <p:spPr>
          <a:xfrm>
            <a:off x="914400" y="3794760"/>
            <a:ext cx="2926080" cy="9144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Integrar el sistema del organismo recaudador para emitir y conciliar comprobantes desde la propia aplicación.</a:t>
            </a:r>
            <a:endParaRPr lang="en-US" sz="1250" dirty="0"/>
          </a:p>
        </p:txBody>
      </p:sp>
      <p:sp>
        <p:nvSpPr>
          <p:cNvPr id="10" name="Shape 8"/>
          <p:cNvSpPr/>
          <p:nvPr/>
        </p:nvSpPr>
        <p:spPr>
          <a:xfrm>
            <a:off x="4343400" y="2103120"/>
            <a:ext cx="3474720" cy="2743200"/>
          </a:xfrm>
          <a:prstGeom prst="roundRect">
            <a:avLst>
              <a:gd name="adj" fmla="val 3333"/>
            </a:avLst>
          </a:prstGeom>
          <a:solidFill>
            <a:srgbClr val="14395E"/>
          </a:solidFill>
          <a:ln w="12700">
            <a:solidFill>
              <a:srgbClr val="1C7293"/>
            </a:solidFill>
            <a:prstDash val="solid"/>
          </a:ln>
        </p:spPr>
      </p:sp>
      <p:sp>
        <p:nvSpPr>
          <p:cNvPr id="11" name="Shape 9"/>
          <p:cNvSpPr/>
          <p:nvPr/>
        </p:nvSpPr>
        <p:spPr>
          <a:xfrm>
            <a:off x="4617720" y="2377440"/>
            <a:ext cx="548640" cy="548640"/>
          </a:xfrm>
          <a:prstGeom prst="roundRect">
            <a:avLst>
              <a:gd name="adj" fmla="val 50000"/>
            </a:avLst>
          </a:prstGeom>
          <a:solidFill>
            <a:srgbClr val="02C39A"/>
          </a:solidFill>
          <a:ln/>
        </p:spPr>
      </p:sp>
      <p:sp>
        <p:nvSpPr>
          <p:cNvPr id="12" name="Text 10"/>
          <p:cNvSpPr/>
          <p:nvPr/>
        </p:nvSpPr>
        <p:spPr>
          <a:xfrm>
            <a:off x="4617720" y="2377440"/>
            <a:ext cx="548640" cy="548640"/>
          </a:xfrm>
          <a:prstGeom prst="rect">
            <a:avLst/>
          </a:prstGeom>
          <a:noFill/>
          <a:ln/>
        </p:spPr>
        <p:txBody>
          <a:bodyPr wrap="square" rtlCol="0" anchor="ctr"/>
          <a:lstStyle/>
          <a:p>
            <a:pPr algn="ctr" indent="0" marL="0">
              <a:buNone/>
            </a:pPr>
            <a:r>
              <a:rPr lang="en-US" sz="2200" b="1" dirty="0">
                <a:solidFill>
                  <a:srgbClr val="0D2B45"/>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4617720" y="3063240"/>
            <a:ext cx="2926080" cy="73152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Banca abierta</a:t>
            </a:r>
            <a:endParaRPr lang="en-US" sz="1700" dirty="0"/>
          </a:p>
        </p:txBody>
      </p:sp>
      <p:sp>
        <p:nvSpPr>
          <p:cNvPr id="14" name="Text 12"/>
          <p:cNvSpPr/>
          <p:nvPr/>
        </p:nvSpPr>
        <p:spPr>
          <a:xfrm>
            <a:off x="4617720" y="3794760"/>
            <a:ext cx="2926080" cy="9144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Conciliación bancaria contra cuentas reales del usuario mediante interfaces de banca abierta, sin carga de archivos.</a:t>
            </a:r>
            <a:endParaRPr lang="en-US" sz="1250" dirty="0"/>
          </a:p>
        </p:txBody>
      </p:sp>
      <p:sp>
        <p:nvSpPr>
          <p:cNvPr id="15" name="Shape 13"/>
          <p:cNvSpPr/>
          <p:nvPr/>
        </p:nvSpPr>
        <p:spPr>
          <a:xfrm>
            <a:off x="8046720" y="2103120"/>
            <a:ext cx="3474720" cy="2743200"/>
          </a:xfrm>
          <a:prstGeom prst="roundRect">
            <a:avLst>
              <a:gd name="adj" fmla="val 3333"/>
            </a:avLst>
          </a:prstGeom>
          <a:solidFill>
            <a:srgbClr val="14395E"/>
          </a:solidFill>
          <a:ln w="12700">
            <a:solidFill>
              <a:srgbClr val="1C7293"/>
            </a:solidFill>
            <a:prstDash val="solid"/>
          </a:ln>
        </p:spPr>
      </p:sp>
      <p:sp>
        <p:nvSpPr>
          <p:cNvPr id="16" name="Shape 14"/>
          <p:cNvSpPr/>
          <p:nvPr/>
        </p:nvSpPr>
        <p:spPr>
          <a:xfrm>
            <a:off x="8321040" y="2377440"/>
            <a:ext cx="548640" cy="548640"/>
          </a:xfrm>
          <a:prstGeom prst="roundRect">
            <a:avLst>
              <a:gd name="adj" fmla="val 50000"/>
            </a:avLst>
          </a:prstGeom>
          <a:solidFill>
            <a:srgbClr val="02C39A"/>
          </a:solidFill>
          <a:ln/>
        </p:spPr>
      </p:sp>
      <p:sp>
        <p:nvSpPr>
          <p:cNvPr id="17" name="Text 15"/>
          <p:cNvSpPr/>
          <p:nvPr/>
        </p:nvSpPr>
        <p:spPr>
          <a:xfrm>
            <a:off x="8321040" y="2377440"/>
            <a:ext cx="548640" cy="548640"/>
          </a:xfrm>
          <a:prstGeom prst="rect">
            <a:avLst/>
          </a:prstGeom>
          <a:noFill/>
          <a:ln/>
        </p:spPr>
        <p:txBody>
          <a:bodyPr wrap="square" rtlCol="0" anchor="ctr"/>
          <a:lstStyle/>
          <a:p>
            <a:pPr algn="ctr" indent="0" marL="0">
              <a:buNone/>
            </a:pPr>
            <a:r>
              <a:rPr lang="en-US" sz="2200" b="1" dirty="0">
                <a:solidFill>
                  <a:srgbClr val="0D2B45"/>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8321040" y="3063240"/>
            <a:ext cx="2926080" cy="73152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Ampliar el dataset</a:t>
            </a:r>
            <a:endParaRPr lang="en-US" sz="1700" dirty="0"/>
          </a:p>
        </p:txBody>
      </p:sp>
      <p:sp>
        <p:nvSpPr>
          <p:cNvPr id="19" name="Text 17"/>
          <p:cNvSpPr/>
          <p:nvPr/>
        </p:nvSpPr>
        <p:spPr>
          <a:xfrm>
            <a:off x="8321040" y="3794760"/>
            <a:ext cx="2926080" cy="91440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Incorporar datos reales de usuarios para levantar el desempeño de las categorías que hoy se confunden entre sí.</a:t>
            </a:r>
            <a:endParaRPr lang="en-US" sz="1250" dirty="0"/>
          </a:p>
        </p:txBody>
      </p:sp>
      <p:sp>
        <p:nvSpPr>
          <p:cNvPr id="20" name="Shape 18"/>
          <p:cNvSpPr/>
          <p:nvPr/>
        </p:nvSpPr>
        <p:spPr>
          <a:xfrm>
            <a:off x="640080" y="5166360"/>
            <a:ext cx="10881360" cy="1097280"/>
          </a:xfrm>
          <a:prstGeom prst="roundRect">
            <a:avLst>
              <a:gd name="adj" fmla="val 8333"/>
            </a:avLst>
          </a:prstGeom>
          <a:solidFill>
            <a:srgbClr val="E0A82E"/>
          </a:solidFill>
          <a:ln/>
        </p:spPr>
      </p:sp>
      <p:sp>
        <p:nvSpPr>
          <p:cNvPr id="21" name="Text 19"/>
          <p:cNvSpPr/>
          <p:nvPr/>
        </p:nvSpPr>
        <p:spPr>
          <a:xfrm>
            <a:off x="914400" y="5166360"/>
            <a:ext cx="10332720" cy="1097280"/>
          </a:xfrm>
          <a:prstGeom prst="rect">
            <a:avLst/>
          </a:prstGeom>
          <a:noFill/>
          <a:ln/>
        </p:spPr>
        <p:txBody>
          <a:bodyPr wrap="square" rtlCol="0" anchor="ctr"/>
          <a:lstStyle/>
          <a:p>
            <a:pPr indent="0" marL="0">
              <a:buNone/>
            </a:pPr>
            <a:r>
              <a:rPr lang="en-US" sz="1800" b="1" dirty="0">
                <a:solidFill>
                  <a:srgbClr val="0D2B45"/>
                </a:solidFill>
                <a:latin typeface="Georgia" pitchFamily="34" charset="0"/>
                <a:ea typeface="Georgia" pitchFamily="34" charset="-122"/>
                <a:cs typeface="Georgia" pitchFamily="34" charset="-120"/>
              </a:rPr>
              <a:t>El sistema informa, proyecta y alerta. La decisión y el asesoramiento siguen siendo de un profesional y del propio usuario.</a:t>
            </a:r>
            <a:endParaRPr lang="en-US" sz="1800" dirty="0"/>
          </a:p>
        </p:txBody>
      </p:sp>
      <p:sp>
        <p:nvSpPr>
          <p:cNvPr id="22" name="Text 20"/>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23"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2B45"/>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777240" y="2148840"/>
            <a:ext cx="10698480" cy="1097280"/>
          </a:xfrm>
          <a:prstGeom prst="rect">
            <a:avLst/>
          </a:prstGeom>
          <a:noFill/>
          <a:ln/>
        </p:spPr>
        <p:txBody>
          <a:bodyPr wrap="square"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FreelanceControl</a:t>
            </a:r>
            <a:endParaRPr lang="en-US" sz="5000" dirty="0"/>
          </a:p>
        </p:txBody>
      </p:sp>
      <p:sp>
        <p:nvSpPr>
          <p:cNvPr id="4" name="Text 2"/>
          <p:cNvSpPr/>
          <p:nvPr/>
        </p:nvSpPr>
        <p:spPr>
          <a:xfrm>
            <a:off x="822960" y="3291840"/>
            <a:ext cx="10058400" cy="731520"/>
          </a:xfrm>
          <a:prstGeom prst="rect">
            <a:avLst/>
          </a:prstGeom>
          <a:noFill/>
          <a:ln/>
        </p:spPr>
        <p:txBody>
          <a:bodyPr wrap="square" rtlCol="0" anchor="ctr"/>
          <a:lstStyle/>
          <a:p>
            <a:pPr indent="0" marL="0">
              <a:buNone/>
            </a:pPr>
            <a:r>
              <a:rPr lang="en-US" sz="3000" dirty="0">
                <a:solidFill>
                  <a:srgbClr val="02C39A"/>
                </a:solidFill>
                <a:latin typeface="Georgia" pitchFamily="34" charset="0"/>
                <a:ea typeface="Georgia" pitchFamily="34" charset="-122"/>
                <a:cs typeface="Georgia" pitchFamily="34" charset="-120"/>
              </a:rPr>
              <a:t>Gracias.</a:t>
            </a:r>
            <a:endParaRPr lang="en-US" sz="3000" dirty="0"/>
          </a:p>
        </p:txBody>
      </p:sp>
      <p:sp>
        <p:nvSpPr>
          <p:cNvPr id="5" name="Text 3"/>
          <p:cNvSpPr/>
          <p:nvPr/>
        </p:nvSpPr>
        <p:spPr>
          <a:xfrm>
            <a:off x="82296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76 %</a:t>
            </a:r>
            <a:endParaRPr lang="en-US" sz="2600" dirty="0"/>
          </a:p>
        </p:txBody>
      </p:sp>
      <p:sp>
        <p:nvSpPr>
          <p:cNvPr id="6" name="Text 4"/>
          <p:cNvSpPr/>
          <p:nvPr/>
        </p:nvSpPr>
        <p:spPr>
          <a:xfrm>
            <a:off x="82296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exactitud</a:t>
            </a:r>
            <a:endParaRPr lang="en-US" sz="1150" dirty="0"/>
          </a:p>
        </p:txBody>
      </p:sp>
      <p:sp>
        <p:nvSpPr>
          <p:cNvPr id="7" name="Text 5"/>
          <p:cNvSpPr/>
          <p:nvPr/>
        </p:nvSpPr>
        <p:spPr>
          <a:xfrm>
            <a:off x="260604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390</a:t>
            </a:r>
            <a:endParaRPr lang="en-US" sz="2600" dirty="0"/>
          </a:p>
        </p:txBody>
      </p:sp>
      <p:sp>
        <p:nvSpPr>
          <p:cNvPr id="8" name="Text 6"/>
          <p:cNvSpPr/>
          <p:nvPr/>
        </p:nvSpPr>
        <p:spPr>
          <a:xfrm>
            <a:off x="260604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pruebas</a:t>
            </a:r>
            <a:endParaRPr lang="en-US" sz="1150" dirty="0"/>
          </a:p>
        </p:txBody>
      </p:sp>
      <p:sp>
        <p:nvSpPr>
          <p:cNvPr id="9" name="Text 7"/>
          <p:cNvSpPr/>
          <p:nvPr/>
        </p:nvSpPr>
        <p:spPr>
          <a:xfrm>
            <a:off x="438912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17</a:t>
            </a:r>
            <a:endParaRPr lang="en-US" sz="2600" dirty="0"/>
          </a:p>
        </p:txBody>
      </p:sp>
      <p:sp>
        <p:nvSpPr>
          <p:cNvPr id="10" name="Text 8"/>
          <p:cNvSpPr/>
          <p:nvPr/>
        </p:nvSpPr>
        <p:spPr>
          <a:xfrm>
            <a:off x="438912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historias</a:t>
            </a:r>
            <a:endParaRPr lang="en-US" sz="1150" dirty="0"/>
          </a:p>
        </p:txBody>
      </p:sp>
      <p:sp>
        <p:nvSpPr>
          <p:cNvPr id="11" name="Text 9"/>
          <p:cNvSpPr/>
          <p:nvPr/>
        </p:nvSpPr>
        <p:spPr>
          <a:xfrm>
            <a:off x="617220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9</a:t>
            </a:r>
            <a:endParaRPr lang="en-US" sz="2600" dirty="0"/>
          </a:p>
        </p:txBody>
      </p:sp>
      <p:sp>
        <p:nvSpPr>
          <p:cNvPr id="12" name="Text 10"/>
          <p:cNvSpPr/>
          <p:nvPr/>
        </p:nvSpPr>
        <p:spPr>
          <a:xfrm>
            <a:off x="617220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bancos</a:t>
            </a:r>
            <a:endParaRPr lang="en-US" sz="1150" dirty="0"/>
          </a:p>
        </p:txBody>
      </p:sp>
      <p:sp>
        <p:nvSpPr>
          <p:cNvPr id="13" name="Text 11"/>
          <p:cNvSpPr/>
          <p:nvPr/>
        </p:nvSpPr>
        <p:spPr>
          <a:xfrm>
            <a:off x="795528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5</a:t>
            </a:r>
            <a:endParaRPr lang="en-US" sz="2600" dirty="0"/>
          </a:p>
        </p:txBody>
      </p:sp>
      <p:sp>
        <p:nvSpPr>
          <p:cNvPr id="14" name="Text 12"/>
          <p:cNvSpPr/>
          <p:nvPr/>
        </p:nvSpPr>
        <p:spPr>
          <a:xfrm>
            <a:off x="795528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detectores</a:t>
            </a:r>
            <a:endParaRPr lang="en-US" sz="1150" dirty="0"/>
          </a:p>
        </p:txBody>
      </p:sp>
      <p:sp>
        <p:nvSpPr>
          <p:cNvPr id="15" name="Text 13"/>
          <p:cNvSpPr/>
          <p:nvPr/>
        </p:nvSpPr>
        <p:spPr>
          <a:xfrm>
            <a:off x="9738360" y="4389120"/>
            <a:ext cx="164592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13</a:t>
            </a:r>
            <a:endParaRPr lang="en-US" sz="2600" dirty="0"/>
          </a:p>
        </p:txBody>
      </p:sp>
      <p:sp>
        <p:nvSpPr>
          <p:cNvPr id="16" name="Text 14"/>
          <p:cNvSpPr/>
          <p:nvPr/>
        </p:nvSpPr>
        <p:spPr>
          <a:xfrm>
            <a:off x="9738360" y="4892040"/>
            <a:ext cx="1645920" cy="320040"/>
          </a:xfrm>
          <a:prstGeom prst="rect">
            <a:avLst/>
          </a:prstGeom>
          <a:noFill/>
          <a:ln/>
        </p:spPr>
        <p:txBody>
          <a:bodyPr wrap="square" rtlCol="0" anchor="ctr"/>
          <a:lstStyle/>
          <a:p>
            <a:pPr indent="0" marL="0">
              <a:buNone/>
            </a:pPr>
            <a:r>
              <a:rPr lang="en-US" sz="1150" dirty="0">
                <a:solidFill>
                  <a:srgbClr val="8FA3B5"/>
                </a:solidFill>
                <a:latin typeface="Calibri" pitchFamily="34" charset="0"/>
                <a:ea typeface="Calibri" pitchFamily="34" charset="-122"/>
                <a:cs typeface="Calibri" pitchFamily="34" charset="-120"/>
              </a:rPr>
              <a:t>pantallas</a:t>
            </a:r>
            <a:endParaRPr lang="en-US" sz="1150" dirty="0"/>
          </a:p>
        </p:txBody>
      </p:sp>
      <p:sp>
        <p:nvSpPr>
          <p:cNvPr id="17" name="Text 15"/>
          <p:cNvSpPr/>
          <p:nvPr/>
        </p:nvSpPr>
        <p:spPr>
          <a:xfrm>
            <a:off x="822960" y="5943600"/>
            <a:ext cx="10515600" cy="365760"/>
          </a:xfrm>
          <a:prstGeom prst="rect">
            <a:avLst/>
          </a:prstGeom>
          <a:noFill/>
          <a:ln/>
        </p:spPr>
        <p:txBody>
          <a:bodyPr wrap="square" rtlCol="0" anchor="ctr"/>
          <a:lstStyle/>
          <a:p>
            <a:pPr indent="0" marL="0">
              <a:buNone/>
            </a:pPr>
            <a:r>
              <a:rPr lang="en-US" sz="1300" dirty="0">
                <a:solidFill>
                  <a:srgbClr val="8FA3B5"/>
                </a:solidFill>
                <a:latin typeface="Calibri" pitchFamily="34" charset="0"/>
                <a:ea typeface="Calibri" pitchFamily="34" charset="-122"/>
                <a:cs typeface="Calibri" pitchFamily="34" charset="-120"/>
              </a:rPr>
              <a:t>Marcos Gamaliel Joaquín  ·  Legajo SOF02218  ·  Ingeniería de Software  ·  Universidad Siglo 21</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8FA3B5"/>
                </a:solidFill>
                <a:latin typeface="Calibri" pitchFamily="34" charset="0"/>
                <a:ea typeface="Calibri" pitchFamily="34" charset="-122"/>
                <a:cs typeface="Calibri" pitchFamily="34" charset="-120"/>
              </a:rPr>
              <a:t>ANEXO · RESPALDO PARA PREGUNTAS</a:t>
            </a:r>
            <a:endParaRPr lang="en-US" sz="1300" dirty="0"/>
          </a:p>
        </p:txBody>
      </p:sp>
      <p:sp>
        <p:nvSpPr>
          <p:cNvPr id="3" name="Text 1"/>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Los cinco detectores de auditoría</a:t>
            </a:r>
            <a:endParaRPr lang="en-US" sz="3200" dirty="0"/>
          </a:p>
        </p:txBody>
      </p:sp>
      <p:sp>
        <p:nvSpPr>
          <p:cNvPr id="4" name="Shape 2"/>
          <p:cNvSpPr/>
          <p:nvPr/>
        </p:nvSpPr>
        <p:spPr>
          <a:xfrm>
            <a:off x="640080" y="1920240"/>
            <a:ext cx="10881360" cy="731520"/>
          </a:xfrm>
          <a:prstGeom prst="roundRect">
            <a:avLst>
              <a:gd name="adj" fmla="val 1000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5" name="Shape 3"/>
          <p:cNvSpPr/>
          <p:nvPr/>
        </p:nvSpPr>
        <p:spPr>
          <a:xfrm>
            <a:off x="640080" y="1920240"/>
            <a:ext cx="137160" cy="731520"/>
          </a:xfrm>
          <a:prstGeom prst="roundRect">
            <a:avLst>
              <a:gd name="adj" fmla="val 26667"/>
            </a:avLst>
          </a:prstGeom>
          <a:solidFill>
            <a:srgbClr val="1C7293"/>
          </a:solidFill>
          <a:ln/>
        </p:spPr>
      </p:sp>
      <p:sp>
        <p:nvSpPr>
          <p:cNvPr id="6" name="Shape 4"/>
          <p:cNvSpPr/>
          <p:nvPr/>
        </p:nvSpPr>
        <p:spPr>
          <a:xfrm>
            <a:off x="914400" y="2093976"/>
            <a:ext cx="411480" cy="411480"/>
          </a:xfrm>
          <a:prstGeom prst="roundRect">
            <a:avLst>
              <a:gd name="adj" fmla="val 48889"/>
            </a:avLst>
          </a:prstGeom>
          <a:solidFill>
            <a:srgbClr val="1C7293"/>
          </a:solidFill>
          <a:ln/>
        </p:spPr>
      </p:sp>
      <p:sp>
        <p:nvSpPr>
          <p:cNvPr id="7" name="Text 5"/>
          <p:cNvSpPr/>
          <p:nvPr/>
        </p:nvSpPr>
        <p:spPr>
          <a:xfrm>
            <a:off x="914400" y="2093976"/>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1508760" y="1920240"/>
            <a:ext cx="3383280" cy="749808"/>
          </a:xfrm>
          <a:prstGeom prst="rect">
            <a:avLst/>
          </a:prstGeom>
          <a:noFill/>
          <a:ln/>
        </p:spPr>
        <p:txBody>
          <a:bodyPr wrap="square" rtlCol="0" anchor="ctr"/>
          <a:lstStyle/>
          <a:p>
            <a:pPr indent="0" marL="0">
              <a:buNone/>
            </a:pPr>
            <a:r>
              <a:rPr lang="en-US" sz="1450" b="1" dirty="0">
                <a:solidFill>
                  <a:srgbClr val="16222E"/>
                </a:solidFill>
                <a:latin typeface="Georgia" pitchFamily="34" charset="0"/>
                <a:ea typeface="Georgia" pitchFamily="34" charset="-122"/>
                <a:cs typeface="Georgia" pitchFamily="34" charset="-120"/>
              </a:rPr>
              <a:t>Gastos duplicados</a:t>
            </a:r>
            <a:endParaRPr lang="en-US" sz="1450" dirty="0"/>
          </a:p>
        </p:txBody>
      </p:sp>
      <p:sp>
        <p:nvSpPr>
          <p:cNvPr id="9" name="Text 7"/>
          <p:cNvSpPr/>
          <p:nvPr/>
        </p:nvSpPr>
        <p:spPr>
          <a:xfrm>
            <a:off x="4937760" y="1920240"/>
            <a:ext cx="6400800" cy="74980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Mismo monto y categoría dentro de una ventana de 3 días.</a:t>
            </a:r>
            <a:endParaRPr lang="en-US" sz="1150" dirty="0"/>
          </a:p>
        </p:txBody>
      </p:sp>
      <p:sp>
        <p:nvSpPr>
          <p:cNvPr id="10" name="Shape 8"/>
          <p:cNvSpPr/>
          <p:nvPr/>
        </p:nvSpPr>
        <p:spPr>
          <a:xfrm>
            <a:off x="640080" y="2761488"/>
            <a:ext cx="10881360" cy="731520"/>
          </a:xfrm>
          <a:prstGeom prst="roundRect">
            <a:avLst>
              <a:gd name="adj" fmla="val 1000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1" name="Shape 9"/>
          <p:cNvSpPr/>
          <p:nvPr/>
        </p:nvSpPr>
        <p:spPr>
          <a:xfrm>
            <a:off x="640080" y="2761488"/>
            <a:ext cx="137160" cy="731520"/>
          </a:xfrm>
          <a:prstGeom prst="roundRect">
            <a:avLst>
              <a:gd name="adj" fmla="val 26667"/>
            </a:avLst>
          </a:prstGeom>
          <a:solidFill>
            <a:srgbClr val="02C39A"/>
          </a:solidFill>
          <a:ln/>
        </p:spPr>
      </p:sp>
      <p:sp>
        <p:nvSpPr>
          <p:cNvPr id="12" name="Shape 10"/>
          <p:cNvSpPr/>
          <p:nvPr/>
        </p:nvSpPr>
        <p:spPr>
          <a:xfrm>
            <a:off x="914400" y="2935224"/>
            <a:ext cx="411480" cy="411480"/>
          </a:xfrm>
          <a:prstGeom prst="roundRect">
            <a:avLst>
              <a:gd name="adj" fmla="val 48889"/>
            </a:avLst>
          </a:prstGeom>
          <a:solidFill>
            <a:srgbClr val="02C39A"/>
          </a:solidFill>
          <a:ln/>
        </p:spPr>
      </p:sp>
      <p:sp>
        <p:nvSpPr>
          <p:cNvPr id="13" name="Text 11"/>
          <p:cNvSpPr/>
          <p:nvPr/>
        </p:nvSpPr>
        <p:spPr>
          <a:xfrm>
            <a:off x="914400" y="2935224"/>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4" name="Text 12"/>
          <p:cNvSpPr/>
          <p:nvPr/>
        </p:nvSpPr>
        <p:spPr>
          <a:xfrm>
            <a:off x="1508760" y="2761488"/>
            <a:ext cx="3383280" cy="749808"/>
          </a:xfrm>
          <a:prstGeom prst="rect">
            <a:avLst/>
          </a:prstGeom>
          <a:noFill/>
          <a:ln/>
        </p:spPr>
        <p:txBody>
          <a:bodyPr wrap="square" rtlCol="0" anchor="ctr"/>
          <a:lstStyle/>
          <a:p>
            <a:pPr indent="0" marL="0">
              <a:buNone/>
            </a:pPr>
            <a:r>
              <a:rPr lang="en-US" sz="1450" b="1" dirty="0">
                <a:solidFill>
                  <a:srgbClr val="16222E"/>
                </a:solidFill>
                <a:latin typeface="Georgia" pitchFamily="34" charset="0"/>
                <a:ea typeface="Georgia" pitchFamily="34" charset="-122"/>
                <a:cs typeface="Georgia" pitchFamily="34" charset="-120"/>
              </a:rPr>
              <a:t>Anomalías estadísticas</a:t>
            </a:r>
            <a:endParaRPr lang="en-US" sz="1450" dirty="0"/>
          </a:p>
        </p:txBody>
      </p:sp>
      <p:sp>
        <p:nvSpPr>
          <p:cNvPr id="15" name="Text 13"/>
          <p:cNvSpPr/>
          <p:nvPr/>
        </p:nvSpPr>
        <p:spPr>
          <a:xfrm>
            <a:off x="4937760" y="2761488"/>
            <a:ext cx="6400800" cy="74980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Montos que se desvían del comportamiento histórico de la categoría en los últimos 6 meses.</a:t>
            </a:r>
            <a:endParaRPr lang="en-US" sz="1150" dirty="0"/>
          </a:p>
        </p:txBody>
      </p:sp>
      <p:sp>
        <p:nvSpPr>
          <p:cNvPr id="16" name="Shape 14"/>
          <p:cNvSpPr/>
          <p:nvPr/>
        </p:nvSpPr>
        <p:spPr>
          <a:xfrm>
            <a:off x="640080" y="3602736"/>
            <a:ext cx="10881360" cy="731520"/>
          </a:xfrm>
          <a:prstGeom prst="roundRect">
            <a:avLst>
              <a:gd name="adj" fmla="val 1000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17" name="Shape 15"/>
          <p:cNvSpPr/>
          <p:nvPr/>
        </p:nvSpPr>
        <p:spPr>
          <a:xfrm>
            <a:off x="640080" y="3602736"/>
            <a:ext cx="137160" cy="731520"/>
          </a:xfrm>
          <a:prstGeom prst="roundRect">
            <a:avLst>
              <a:gd name="adj" fmla="val 26667"/>
            </a:avLst>
          </a:prstGeom>
          <a:solidFill>
            <a:srgbClr val="E0A82E"/>
          </a:solidFill>
          <a:ln/>
        </p:spPr>
      </p:sp>
      <p:sp>
        <p:nvSpPr>
          <p:cNvPr id="18" name="Shape 16"/>
          <p:cNvSpPr/>
          <p:nvPr/>
        </p:nvSpPr>
        <p:spPr>
          <a:xfrm>
            <a:off x="914400" y="3776472"/>
            <a:ext cx="411480" cy="411480"/>
          </a:xfrm>
          <a:prstGeom prst="roundRect">
            <a:avLst>
              <a:gd name="adj" fmla="val 48889"/>
            </a:avLst>
          </a:prstGeom>
          <a:solidFill>
            <a:srgbClr val="E0A82E"/>
          </a:solidFill>
          <a:ln/>
        </p:spPr>
      </p:sp>
      <p:sp>
        <p:nvSpPr>
          <p:cNvPr id="19" name="Text 17"/>
          <p:cNvSpPr/>
          <p:nvPr/>
        </p:nvSpPr>
        <p:spPr>
          <a:xfrm>
            <a:off x="914400" y="3776472"/>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1508760" y="3602736"/>
            <a:ext cx="3383280" cy="749808"/>
          </a:xfrm>
          <a:prstGeom prst="rect">
            <a:avLst/>
          </a:prstGeom>
          <a:noFill/>
          <a:ln/>
        </p:spPr>
        <p:txBody>
          <a:bodyPr wrap="square" rtlCol="0" anchor="ctr"/>
          <a:lstStyle/>
          <a:p>
            <a:pPr indent="0" marL="0">
              <a:buNone/>
            </a:pPr>
            <a:r>
              <a:rPr lang="en-US" sz="1450" b="1" dirty="0">
                <a:solidFill>
                  <a:srgbClr val="16222E"/>
                </a:solidFill>
                <a:latin typeface="Georgia" pitchFamily="34" charset="0"/>
                <a:ea typeface="Georgia" pitchFamily="34" charset="-122"/>
                <a:cs typeface="Georgia" pitchFamily="34" charset="-120"/>
              </a:rPr>
              <a:t>Facturas vencidas o impagas</a:t>
            </a:r>
            <a:endParaRPr lang="en-US" sz="1450" dirty="0"/>
          </a:p>
        </p:txBody>
      </p:sp>
      <p:sp>
        <p:nvSpPr>
          <p:cNvPr id="21" name="Text 19"/>
          <p:cNvSpPr/>
          <p:nvPr/>
        </p:nvSpPr>
        <p:spPr>
          <a:xfrm>
            <a:off x="4937760" y="3602736"/>
            <a:ext cx="6400800" cy="74980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Plata que debería haber entrado y no entró. Cubre los estados PENDIENTE y VENCIDA.</a:t>
            </a:r>
            <a:endParaRPr lang="en-US" sz="1150" dirty="0"/>
          </a:p>
        </p:txBody>
      </p:sp>
      <p:sp>
        <p:nvSpPr>
          <p:cNvPr id="22" name="Shape 20"/>
          <p:cNvSpPr/>
          <p:nvPr/>
        </p:nvSpPr>
        <p:spPr>
          <a:xfrm>
            <a:off x="640080" y="4443984"/>
            <a:ext cx="10881360" cy="731520"/>
          </a:xfrm>
          <a:prstGeom prst="roundRect">
            <a:avLst>
              <a:gd name="adj" fmla="val 1000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3" name="Shape 21"/>
          <p:cNvSpPr/>
          <p:nvPr/>
        </p:nvSpPr>
        <p:spPr>
          <a:xfrm>
            <a:off x="640080" y="4443984"/>
            <a:ext cx="137160" cy="731520"/>
          </a:xfrm>
          <a:prstGeom prst="roundRect">
            <a:avLst>
              <a:gd name="adj" fmla="val 26667"/>
            </a:avLst>
          </a:prstGeom>
          <a:solidFill>
            <a:srgbClr val="D14D4D"/>
          </a:solidFill>
          <a:ln/>
        </p:spPr>
      </p:sp>
      <p:sp>
        <p:nvSpPr>
          <p:cNvPr id="24" name="Shape 22"/>
          <p:cNvSpPr/>
          <p:nvPr/>
        </p:nvSpPr>
        <p:spPr>
          <a:xfrm>
            <a:off x="914400" y="4617720"/>
            <a:ext cx="411480" cy="411480"/>
          </a:xfrm>
          <a:prstGeom prst="roundRect">
            <a:avLst>
              <a:gd name="adj" fmla="val 48889"/>
            </a:avLst>
          </a:prstGeom>
          <a:solidFill>
            <a:srgbClr val="D14D4D"/>
          </a:solidFill>
          <a:ln/>
        </p:spPr>
      </p:sp>
      <p:sp>
        <p:nvSpPr>
          <p:cNvPr id="25" name="Text 23"/>
          <p:cNvSpPr/>
          <p:nvPr/>
        </p:nvSpPr>
        <p:spPr>
          <a:xfrm>
            <a:off x="914400" y="461772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6" name="Text 24"/>
          <p:cNvSpPr/>
          <p:nvPr/>
        </p:nvSpPr>
        <p:spPr>
          <a:xfrm>
            <a:off x="1508760" y="4443984"/>
            <a:ext cx="3383280" cy="749808"/>
          </a:xfrm>
          <a:prstGeom prst="rect">
            <a:avLst/>
          </a:prstGeom>
          <a:noFill/>
          <a:ln/>
        </p:spPr>
        <p:txBody>
          <a:bodyPr wrap="square" rtlCol="0" anchor="ctr"/>
          <a:lstStyle/>
          <a:p>
            <a:pPr indent="0" marL="0">
              <a:buNone/>
            </a:pPr>
            <a:r>
              <a:rPr lang="en-US" sz="1450" b="1" dirty="0">
                <a:solidFill>
                  <a:srgbClr val="16222E"/>
                </a:solidFill>
                <a:latin typeface="Georgia" pitchFamily="34" charset="0"/>
                <a:ea typeface="Georgia" pitchFamily="34" charset="-122"/>
                <a:cs typeface="Georgia" pitchFamily="34" charset="-120"/>
              </a:rPr>
              <a:t>Cuota de Monotributo sin registrar</a:t>
            </a:r>
            <a:endParaRPr lang="en-US" sz="1450" dirty="0"/>
          </a:p>
        </p:txBody>
      </p:sp>
      <p:sp>
        <p:nvSpPr>
          <p:cNvPr id="27" name="Text 25"/>
          <p:cNvSpPr/>
          <p:nvPr/>
        </p:nvSpPr>
        <p:spPr>
          <a:xfrm>
            <a:off x="4937760" y="4443984"/>
            <a:ext cx="6400800" cy="74980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Ausencia del pago de la cuota en el mes corriente, con tolerancia del 1 %.</a:t>
            </a:r>
            <a:endParaRPr lang="en-US" sz="1150" dirty="0"/>
          </a:p>
        </p:txBody>
      </p:sp>
      <p:sp>
        <p:nvSpPr>
          <p:cNvPr id="28" name="Shape 26"/>
          <p:cNvSpPr/>
          <p:nvPr/>
        </p:nvSpPr>
        <p:spPr>
          <a:xfrm>
            <a:off x="640080" y="5285232"/>
            <a:ext cx="10881360" cy="731520"/>
          </a:xfrm>
          <a:prstGeom prst="roundRect">
            <a:avLst>
              <a:gd name="adj" fmla="val 10000"/>
            </a:avLst>
          </a:prstGeom>
          <a:solidFill>
            <a:srgbClr val="FFFFFF"/>
          </a:solidFill>
          <a:ln w="12700">
            <a:solidFill>
              <a:srgbClr val="DCE4EC"/>
            </a:solidFill>
            <a:prstDash val="solid"/>
          </a:ln>
          <a:effectLst>
            <a:outerShdw sx="100000" sy="100000" kx="0" ky="0" algn="bl" rotWithShape="0" blurRad="76200" dist="25400" dir="5400000">
              <a:srgbClr val="AAB7C4">
                <a:alpha val="28000"/>
              </a:srgbClr>
            </a:outerShdw>
          </a:effectLst>
        </p:spPr>
      </p:sp>
      <p:sp>
        <p:nvSpPr>
          <p:cNvPr id="29" name="Shape 27"/>
          <p:cNvSpPr/>
          <p:nvPr/>
        </p:nvSpPr>
        <p:spPr>
          <a:xfrm>
            <a:off x="640080" y="5285232"/>
            <a:ext cx="137160" cy="731520"/>
          </a:xfrm>
          <a:prstGeom prst="roundRect">
            <a:avLst>
              <a:gd name="adj" fmla="val 26667"/>
            </a:avLst>
          </a:prstGeom>
          <a:solidFill>
            <a:srgbClr val="14395E"/>
          </a:solidFill>
          <a:ln/>
        </p:spPr>
      </p:sp>
      <p:sp>
        <p:nvSpPr>
          <p:cNvPr id="30" name="Shape 28"/>
          <p:cNvSpPr/>
          <p:nvPr/>
        </p:nvSpPr>
        <p:spPr>
          <a:xfrm>
            <a:off x="914400" y="5458968"/>
            <a:ext cx="411480" cy="411480"/>
          </a:xfrm>
          <a:prstGeom prst="roundRect">
            <a:avLst>
              <a:gd name="adj" fmla="val 48889"/>
            </a:avLst>
          </a:prstGeom>
          <a:solidFill>
            <a:srgbClr val="14395E"/>
          </a:solidFill>
          <a:ln/>
        </p:spPr>
      </p:sp>
      <p:sp>
        <p:nvSpPr>
          <p:cNvPr id="31" name="Text 29"/>
          <p:cNvSpPr/>
          <p:nvPr/>
        </p:nvSpPr>
        <p:spPr>
          <a:xfrm>
            <a:off x="914400" y="545896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2" name="Text 30"/>
          <p:cNvSpPr/>
          <p:nvPr/>
        </p:nvSpPr>
        <p:spPr>
          <a:xfrm>
            <a:off x="1508760" y="5285232"/>
            <a:ext cx="3383280" cy="749808"/>
          </a:xfrm>
          <a:prstGeom prst="rect">
            <a:avLst/>
          </a:prstGeom>
          <a:noFill/>
          <a:ln/>
        </p:spPr>
        <p:txBody>
          <a:bodyPr wrap="square" rtlCol="0" anchor="ctr"/>
          <a:lstStyle/>
          <a:p>
            <a:pPr indent="0" marL="0">
              <a:buNone/>
            </a:pPr>
            <a:r>
              <a:rPr lang="en-US" sz="1450" b="1" dirty="0">
                <a:solidFill>
                  <a:srgbClr val="16222E"/>
                </a:solidFill>
                <a:latin typeface="Georgia" pitchFamily="34" charset="0"/>
                <a:ea typeface="Georgia" pitchFamily="34" charset="-122"/>
                <a:cs typeface="Georgia" pitchFamily="34" charset="-120"/>
              </a:rPr>
              <a:t>Transferencias entre cuentas propias</a:t>
            </a:r>
            <a:endParaRPr lang="en-US" sz="1450" dirty="0"/>
          </a:p>
        </p:txBody>
      </p:sp>
      <p:sp>
        <p:nvSpPr>
          <p:cNvPr id="33" name="Text 31"/>
          <p:cNvSpPr/>
          <p:nvPr/>
        </p:nvSpPr>
        <p:spPr>
          <a:xfrm>
            <a:off x="4937760" y="5285232"/>
            <a:ext cx="6400800" cy="749808"/>
          </a:xfrm>
          <a:prstGeom prst="rect">
            <a:avLst/>
          </a:prstGeom>
          <a:noFill/>
          <a:ln/>
        </p:spPr>
        <p:txBody>
          <a:bodyPr wrap="square" rtlCol="0" anchor="ctr"/>
          <a:lstStyle/>
          <a:p>
            <a:pPr indent="0" marL="0">
              <a:buNone/>
            </a:pPr>
            <a:r>
              <a:rPr lang="en-US" sz="1150" dirty="0">
                <a:solidFill>
                  <a:srgbClr val="4A5A68"/>
                </a:solidFill>
                <a:latin typeface="Calibri" pitchFamily="34" charset="0"/>
                <a:ea typeface="Calibri" pitchFamily="34" charset="-122"/>
                <a:cs typeface="Calibri" pitchFamily="34" charset="-120"/>
              </a:rPr>
              <a:t>Un movimiento entre cuentas del usuario contado como ingreso le inflaría la facturación acumulada, que es el número del que depende su categoría fiscal.</a:t>
            </a:r>
            <a:endParaRPr lang="en-US" sz="1150" dirty="0"/>
          </a:p>
        </p:txBody>
      </p:sp>
      <p:sp>
        <p:nvSpPr>
          <p:cNvPr id="34" name="Text 32"/>
          <p:cNvSpPr/>
          <p:nvPr/>
        </p:nvSpPr>
        <p:spPr>
          <a:xfrm>
            <a:off x="640080" y="6144768"/>
            <a:ext cx="10881360" cy="365760"/>
          </a:xfrm>
          <a:prstGeom prst="rect">
            <a:avLst/>
          </a:prstGeom>
          <a:noFill/>
          <a:ln/>
        </p:spPr>
        <p:txBody>
          <a:bodyPr wrap="square" rtlCol="0" anchor="ctr"/>
          <a:lstStyle/>
          <a:p>
            <a:pPr algn="ctr" indent="0" marL="0">
              <a:buNone/>
            </a:pPr>
            <a:r>
              <a:rPr lang="en-US" sz="1200" i="1" dirty="0">
                <a:solidFill>
                  <a:srgbClr val="1C7293"/>
                </a:solidFill>
                <a:latin typeface="Calibri" pitchFamily="34" charset="0"/>
                <a:ea typeface="Calibri" pitchFamily="34" charset="-122"/>
                <a:cs typeface="Calibri" pitchFamily="34" charset="-120"/>
              </a:rPr>
              <a:t>Idempotencia: cada condición tiene una huella estable (el registro que la originó). Una alerta que el usuario marcó como resuelta no se regenera en la corrida siguiente.</a:t>
            </a:r>
            <a:endParaRPr lang="en-US" sz="1200" dirty="0"/>
          </a:p>
        </p:txBody>
      </p:sp>
      <p:sp>
        <p:nvSpPr>
          <p:cNvPr id="35" name="Text 33"/>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36" name="Text 3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8FA3B5"/>
                </a:solidFill>
                <a:latin typeface="Calibri" pitchFamily="34" charset="0"/>
                <a:ea typeface="Calibri" pitchFamily="34" charset="-122"/>
                <a:cs typeface="Calibri" pitchFamily="34" charset="-120"/>
              </a:rPr>
              <a:t>ANEXO · RESPALDO PARA PREGUNTAS</a:t>
            </a:r>
            <a:endParaRPr lang="en-US" sz="1300" dirty="0"/>
          </a:p>
        </p:txBody>
      </p:sp>
      <p:sp>
        <p:nvSpPr>
          <p:cNvPr id="3" name="Text 1"/>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16222E"/>
                </a:solidFill>
                <a:latin typeface="Georgia" pitchFamily="34" charset="0"/>
                <a:ea typeface="Georgia" pitchFamily="34" charset="-122"/>
                <a:cs typeface="Georgia" pitchFamily="34" charset="-120"/>
              </a:rPr>
              <a:t>Análisis de costos</a:t>
            </a:r>
            <a:endParaRPr lang="en-US" sz="3200" dirty="0"/>
          </a:p>
        </p:txBody>
      </p:sp>
      <p:sp>
        <p:nvSpPr>
          <p:cNvPr id="4" name="Shape 2"/>
          <p:cNvSpPr/>
          <p:nvPr/>
        </p:nvSpPr>
        <p:spPr>
          <a:xfrm>
            <a:off x="640080" y="2011680"/>
            <a:ext cx="5349240" cy="2194560"/>
          </a:xfrm>
          <a:prstGeom prst="roundRect">
            <a:avLst>
              <a:gd name="adj" fmla="val 4167"/>
            </a:avLst>
          </a:prstGeom>
          <a:solidFill>
            <a:srgbClr val="0D2B45"/>
          </a:solidFill>
          <a:ln/>
        </p:spPr>
      </p:sp>
      <p:sp>
        <p:nvSpPr>
          <p:cNvPr id="5" name="Text 3"/>
          <p:cNvSpPr/>
          <p:nvPr/>
        </p:nvSpPr>
        <p:spPr>
          <a:xfrm>
            <a:off x="914400" y="2212848"/>
            <a:ext cx="4754880" cy="320040"/>
          </a:xfrm>
          <a:prstGeom prst="rect">
            <a:avLst/>
          </a:prstGeom>
          <a:noFill/>
          <a:ln/>
        </p:spPr>
        <p:txBody>
          <a:bodyPr wrap="square"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DESARROLLO</a:t>
            </a:r>
            <a:endParaRPr lang="en-US" sz="1150" dirty="0"/>
          </a:p>
        </p:txBody>
      </p:sp>
      <p:sp>
        <p:nvSpPr>
          <p:cNvPr id="6" name="Text 4"/>
          <p:cNvSpPr/>
          <p:nvPr/>
        </p:nvSpPr>
        <p:spPr>
          <a:xfrm>
            <a:off x="914400" y="2606040"/>
            <a:ext cx="4754880" cy="77724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$ 4.400.000</a:t>
            </a:r>
            <a:endParaRPr lang="en-US" sz="4000" dirty="0"/>
          </a:p>
        </p:txBody>
      </p:sp>
      <p:sp>
        <p:nvSpPr>
          <p:cNvPr id="7" name="Text 5"/>
          <p:cNvSpPr/>
          <p:nvPr/>
        </p:nvSpPr>
        <p:spPr>
          <a:xfrm>
            <a:off x="914400" y="3429000"/>
            <a:ext cx="4754880" cy="6858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Un desarrollador full-stack junior · $1.100.000 mensuales · 4 meses.</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Referencia: mercado de tecnología argentino 2026.</a:t>
            </a:r>
            <a:endParaRPr lang="en-US" sz="1200" dirty="0"/>
          </a:p>
        </p:txBody>
      </p:sp>
      <p:sp>
        <p:nvSpPr>
          <p:cNvPr id="8" name="Shape 6"/>
          <p:cNvSpPr/>
          <p:nvPr/>
        </p:nvSpPr>
        <p:spPr>
          <a:xfrm>
            <a:off x="6172200" y="2011680"/>
            <a:ext cx="5349240" cy="2194560"/>
          </a:xfrm>
          <a:prstGeom prst="roundRect">
            <a:avLst>
              <a:gd name="adj" fmla="val 4167"/>
            </a:avLst>
          </a:prstGeom>
          <a:solidFill>
            <a:srgbClr val="14395E"/>
          </a:solidFill>
          <a:ln/>
        </p:spPr>
      </p:sp>
      <p:sp>
        <p:nvSpPr>
          <p:cNvPr id="9" name="Text 7"/>
          <p:cNvSpPr/>
          <p:nvPr/>
        </p:nvSpPr>
        <p:spPr>
          <a:xfrm>
            <a:off x="6446520" y="2212848"/>
            <a:ext cx="4754880" cy="320040"/>
          </a:xfrm>
          <a:prstGeom prst="rect">
            <a:avLst/>
          </a:prstGeom>
          <a:noFill/>
          <a:ln/>
        </p:spPr>
        <p:txBody>
          <a:bodyPr wrap="square" rtlCol="0" anchor="ctr"/>
          <a:lstStyle/>
          <a:p>
            <a:pPr indent="0" marL="0">
              <a:buNone/>
            </a:pPr>
            <a:r>
              <a:rPr lang="en-US" sz="1150" b="1" spc="200" kern="0" dirty="0">
                <a:solidFill>
                  <a:srgbClr val="5BB3C4"/>
                </a:solidFill>
                <a:latin typeface="Calibri" pitchFamily="34" charset="0"/>
                <a:ea typeface="Calibri" pitchFamily="34" charset="-122"/>
                <a:cs typeface="Calibri" pitchFamily="34" charset="-120"/>
              </a:rPr>
              <a:t>OPERATIVOS</a:t>
            </a:r>
            <a:endParaRPr lang="en-US" sz="1150" dirty="0"/>
          </a:p>
        </p:txBody>
      </p:sp>
      <p:sp>
        <p:nvSpPr>
          <p:cNvPr id="10" name="Text 8"/>
          <p:cNvSpPr/>
          <p:nvPr/>
        </p:nvSpPr>
        <p:spPr>
          <a:xfrm>
            <a:off x="6446520" y="2606040"/>
            <a:ext cx="475488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Licencias: $ 0</a:t>
            </a:r>
            <a:endParaRPr lang="en-US" sz="3000" dirty="0"/>
          </a:p>
        </p:txBody>
      </p:sp>
      <p:sp>
        <p:nvSpPr>
          <p:cNvPr id="11" name="Text 9"/>
          <p:cNvSpPr/>
          <p:nvPr/>
        </p:nvSpPr>
        <p:spPr>
          <a:xfrm>
            <a:off x="6446520" y="3291840"/>
            <a:ext cx="475488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Todo el stack es software de código abierto: FastAPI, PostgreSQL, React, Scikit-learn, Prophet y ReportLab. El único servicio de pago es la inferencia externa, acotada por diseño a valores marginales.</a:t>
            </a:r>
            <a:endParaRPr lang="en-US" sz="1200" dirty="0"/>
          </a:p>
        </p:txBody>
      </p:sp>
      <p:sp>
        <p:nvSpPr>
          <p:cNvPr id="12" name="Text 10"/>
          <p:cNvSpPr/>
          <p:nvPr/>
        </p:nvSpPr>
        <p:spPr>
          <a:xfrm>
            <a:off x="640080" y="4434840"/>
            <a:ext cx="10881360" cy="731520"/>
          </a:xfrm>
          <a:prstGeom prst="rect">
            <a:avLst/>
          </a:prstGeom>
          <a:noFill/>
          <a:ln/>
        </p:spPr>
        <p:txBody>
          <a:bodyPr wrap="square" rtlCol="0" anchor="ctr"/>
          <a:lstStyle/>
          <a:p>
            <a:pPr indent="0" marL="0">
              <a:buNone/>
            </a:pPr>
            <a:r>
              <a:rPr lang="en-US" sz="1250" i="1" dirty="0">
                <a:solidFill>
                  <a:srgbClr val="4A5A68"/>
                </a:solidFill>
                <a:latin typeface="Calibri" pitchFamily="34" charset="0"/>
                <a:ea typeface="Calibri" pitchFamily="34" charset="-122"/>
                <a:cs typeface="Calibri" pitchFamily="34" charset="-120"/>
              </a:rPr>
              <a:t>Tipo de cambio de referencia: dólar vendedor del Banco de la Nación Argentina, junio de 2026 (USD 1 = $1.460). No se calcula retorno sobre la inversión: el prototipo no se orienta a una explotación comercial inmediata.</a:t>
            </a:r>
            <a:endParaRPr lang="en-US" sz="1250" dirty="0"/>
          </a:p>
        </p:txBody>
      </p:sp>
      <p:sp>
        <p:nvSpPr>
          <p:cNvPr id="13" name="Text 1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14" name="Text 1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2B45"/>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rtlCol="0" anchor="ctr"/>
          <a:lstStyle/>
          <a:p>
            <a:pPr indent="0" marL="0">
              <a:buNone/>
            </a:pPr>
            <a:r>
              <a:rPr lang="en-US" sz="1300" b="1" spc="300" kern="0" dirty="0">
                <a:solidFill>
                  <a:srgbClr val="8FA3B5"/>
                </a:solidFill>
                <a:latin typeface="Calibri" pitchFamily="34" charset="0"/>
                <a:ea typeface="Calibri" pitchFamily="34" charset="-122"/>
                <a:cs typeface="Calibri" pitchFamily="34" charset="-120"/>
              </a:rPr>
              <a:t>ANEXO · RESPALDO PARA PREGUNTAS</a:t>
            </a:r>
            <a:endParaRPr lang="en-US" sz="1300" dirty="0"/>
          </a:p>
        </p:txBody>
      </p:sp>
      <p:sp>
        <p:nvSpPr>
          <p:cNvPr id="3" name="Text 1"/>
          <p:cNvSpPr/>
          <p:nvPr/>
        </p:nvSpPr>
        <p:spPr>
          <a:xfrm>
            <a:off x="640080" y="868680"/>
            <a:ext cx="1088136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¿Dónde se maneja…?</a:t>
            </a:r>
            <a:endParaRPr lang="en-US" sz="3200" dirty="0"/>
          </a:p>
        </p:txBody>
      </p:sp>
      <p:sp>
        <p:nvSpPr>
          <p:cNvPr id="4" name="Shape 2"/>
          <p:cNvSpPr/>
          <p:nvPr/>
        </p:nvSpPr>
        <p:spPr>
          <a:xfrm>
            <a:off x="640080" y="1874520"/>
            <a:ext cx="5303520" cy="457200"/>
          </a:xfrm>
          <a:prstGeom prst="roundRect">
            <a:avLst>
              <a:gd name="adj" fmla="val 10000"/>
            </a:avLst>
          </a:prstGeom>
          <a:solidFill>
            <a:srgbClr val="14395E"/>
          </a:solidFill>
          <a:ln/>
        </p:spPr>
      </p:sp>
      <p:sp>
        <p:nvSpPr>
          <p:cNvPr id="5" name="Text 3"/>
          <p:cNvSpPr/>
          <p:nvPr/>
        </p:nvSpPr>
        <p:spPr>
          <a:xfrm>
            <a:off x="868680" y="1874520"/>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Conexión a la base</a:t>
            </a:r>
            <a:endParaRPr lang="en-US" sz="1200" dirty="0"/>
          </a:p>
        </p:txBody>
      </p:sp>
      <p:sp>
        <p:nvSpPr>
          <p:cNvPr id="6" name="Text 4"/>
          <p:cNvSpPr/>
          <p:nvPr/>
        </p:nvSpPr>
        <p:spPr>
          <a:xfrm>
            <a:off x="3383280" y="1874520"/>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database.py:38</a:t>
            </a:r>
            <a:endParaRPr lang="en-US" sz="1050" dirty="0"/>
          </a:p>
        </p:txBody>
      </p:sp>
      <p:sp>
        <p:nvSpPr>
          <p:cNvPr id="7" name="Shape 5"/>
          <p:cNvSpPr/>
          <p:nvPr/>
        </p:nvSpPr>
        <p:spPr>
          <a:xfrm>
            <a:off x="6217920" y="1874520"/>
            <a:ext cx="5303520" cy="457200"/>
          </a:xfrm>
          <a:prstGeom prst="roundRect">
            <a:avLst>
              <a:gd name="adj" fmla="val 10000"/>
            </a:avLst>
          </a:prstGeom>
          <a:solidFill>
            <a:srgbClr val="14395E"/>
          </a:solidFill>
          <a:ln/>
        </p:spPr>
      </p:sp>
      <p:sp>
        <p:nvSpPr>
          <p:cNvPr id="8" name="Text 6"/>
          <p:cNvSpPr/>
          <p:nvPr/>
        </p:nvSpPr>
        <p:spPr>
          <a:xfrm>
            <a:off x="6446520" y="1874520"/>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Protección de rutas</a:t>
            </a:r>
            <a:endParaRPr lang="en-US" sz="1200" dirty="0"/>
          </a:p>
        </p:txBody>
      </p:sp>
      <p:sp>
        <p:nvSpPr>
          <p:cNvPr id="9" name="Text 7"/>
          <p:cNvSpPr/>
          <p:nvPr/>
        </p:nvSpPr>
        <p:spPr>
          <a:xfrm>
            <a:off x="8961120" y="1874520"/>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dependencies.py:40</a:t>
            </a:r>
            <a:endParaRPr lang="en-US" sz="1050" dirty="0"/>
          </a:p>
        </p:txBody>
      </p:sp>
      <p:sp>
        <p:nvSpPr>
          <p:cNvPr id="10" name="Shape 8"/>
          <p:cNvSpPr/>
          <p:nvPr/>
        </p:nvSpPr>
        <p:spPr>
          <a:xfrm>
            <a:off x="640080" y="2409444"/>
            <a:ext cx="5303520" cy="457200"/>
          </a:xfrm>
          <a:prstGeom prst="roundRect">
            <a:avLst>
              <a:gd name="adj" fmla="val 10000"/>
            </a:avLst>
          </a:prstGeom>
          <a:solidFill>
            <a:srgbClr val="14395E"/>
          </a:solidFill>
          <a:ln/>
        </p:spPr>
      </p:sp>
      <p:sp>
        <p:nvSpPr>
          <p:cNvPr id="11" name="Text 9"/>
          <p:cNvSpPr/>
          <p:nvPr/>
        </p:nvSpPr>
        <p:spPr>
          <a:xfrm>
            <a:off x="868680" y="2409444"/>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Hash de contraseñas</a:t>
            </a:r>
            <a:endParaRPr lang="en-US" sz="1200" dirty="0"/>
          </a:p>
        </p:txBody>
      </p:sp>
      <p:sp>
        <p:nvSpPr>
          <p:cNvPr id="12" name="Text 10"/>
          <p:cNvSpPr/>
          <p:nvPr/>
        </p:nvSpPr>
        <p:spPr>
          <a:xfrm>
            <a:off x="3383280" y="2409444"/>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services/auth.py</a:t>
            </a:r>
            <a:endParaRPr lang="en-US" sz="1050" dirty="0"/>
          </a:p>
        </p:txBody>
      </p:sp>
      <p:sp>
        <p:nvSpPr>
          <p:cNvPr id="13" name="Shape 11"/>
          <p:cNvSpPr/>
          <p:nvPr/>
        </p:nvSpPr>
        <p:spPr>
          <a:xfrm>
            <a:off x="6217920" y="2409444"/>
            <a:ext cx="5303520" cy="457200"/>
          </a:xfrm>
          <a:prstGeom prst="roundRect">
            <a:avLst>
              <a:gd name="adj" fmla="val 10000"/>
            </a:avLst>
          </a:prstGeom>
          <a:solidFill>
            <a:srgbClr val="14395E"/>
          </a:solidFill>
          <a:ln/>
        </p:spPr>
      </p:sp>
      <p:sp>
        <p:nvSpPr>
          <p:cNvPr id="14" name="Text 12"/>
          <p:cNvSpPr/>
          <p:nvPr/>
        </p:nvSpPr>
        <p:spPr>
          <a:xfrm>
            <a:off x="6446520" y="2409444"/>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Elección de algoritmo</a:t>
            </a:r>
            <a:endParaRPr lang="en-US" sz="1200" dirty="0"/>
          </a:p>
        </p:txBody>
      </p:sp>
      <p:sp>
        <p:nvSpPr>
          <p:cNvPr id="15" name="Text 13"/>
          <p:cNvSpPr/>
          <p:nvPr/>
        </p:nvSpPr>
        <p:spPr>
          <a:xfrm>
            <a:off x="8961120" y="2409444"/>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ml_service.py:726</a:t>
            </a:r>
            <a:endParaRPr lang="en-US" sz="1050" dirty="0"/>
          </a:p>
        </p:txBody>
      </p:sp>
      <p:sp>
        <p:nvSpPr>
          <p:cNvPr id="16" name="Shape 14"/>
          <p:cNvSpPr/>
          <p:nvPr/>
        </p:nvSpPr>
        <p:spPr>
          <a:xfrm>
            <a:off x="640080" y="2944368"/>
            <a:ext cx="5303520" cy="457200"/>
          </a:xfrm>
          <a:prstGeom prst="roundRect">
            <a:avLst>
              <a:gd name="adj" fmla="val 10000"/>
            </a:avLst>
          </a:prstGeom>
          <a:solidFill>
            <a:srgbClr val="14395E"/>
          </a:solidFill>
          <a:ln/>
        </p:spPr>
      </p:sp>
      <p:sp>
        <p:nvSpPr>
          <p:cNvPr id="17" name="Text 15"/>
          <p:cNvSpPr/>
          <p:nvPr/>
        </p:nvSpPr>
        <p:spPr>
          <a:xfrm>
            <a:off x="868680" y="2944368"/>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Modelo entrenado en BD</a:t>
            </a:r>
            <a:endParaRPr lang="en-US" sz="1200" dirty="0"/>
          </a:p>
        </p:txBody>
      </p:sp>
      <p:sp>
        <p:nvSpPr>
          <p:cNvPr id="18" name="Text 16"/>
          <p:cNvSpPr/>
          <p:nvPr/>
        </p:nvSpPr>
        <p:spPr>
          <a:xfrm>
            <a:off x="3383280" y="2944368"/>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ml_service.py:711</a:t>
            </a:r>
            <a:endParaRPr lang="en-US" sz="1050" dirty="0"/>
          </a:p>
        </p:txBody>
      </p:sp>
      <p:sp>
        <p:nvSpPr>
          <p:cNvPr id="19" name="Shape 17"/>
          <p:cNvSpPr/>
          <p:nvPr/>
        </p:nvSpPr>
        <p:spPr>
          <a:xfrm>
            <a:off x="6217920" y="2944368"/>
            <a:ext cx="5303520" cy="457200"/>
          </a:xfrm>
          <a:prstGeom prst="roundRect">
            <a:avLst>
              <a:gd name="adj" fmla="val 10000"/>
            </a:avLst>
          </a:prstGeom>
          <a:solidFill>
            <a:srgbClr val="14395E"/>
          </a:solidFill>
          <a:ln/>
        </p:spPr>
      </p:sp>
      <p:sp>
        <p:nvSpPr>
          <p:cNvPr id="20" name="Text 18"/>
          <p:cNvSpPr/>
          <p:nvPr/>
        </p:nvSpPr>
        <p:spPr>
          <a:xfrm>
            <a:off x="6446520" y="2944368"/>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Confianza del SVM</a:t>
            </a:r>
            <a:endParaRPr lang="en-US" sz="1200" dirty="0"/>
          </a:p>
        </p:txBody>
      </p:sp>
      <p:sp>
        <p:nvSpPr>
          <p:cNvPr id="21" name="Text 19"/>
          <p:cNvSpPr/>
          <p:nvPr/>
        </p:nvSpPr>
        <p:spPr>
          <a:xfrm>
            <a:off x="8961120" y="2944368"/>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ml_service.py:830</a:t>
            </a:r>
            <a:endParaRPr lang="en-US" sz="1050" dirty="0"/>
          </a:p>
        </p:txBody>
      </p:sp>
      <p:sp>
        <p:nvSpPr>
          <p:cNvPr id="22" name="Shape 20"/>
          <p:cNvSpPr/>
          <p:nvPr/>
        </p:nvSpPr>
        <p:spPr>
          <a:xfrm>
            <a:off x="640080" y="3479292"/>
            <a:ext cx="5303520" cy="457200"/>
          </a:xfrm>
          <a:prstGeom prst="roundRect">
            <a:avLst>
              <a:gd name="adj" fmla="val 10000"/>
            </a:avLst>
          </a:prstGeom>
          <a:solidFill>
            <a:srgbClr val="14395E"/>
          </a:solidFill>
          <a:ln/>
        </p:spPr>
      </p:sp>
      <p:sp>
        <p:nvSpPr>
          <p:cNvPr id="23" name="Text 21"/>
          <p:cNvSpPr/>
          <p:nvPr/>
        </p:nvSpPr>
        <p:spPr>
          <a:xfrm>
            <a:off x="868680" y="3479292"/>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Arranque en frío</a:t>
            </a:r>
            <a:endParaRPr lang="en-US" sz="1200" dirty="0"/>
          </a:p>
        </p:txBody>
      </p:sp>
      <p:sp>
        <p:nvSpPr>
          <p:cNvPr id="24" name="Text 22"/>
          <p:cNvSpPr/>
          <p:nvPr/>
        </p:nvSpPr>
        <p:spPr>
          <a:xfrm>
            <a:off x="3383280" y="3479292"/>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prophet_service.py:179</a:t>
            </a:r>
            <a:endParaRPr lang="en-US" sz="1050" dirty="0"/>
          </a:p>
        </p:txBody>
      </p:sp>
      <p:sp>
        <p:nvSpPr>
          <p:cNvPr id="25" name="Shape 23"/>
          <p:cNvSpPr/>
          <p:nvPr/>
        </p:nvSpPr>
        <p:spPr>
          <a:xfrm>
            <a:off x="6217920" y="3479292"/>
            <a:ext cx="5303520" cy="457200"/>
          </a:xfrm>
          <a:prstGeom prst="roundRect">
            <a:avLst>
              <a:gd name="adj" fmla="val 10000"/>
            </a:avLst>
          </a:prstGeom>
          <a:solidFill>
            <a:srgbClr val="14395E"/>
          </a:solidFill>
          <a:ln/>
        </p:spPr>
      </p:sp>
      <p:sp>
        <p:nvSpPr>
          <p:cNvPr id="26" name="Text 24"/>
          <p:cNvSpPr/>
          <p:nvPr/>
        </p:nvSpPr>
        <p:spPr>
          <a:xfrm>
            <a:off x="6446520" y="3479292"/>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Formatos de banco</a:t>
            </a:r>
            <a:endParaRPr lang="en-US" sz="1200" dirty="0"/>
          </a:p>
        </p:txBody>
      </p:sp>
      <p:sp>
        <p:nvSpPr>
          <p:cNvPr id="27" name="Text 25"/>
          <p:cNvSpPr/>
          <p:nvPr/>
        </p:nvSpPr>
        <p:spPr>
          <a:xfrm>
            <a:off x="8961120" y="3479292"/>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csv_service.py:41</a:t>
            </a:r>
            <a:endParaRPr lang="en-US" sz="1050" dirty="0"/>
          </a:p>
        </p:txBody>
      </p:sp>
      <p:sp>
        <p:nvSpPr>
          <p:cNvPr id="28" name="Shape 26"/>
          <p:cNvSpPr/>
          <p:nvPr/>
        </p:nvSpPr>
        <p:spPr>
          <a:xfrm>
            <a:off x="640080" y="4014216"/>
            <a:ext cx="5303520" cy="457200"/>
          </a:xfrm>
          <a:prstGeom prst="roundRect">
            <a:avLst>
              <a:gd name="adj" fmla="val 10000"/>
            </a:avLst>
          </a:prstGeom>
          <a:solidFill>
            <a:srgbClr val="14395E"/>
          </a:solidFill>
          <a:ln/>
        </p:spPr>
      </p:sp>
      <p:sp>
        <p:nvSpPr>
          <p:cNvPr id="29" name="Text 27"/>
          <p:cNvSpPr/>
          <p:nvPr/>
        </p:nvSpPr>
        <p:spPr>
          <a:xfrm>
            <a:off x="868680" y="4014216"/>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Transferencias propias</a:t>
            </a:r>
            <a:endParaRPr lang="en-US" sz="1200" dirty="0"/>
          </a:p>
        </p:txBody>
      </p:sp>
      <p:sp>
        <p:nvSpPr>
          <p:cNvPr id="30" name="Text 28"/>
          <p:cNvSpPr/>
          <p:nvPr/>
        </p:nvSpPr>
        <p:spPr>
          <a:xfrm>
            <a:off x="3383280" y="4014216"/>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csv_service.py:738</a:t>
            </a:r>
            <a:endParaRPr lang="en-US" sz="1050" dirty="0"/>
          </a:p>
        </p:txBody>
      </p:sp>
      <p:sp>
        <p:nvSpPr>
          <p:cNvPr id="31" name="Shape 29"/>
          <p:cNvSpPr/>
          <p:nvPr/>
        </p:nvSpPr>
        <p:spPr>
          <a:xfrm>
            <a:off x="6217920" y="4014216"/>
            <a:ext cx="5303520" cy="457200"/>
          </a:xfrm>
          <a:prstGeom prst="roundRect">
            <a:avLst>
              <a:gd name="adj" fmla="val 10000"/>
            </a:avLst>
          </a:prstGeom>
          <a:solidFill>
            <a:srgbClr val="14395E"/>
          </a:solidFill>
          <a:ln/>
        </p:spPr>
      </p:sp>
      <p:sp>
        <p:nvSpPr>
          <p:cNvPr id="32" name="Text 30"/>
          <p:cNvSpPr/>
          <p:nvPr/>
        </p:nvSpPr>
        <p:spPr>
          <a:xfrm>
            <a:off x="6446520" y="4014216"/>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Cadena de clasificación</a:t>
            </a:r>
            <a:endParaRPr lang="en-US" sz="1200" dirty="0"/>
          </a:p>
        </p:txBody>
      </p:sp>
      <p:sp>
        <p:nvSpPr>
          <p:cNvPr id="33" name="Text 31"/>
          <p:cNvSpPr/>
          <p:nvPr/>
        </p:nvSpPr>
        <p:spPr>
          <a:xfrm>
            <a:off x="8961120" y="4014216"/>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ia_service.py:409</a:t>
            </a:r>
            <a:endParaRPr lang="en-US" sz="1050" dirty="0"/>
          </a:p>
        </p:txBody>
      </p:sp>
      <p:sp>
        <p:nvSpPr>
          <p:cNvPr id="34" name="Shape 32"/>
          <p:cNvSpPr/>
          <p:nvPr/>
        </p:nvSpPr>
        <p:spPr>
          <a:xfrm>
            <a:off x="640080" y="4549140"/>
            <a:ext cx="5303520" cy="457200"/>
          </a:xfrm>
          <a:prstGeom prst="roundRect">
            <a:avLst>
              <a:gd name="adj" fmla="val 10000"/>
            </a:avLst>
          </a:prstGeom>
          <a:solidFill>
            <a:srgbClr val="14395E"/>
          </a:solidFill>
          <a:ln/>
        </p:spPr>
      </p:sp>
      <p:sp>
        <p:nvSpPr>
          <p:cNvPr id="35" name="Text 33"/>
          <p:cNvSpPr/>
          <p:nvPr/>
        </p:nvSpPr>
        <p:spPr>
          <a:xfrm>
            <a:off x="868680" y="4549140"/>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Creación de alertas</a:t>
            </a:r>
            <a:endParaRPr lang="en-US" sz="1200" dirty="0"/>
          </a:p>
        </p:txBody>
      </p:sp>
      <p:sp>
        <p:nvSpPr>
          <p:cNvPr id="36" name="Text 34"/>
          <p:cNvSpPr/>
          <p:nvPr/>
        </p:nvSpPr>
        <p:spPr>
          <a:xfrm>
            <a:off x="3383280" y="4549140"/>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auditoria.py:59</a:t>
            </a:r>
            <a:endParaRPr lang="en-US" sz="1050" dirty="0"/>
          </a:p>
        </p:txBody>
      </p:sp>
      <p:sp>
        <p:nvSpPr>
          <p:cNvPr id="37" name="Shape 35"/>
          <p:cNvSpPr/>
          <p:nvPr/>
        </p:nvSpPr>
        <p:spPr>
          <a:xfrm>
            <a:off x="6217920" y="4549140"/>
            <a:ext cx="5303520" cy="457200"/>
          </a:xfrm>
          <a:prstGeom prst="roundRect">
            <a:avLst>
              <a:gd name="adj" fmla="val 10000"/>
            </a:avLst>
          </a:prstGeom>
          <a:solidFill>
            <a:srgbClr val="14395E"/>
          </a:solidFill>
          <a:ln/>
        </p:spPr>
      </p:sp>
      <p:sp>
        <p:nvSpPr>
          <p:cNvPr id="38" name="Text 36"/>
          <p:cNvSpPr/>
          <p:nvPr/>
        </p:nvSpPr>
        <p:spPr>
          <a:xfrm>
            <a:off x="6446520" y="4549140"/>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Idempotencia de alertas</a:t>
            </a:r>
            <a:endParaRPr lang="en-US" sz="1200" dirty="0"/>
          </a:p>
        </p:txBody>
      </p:sp>
      <p:sp>
        <p:nvSpPr>
          <p:cNvPr id="39" name="Text 37"/>
          <p:cNvSpPr/>
          <p:nvPr/>
        </p:nvSpPr>
        <p:spPr>
          <a:xfrm>
            <a:off x="8961120" y="4549140"/>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auditoria.py:77</a:t>
            </a:r>
            <a:endParaRPr lang="en-US" sz="1050" dirty="0"/>
          </a:p>
        </p:txBody>
      </p:sp>
      <p:sp>
        <p:nvSpPr>
          <p:cNvPr id="40" name="Shape 38"/>
          <p:cNvSpPr/>
          <p:nvPr/>
        </p:nvSpPr>
        <p:spPr>
          <a:xfrm>
            <a:off x="640080" y="5084064"/>
            <a:ext cx="5303520" cy="457200"/>
          </a:xfrm>
          <a:prstGeom prst="roundRect">
            <a:avLst>
              <a:gd name="adj" fmla="val 10000"/>
            </a:avLst>
          </a:prstGeom>
          <a:solidFill>
            <a:srgbClr val="14395E"/>
          </a:solidFill>
          <a:ln/>
        </p:spPr>
      </p:sp>
      <p:sp>
        <p:nvSpPr>
          <p:cNvPr id="41" name="Text 39"/>
          <p:cNvSpPr/>
          <p:nvPr/>
        </p:nvSpPr>
        <p:spPr>
          <a:xfrm>
            <a:off x="868680" y="5084064"/>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Armado del PDF</a:t>
            </a:r>
            <a:endParaRPr lang="en-US" sz="1200" dirty="0"/>
          </a:p>
        </p:txBody>
      </p:sp>
      <p:sp>
        <p:nvSpPr>
          <p:cNvPr id="42" name="Text 40"/>
          <p:cNvSpPr/>
          <p:nvPr/>
        </p:nvSpPr>
        <p:spPr>
          <a:xfrm>
            <a:off x="3383280" y="5084064"/>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reportes_service.py:535</a:t>
            </a:r>
            <a:endParaRPr lang="en-US" sz="1050" dirty="0"/>
          </a:p>
        </p:txBody>
      </p:sp>
      <p:sp>
        <p:nvSpPr>
          <p:cNvPr id="43" name="Shape 41"/>
          <p:cNvSpPr/>
          <p:nvPr/>
        </p:nvSpPr>
        <p:spPr>
          <a:xfrm>
            <a:off x="6217920" y="5084064"/>
            <a:ext cx="5303520" cy="457200"/>
          </a:xfrm>
          <a:prstGeom prst="roundRect">
            <a:avLst>
              <a:gd name="adj" fmla="val 10000"/>
            </a:avLst>
          </a:prstGeom>
          <a:solidFill>
            <a:srgbClr val="14395E"/>
          </a:solidFill>
          <a:ln/>
        </p:spPr>
      </p:sp>
      <p:sp>
        <p:nvSpPr>
          <p:cNvPr id="44" name="Text 42"/>
          <p:cNvSpPr/>
          <p:nvPr/>
        </p:nvSpPr>
        <p:spPr>
          <a:xfrm>
            <a:off x="6446520" y="5084064"/>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Cálculo fiscal</a:t>
            </a:r>
            <a:endParaRPr lang="en-US" sz="1200" dirty="0"/>
          </a:p>
        </p:txBody>
      </p:sp>
      <p:sp>
        <p:nvSpPr>
          <p:cNvPr id="45" name="Text 43"/>
          <p:cNvSpPr/>
          <p:nvPr/>
        </p:nvSpPr>
        <p:spPr>
          <a:xfrm>
            <a:off x="8961120" y="5084064"/>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monotributo_service.py:66</a:t>
            </a:r>
            <a:endParaRPr lang="en-US" sz="1050" dirty="0"/>
          </a:p>
        </p:txBody>
      </p:sp>
      <p:sp>
        <p:nvSpPr>
          <p:cNvPr id="46" name="Shape 44"/>
          <p:cNvSpPr/>
          <p:nvPr/>
        </p:nvSpPr>
        <p:spPr>
          <a:xfrm>
            <a:off x="640080" y="5618988"/>
            <a:ext cx="5303520" cy="457200"/>
          </a:xfrm>
          <a:prstGeom prst="roundRect">
            <a:avLst>
              <a:gd name="adj" fmla="val 10000"/>
            </a:avLst>
          </a:prstGeom>
          <a:solidFill>
            <a:srgbClr val="14395E"/>
          </a:solidFill>
          <a:ln/>
        </p:spPr>
      </p:sp>
      <p:sp>
        <p:nvSpPr>
          <p:cNvPr id="47" name="Text 45"/>
          <p:cNvSpPr/>
          <p:nvPr/>
        </p:nvSpPr>
        <p:spPr>
          <a:xfrm>
            <a:off x="868680" y="5618988"/>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Token en el frontend</a:t>
            </a:r>
            <a:endParaRPr lang="en-US" sz="1200" dirty="0"/>
          </a:p>
        </p:txBody>
      </p:sp>
      <p:sp>
        <p:nvSpPr>
          <p:cNvPr id="48" name="Text 46"/>
          <p:cNvSpPr/>
          <p:nvPr/>
        </p:nvSpPr>
        <p:spPr>
          <a:xfrm>
            <a:off x="3383280" y="5618988"/>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api.js:23</a:t>
            </a:r>
            <a:endParaRPr lang="en-US" sz="1050" dirty="0"/>
          </a:p>
        </p:txBody>
      </p:sp>
      <p:sp>
        <p:nvSpPr>
          <p:cNvPr id="49" name="Shape 47"/>
          <p:cNvSpPr/>
          <p:nvPr/>
        </p:nvSpPr>
        <p:spPr>
          <a:xfrm>
            <a:off x="6217920" y="5618988"/>
            <a:ext cx="5303520" cy="457200"/>
          </a:xfrm>
          <a:prstGeom prst="roundRect">
            <a:avLst>
              <a:gd name="adj" fmla="val 10000"/>
            </a:avLst>
          </a:prstGeom>
          <a:solidFill>
            <a:srgbClr val="14395E"/>
          </a:solidFill>
          <a:ln/>
        </p:spPr>
      </p:sp>
      <p:sp>
        <p:nvSpPr>
          <p:cNvPr id="50" name="Text 48"/>
          <p:cNvSpPr/>
          <p:nvPr/>
        </p:nvSpPr>
        <p:spPr>
          <a:xfrm>
            <a:off x="6446520" y="5618988"/>
            <a:ext cx="25146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Rutas privadas</a:t>
            </a:r>
            <a:endParaRPr lang="en-US" sz="1200" dirty="0"/>
          </a:p>
        </p:txBody>
      </p:sp>
      <p:sp>
        <p:nvSpPr>
          <p:cNvPr id="51" name="Text 49"/>
          <p:cNvSpPr/>
          <p:nvPr/>
        </p:nvSpPr>
        <p:spPr>
          <a:xfrm>
            <a:off x="8961120" y="5618988"/>
            <a:ext cx="2423160" cy="457200"/>
          </a:xfrm>
          <a:prstGeom prst="rect">
            <a:avLst/>
          </a:prstGeom>
          <a:noFill/>
          <a:ln/>
        </p:spPr>
        <p:txBody>
          <a:bodyPr wrap="square" rtlCol="0" anchor="ctr"/>
          <a:lstStyle/>
          <a:p>
            <a:pPr indent="0" marL="0">
              <a:buNone/>
            </a:pPr>
            <a:r>
              <a:rPr lang="en-US" sz="1050" dirty="0">
                <a:solidFill>
                  <a:srgbClr val="02C39A"/>
                </a:solidFill>
                <a:latin typeface="Consolas" pitchFamily="34" charset="0"/>
                <a:ea typeface="Consolas" pitchFamily="34" charset="-122"/>
                <a:cs typeface="Consolas" pitchFamily="34" charset="-120"/>
              </a:rPr>
              <a:t>App.js:31</a:t>
            </a:r>
            <a:endParaRPr lang="en-US" sz="1050" dirty="0"/>
          </a:p>
        </p:txBody>
      </p:sp>
      <p:sp>
        <p:nvSpPr>
          <p:cNvPr id="52" name="Text 50"/>
          <p:cNvSpPr/>
          <p:nvPr/>
        </p:nvSpPr>
        <p:spPr>
          <a:xfrm>
            <a:off x="640080" y="6144768"/>
            <a:ext cx="10881360" cy="365760"/>
          </a:xfrm>
          <a:prstGeom prst="rect">
            <a:avLst/>
          </a:prstGeom>
          <a:noFill/>
          <a:ln/>
        </p:spPr>
        <p:txBody>
          <a:bodyPr wrap="square" rtlCol="0" anchor="ctr"/>
          <a:lstStyle/>
          <a:p>
            <a:pPr algn="ctr" indent="0" marL="0">
              <a:buNone/>
            </a:pPr>
            <a:r>
              <a:rPr lang="en-US" sz="1050" dirty="0">
                <a:solidFill>
                  <a:srgbClr val="8FA3B5"/>
                </a:solidFill>
                <a:latin typeface="Consolas" pitchFamily="34" charset="0"/>
                <a:ea typeface="Consolas" pitchFamily="34" charset="-122"/>
                <a:cs typeface="Consolas" pitchFamily="34" charset="-120"/>
              </a:rPr>
              <a:t>Desarrollo completo en defensa_final/02_ARQUITECTURA_Y_PATRONES.md  ·  grep -rn "PATRÓN:" app frontend/src</a:t>
            </a:r>
            <a:endParaRPr lang="en-US" sz="1050" dirty="0"/>
          </a:p>
        </p:txBody>
      </p:sp>
      <p:sp>
        <p:nvSpPr>
          <p:cNvPr id="53" name="Text 51"/>
          <p:cNvSpPr/>
          <p:nvPr/>
        </p:nvSpPr>
        <p:spPr>
          <a:xfrm>
            <a:off x="640080" y="6473952"/>
            <a:ext cx="6400800" cy="274320"/>
          </a:xfrm>
          <a:prstGeom prst="rect">
            <a:avLst/>
          </a:prstGeom>
          <a:noFill/>
          <a:ln/>
        </p:spPr>
        <p:txBody>
          <a:bodyPr wrap="square" rtlCol="0" anchor="ctr"/>
          <a:lstStyle/>
          <a:p>
            <a:pPr indent="0" marL="0">
              <a:buNone/>
            </a:pPr>
            <a:r>
              <a:rPr lang="en-US" sz="900" dirty="0">
                <a:solidFill>
                  <a:srgbClr val="8FA3B5"/>
                </a:solidFill>
                <a:latin typeface="Calibri" pitchFamily="34" charset="0"/>
                <a:ea typeface="Calibri" pitchFamily="34" charset="-122"/>
                <a:cs typeface="Calibri" pitchFamily="34" charset="-120"/>
              </a:rPr>
              <a:t>FreelanceControl · Defensa TFG · M. G. Joaquín</a:t>
            </a:r>
            <a:endParaRPr lang="en-US" sz="900" dirty="0"/>
          </a:p>
        </p:txBody>
      </p:sp>
      <p:sp>
        <p:nvSpPr>
          <p:cNvPr id="54" name="Text 52"/>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8FA3B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FreelanceControl — Defensa oral</dc:title>
  <dc:subject>Trabajo Final de Grado — Ingeniería de Software — Universidad Siglo 21</dc:subject>
  <dc:creator>Marcos Gamaliel Joaquín</dc:creator>
  <cp:lastModifiedBy>Marcos Gamaliel Joaquín</cp:lastModifiedBy>
  <cp:revision>1</cp:revision>
  <dcterms:created xsi:type="dcterms:W3CDTF">2026-09-27T23:09:39Z</dcterms:created>
  <dcterms:modified xsi:type="dcterms:W3CDTF">2026-09-27T23:09:39Z</dcterms:modified>
</cp:coreProperties>
</file>